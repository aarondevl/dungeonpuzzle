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al equipo y encuadrar en una frase: esta semana no anadimos contenido de nivel. Arreglamos como el juego resuelve las colisiones y metimos dos elementos que se accionan por contacto: una placa de presion y una trampa de pinchos.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leer el arbol. Senalar la separacion Core / Player / Guard / World y por que Tests esta dentro de Scripts: solo prueba logica pura. La regla de dependencia la impone Unity, un asmdef solo compila contra lo que declara en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captura del Inspector se ven los dos Circle Collider 2D: el solido del cuerpo y el trigger del sensor de interaccion. Ese segundo collider es el que luego obliga a poner pestillos en ExitTrigger y en la trampa.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lamina justifica el trabajo de toda la semana. Seis fallos concretos. Los dos ambar no rompen nada de forma visible: fallan en silencio, que es peor de depurar.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Detenerse en las tres casillas ambar. La de Projectile x Interactable es la que mas se malinterpreta: no sirve para que la piedra pese sobre una placa, sirve para que choque contra una puerta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mejor ejemplo de la diferencia entre detectar y responder. Detectar el impacto es el barrido; responder al impacto es el rebote y el deslizamiento. Si da tiempo, ensenarlo en vivo caminando en diagonal contra la pared.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 momento para reconocer que una mejora abrio un riesgo nuevo, que lo detectamos y lo cerramos. Lo vimos recorriendo la demo entera de punta a punta, no leyendo el codigo.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formas de activarse son: tecla sobre un candidato que detecto un trigger, mensaje entre objetos, y colision pura sin que el jugador pulse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Reconocer un error de analisis propio suma mas que esconderlo. Si preguntan como lo detectamos: leyendo el codigo de PressurePlate junto al de ThrownStone para montar la sala de demostracion.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OJO con las duraciones, es facil equivocarse: Oculta 1.6, Subiendo 0.25, Clavada 0.9, Bajando 0.25. Un solo prefab; el desfase es un campo serializado, no una copia del objeto.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Elegir dos y desarrollarlas, no leer la tabla entera. Las mas fuertes son CollisionLayers y la logica pura separada del MonoBehaviour.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Lanzar los tests en vivo. Es la prueba mas rapida de que la logica esta cubierta, y no requiere Play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Unos 90 segundos de demo. La palanca junto a la placa es el rescate: si algo se tuerce delante de todos, abre la puerta a mano y la demostracion sigue. Cerrar conectando con el criterio de la consigna: decisiones de arquitectura que faciliten el crecimiento del videojuego.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22A"/>
        </a:solidFill>
      </p:bgPr>
    </p:bg>
    <p:spTree>
      <p:nvGrpSpPr>
        <p:cNvPr id="1" name=""/>
        <p:cNvGrpSpPr/>
        <p:nvPr/>
      </p:nvGrpSpPr>
      <p:grpSpPr>
        <a:xfrm>
          <a:off x="0" y="0"/>
          <a:ext cx="0" cy="0"/>
          <a:chOff x="0" y="0"/>
          <a:chExt cx="0" cy="0"/>
        </a:xfrm>
      </p:grpSpPr>
      <p:sp>
        <p:nvSpPr>
          <p:cNvPr id="2" name="Text 0"/>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8C8A9C"/>
                </a:solidFill>
                <a:latin typeface="Courier New" pitchFamily="34" charset="0"/>
                <a:ea typeface="Courier New" pitchFamily="34" charset="-122"/>
                <a:cs typeface="Courier New" pitchFamily="34" charset="-120"/>
              </a:rPr>
              <a:t>1</a:t>
            </a:r>
            <a:endParaRPr lang="en-US" sz="1000" dirty="0"/>
          </a:p>
        </p:txBody>
      </p:sp>
      <p:sp>
        <p:nvSpPr>
          <p:cNvPr id="3" name="Text 1"/>
          <p:cNvSpPr txBox="1"/>
          <p:nvPr/>
        </p:nvSpPr>
        <p:spPr>
          <a:xfrm>
            <a:off x="548640" y="960120"/>
            <a:ext cx="6400800" cy="274320"/>
          </a:xfrm>
          <a:prstGeom prst="rect">
            <a:avLst/>
          </a:prstGeom>
          <a:noFill/>
          <a:ln/>
        </p:spPr>
        <p:txBody>
          <a:bodyPr wrap="square" lIns="0" tIns="0" rIns="0" bIns="0" rtlCol="0" anchor="ctr"/>
          <a:lstStyle/>
          <a:p>
            <a:pPr indent="0" marL="0">
              <a:buNone/>
            </a:pPr>
            <a:r>
              <a:rPr lang="en-US" sz="1200" spc="160" kern="0" dirty="0">
                <a:solidFill>
                  <a:srgbClr val="E7A93F"/>
                </a:solidFill>
                <a:latin typeface="Courier New" pitchFamily="34" charset="0"/>
                <a:ea typeface="Courier New" pitchFamily="34" charset="-122"/>
                <a:cs typeface="Courier New" pitchFamily="34" charset="-120"/>
              </a:rPr>
              <a:t>SEMANA 04 · AVANCE DE PROYECTO</a:t>
            </a:r>
            <a:endParaRPr lang="en-US" sz="1200" dirty="0"/>
          </a:p>
        </p:txBody>
      </p:sp>
      <p:sp>
        <p:nvSpPr>
          <p:cNvPr id="4" name="Text 2"/>
          <p:cNvSpPr txBox="1"/>
          <p:nvPr/>
        </p:nvSpPr>
        <p:spPr>
          <a:xfrm>
            <a:off x="548640" y="1325880"/>
            <a:ext cx="6400800" cy="173736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libri" pitchFamily="34" charset="0"/>
                <a:ea typeface="Calibri" pitchFamily="34" charset="-122"/>
                <a:cs typeface="Calibri" pitchFamily="34" charset="-120"/>
              </a:rPr>
              <a:t>Colisiones, objetos</a:t>
            </a:r>
            <a:endParaRPr lang="en-US" sz="4200" dirty="0"/>
          </a:p>
          <a:p>
            <a:pPr indent="0" marL="0">
              <a:lnSpc>
                <a:spcPts val="4800"/>
              </a:lnSpc>
              <a:buNone/>
            </a:pPr>
            <a:r>
              <a:rPr lang="en-US" sz="4200" b="1" dirty="0">
                <a:solidFill>
                  <a:srgbClr val="FFFFFF"/>
                </a:solidFill>
                <a:latin typeface="Calibri" pitchFamily="34" charset="0"/>
                <a:ea typeface="Calibri" pitchFamily="34" charset="-122"/>
                <a:cs typeface="Calibri" pitchFamily="34" charset="-120"/>
              </a:rPr>
              <a:t>interactivos y trampas</a:t>
            </a:r>
            <a:endParaRPr lang="en-US" sz="4200" dirty="0"/>
          </a:p>
        </p:txBody>
      </p:sp>
      <p:sp>
        <p:nvSpPr>
          <p:cNvPr id="5" name="Text 3"/>
          <p:cNvSpPr txBox="1"/>
          <p:nvPr/>
        </p:nvSpPr>
        <p:spPr>
          <a:xfrm>
            <a:off x="548640" y="3154680"/>
            <a:ext cx="6400800" cy="365760"/>
          </a:xfrm>
          <a:prstGeom prst="rect">
            <a:avLst/>
          </a:prstGeom>
          <a:noFill/>
          <a:ln/>
        </p:spPr>
        <p:txBody>
          <a:bodyPr wrap="square" lIns="0" tIns="0" rIns="0" bIns="0" rtlCol="0" anchor="ctr"/>
          <a:lstStyle/>
          <a:p>
            <a:pPr indent="0" marL="0">
              <a:buNone/>
            </a:pPr>
            <a:r>
              <a:rPr lang="en-US" sz="1600" dirty="0">
                <a:solidFill>
                  <a:srgbClr val="8C8A9C"/>
                </a:solidFill>
                <a:latin typeface="Calibri" pitchFamily="34" charset="0"/>
                <a:ea typeface="Calibri" pitchFamily="34" charset="-122"/>
                <a:cs typeface="Calibri" pitchFamily="34" charset="-120"/>
              </a:rPr>
              <a:t>DungeonPuzzle · juego de sigilo y puzles top-down en Unity</a:t>
            </a:r>
            <a:endParaRPr lang="en-US" sz="1600" dirty="0"/>
          </a:p>
        </p:txBody>
      </p:sp>
      <p:sp>
        <p:nvSpPr>
          <p:cNvPr id="6" name="Shape 4"/>
          <p:cNvSpPr/>
          <p:nvPr/>
        </p:nvSpPr>
        <p:spPr>
          <a:xfrm>
            <a:off x="548640" y="3703320"/>
            <a:ext cx="2775204" cy="347472"/>
          </a:xfrm>
          <a:prstGeom prst="roundRect">
            <a:avLst>
              <a:gd name="adj" fmla="val 13158"/>
            </a:avLst>
          </a:prstGeom>
          <a:solidFill>
            <a:srgbClr val="3A3842"/>
          </a:solidFill>
          <a:ln w="9525">
            <a:solidFill>
              <a:srgbClr val="605E6E"/>
            </a:solidFill>
            <a:prstDash val="solid"/>
          </a:ln>
        </p:spPr>
      </p:sp>
      <p:sp>
        <p:nvSpPr>
          <p:cNvPr id="7" name="Text 5"/>
          <p:cNvSpPr txBox="1"/>
          <p:nvPr/>
        </p:nvSpPr>
        <p:spPr>
          <a:xfrm>
            <a:off x="548640" y="3703320"/>
            <a:ext cx="2775204" cy="347472"/>
          </a:xfrm>
          <a:prstGeom prst="rect">
            <a:avLst/>
          </a:prstGeom>
          <a:noFill/>
          <a:ln/>
        </p:spPr>
        <p:txBody>
          <a:bodyPr wrap="square" lIns="0" tIns="0" rIns="0" bIns="0" rtlCol="0" anchor="ctr"/>
          <a:lstStyle/>
          <a:p>
            <a:pPr algn="ctr" indent="0" marL="0">
              <a:buNone/>
            </a:pPr>
            <a:r>
              <a:rPr lang="en-US" sz="1050" dirty="0">
                <a:solidFill>
                  <a:srgbClr val="8C8A9C"/>
                </a:solidFill>
                <a:latin typeface="Courier New" pitchFamily="34" charset="0"/>
                <a:ea typeface="Courier New" pitchFamily="34" charset="-122"/>
                <a:cs typeface="Courier New" pitchFamily="34" charset="-120"/>
              </a:rPr>
              <a:t>Unity 6000.5.0b10</a:t>
            </a:r>
            <a:endParaRPr lang="en-US" sz="1050" dirty="0"/>
          </a:p>
        </p:txBody>
      </p:sp>
      <p:sp>
        <p:nvSpPr>
          <p:cNvPr id="8" name="Shape 6"/>
          <p:cNvSpPr/>
          <p:nvPr/>
        </p:nvSpPr>
        <p:spPr>
          <a:xfrm>
            <a:off x="3470148" y="3703320"/>
            <a:ext cx="1216152" cy="347472"/>
          </a:xfrm>
          <a:prstGeom prst="roundRect">
            <a:avLst>
              <a:gd name="adj" fmla="val 13158"/>
            </a:avLst>
          </a:prstGeom>
          <a:solidFill>
            <a:srgbClr val="3A3842"/>
          </a:solidFill>
          <a:ln w="9525">
            <a:solidFill>
              <a:srgbClr val="605E6E"/>
            </a:solidFill>
            <a:prstDash val="solid"/>
          </a:ln>
        </p:spPr>
      </p:sp>
      <p:sp>
        <p:nvSpPr>
          <p:cNvPr id="9" name="Text 7"/>
          <p:cNvSpPr txBox="1"/>
          <p:nvPr/>
        </p:nvSpPr>
        <p:spPr>
          <a:xfrm>
            <a:off x="3470148" y="3703320"/>
            <a:ext cx="1216152" cy="347472"/>
          </a:xfrm>
          <a:prstGeom prst="rect">
            <a:avLst/>
          </a:prstGeom>
          <a:noFill/>
          <a:ln/>
        </p:spPr>
        <p:txBody>
          <a:bodyPr wrap="square" lIns="0" tIns="0" rIns="0" bIns="0" rtlCol="0" anchor="ctr"/>
          <a:lstStyle/>
          <a:p>
            <a:pPr algn="ctr" indent="0" marL="0">
              <a:buNone/>
            </a:pPr>
            <a:r>
              <a:rPr lang="en-US" sz="1050" dirty="0">
                <a:solidFill>
                  <a:srgbClr val="8C8A9C"/>
                </a:solidFill>
                <a:latin typeface="Courier New" pitchFamily="34" charset="0"/>
                <a:ea typeface="Courier New" pitchFamily="34" charset="-122"/>
                <a:cs typeface="Courier New" pitchFamily="34" charset="-120"/>
              </a:rPr>
              <a:t>URP 2D</a:t>
            </a:r>
            <a:endParaRPr lang="en-US" sz="1050" dirty="0"/>
          </a:p>
        </p:txBody>
      </p:sp>
      <p:sp>
        <p:nvSpPr>
          <p:cNvPr id="10" name="Shape 8"/>
          <p:cNvSpPr/>
          <p:nvPr/>
        </p:nvSpPr>
        <p:spPr>
          <a:xfrm>
            <a:off x="4832604" y="3703320"/>
            <a:ext cx="2066544" cy="347472"/>
          </a:xfrm>
          <a:prstGeom prst="roundRect">
            <a:avLst>
              <a:gd name="adj" fmla="val 13158"/>
            </a:avLst>
          </a:prstGeom>
          <a:solidFill>
            <a:srgbClr val="3A3842"/>
          </a:solidFill>
          <a:ln w="9525">
            <a:solidFill>
              <a:srgbClr val="605E6E"/>
            </a:solidFill>
            <a:prstDash val="solid"/>
          </a:ln>
        </p:spPr>
      </p:sp>
      <p:sp>
        <p:nvSpPr>
          <p:cNvPr id="11" name="Text 9"/>
          <p:cNvSpPr txBox="1"/>
          <p:nvPr/>
        </p:nvSpPr>
        <p:spPr>
          <a:xfrm>
            <a:off x="4832604" y="3703320"/>
            <a:ext cx="2066544" cy="347472"/>
          </a:xfrm>
          <a:prstGeom prst="rect">
            <a:avLst/>
          </a:prstGeom>
          <a:noFill/>
          <a:ln/>
        </p:spPr>
        <p:txBody>
          <a:bodyPr wrap="square" lIns="0" tIns="0" rIns="0" bIns="0" rtlCol="0" anchor="ctr"/>
          <a:lstStyle/>
          <a:p>
            <a:pPr algn="ctr" indent="0" marL="0">
              <a:buNone/>
            </a:pPr>
            <a:r>
              <a:rPr lang="en-US" sz="1050" dirty="0">
                <a:solidFill>
                  <a:srgbClr val="8C8A9C"/>
                </a:solidFill>
                <a:latin typeface="Courier New" pitchFamily="34" charset="0"/>
                <a:ea typeface="Courier New" pitchFamily="34" charset="-122"/>
                <a:cs typeface="Courier New" pitchFamily="34" charset="-120"/>
              </a:rPr>
              <a:t>Input System</a:t>
            </a:r>
            <a:endParaRPr lang="en-US" sz="1050" dirty="0"/>
          </a:p>
        </p:txBody>
      </p:sp>
      <p:sp>
        <p:nvSpPr>
          <p:cNvPr id="12" name="Shape 10"/>
          <p:cNvSpPr/>
          <p:nvPr/>
        </p:nvSpPr>
        <p:spPr>
          <a:xfrm>
            <a:off x="548640" y="4142232"/>
            <a:ext cx="3058668" cy="347472"/>
          </a:xfrm>
          <a:prstGeom prst="roundRect">
            <a:avLst>
              <a:gd name="adj" fmla="val 13158"/>
            </a:avLst>
          </a:prstGeom>
          <a:solidFill>
            <a:srgbClr val="3A3842"/>
          </a:solidFill>
          <a:ln w="9525">
            <a:solidFill>
              <a:srgbClr val="605E6E"/>
            </a:solidFill>
            <a:prstDash val="solid"/>
          </a:ln>
        </p:spPr>
      </p:sp>
      <p:sp>
        <p:nvSpPr>
          <p:cNvPr id="13" name="Text 11"/>
          <p:cNvSpPr txBox="1"/>
          <p:nvPr/>
        </p:nvSpPr>
        <p:spPr>
          <a:xfrm>
            <a:off x="548640" y="4142232"/>
            <a:ext cx="3058668" cy="347472"/>
          </a:xfrm>
          <a:prstGeom prst="rect">
            <a:avLst/>
          </a:prstGeom>
          <a:noFill/>
          <a:ln/>
        </p:spPr>
        <p:txBody>
          <a:bodyPr wrap="square" lIns="0" tIns="0" rIns="0" bIns="0" rtlCol="0" anchor="ctr"/>
          <a:lstStyle/>
          <a:p>
            <a:pPr algn="ctr" indent="0" marL="0">
              <a:buNone/>
            </a:pPr>
            <a:r>
              <a:rPr lang="en-US" sz="1050" dirty="0">
                <a:solidFill>
                  <a:srgbClr val="8C8A9C"/>
                </a:solidFill>
                <a:latin typeface="Courier New" pitchFamily="34" charset="0"/>
                <a:ea typeface="Courier New" pitchFamily="34" charset="-122"/>
                <a:cs typeface="Courier New" pitchFamily="34" charset="-120"/>
              </a:rPr>
              <a:t>45 pruebas EditMode</a:t>
            </a:r>
            <a:endParaRPr lang="en-US" sz="1050" dirty="0"/>
          </a:p>
        </p:txBody>
      </p:sp>
      <p:sp>
        <p:nvSpPr>
          <p:cNvPr id="14" name="Text 12"/>
          <p:cNvSpPr txBox="1"/>
          <p:nvPr/>
        </p:nvSpPr>
        <p:spPr>
          <a:xfrm>
            <a:off x="548640" y="4709160"/>
            <a:ext cx="6400800" cy="274320"/>
          </a:xfrm>
          <a:prstGeom prst="rect">
            <a:avLst/>
          </a:prstGeom>
          <a:noFill/>
          <a:ln/>
        </p:spPr>
        <p:txBody>
          <a:bodyPr wrap="square" lIns="0" tIns="0" rIns="0" bIns="0" rtlCol="0" anchor="ctr"/>
          <a:lstStyle/>
          <a:p>
            <a:pPr indent="0" marL="0">
              <a:buNone/>
            </a:pPr>
            <a:r>
              <a:rPr lang="en-US" sz="1200" dirty="0">
                <a:solidFill>
                  <a:srgbClr val="605E6E"/>
                </a:solidFill>
                <a:latin typeface="Calibri" pitchFamily="34" charset="0"/>
                <a:ea typeface="Calibri" pitchFamily="34" charset="-122"/>
                <a:cs typeface="Calibri" pitchFamily="34" charset="-120"/>
              </a:rPr>
              <a:t>Sustentación grupal · 6 a 8 minutos más demostración en vivo</a:t>
            </a:r>
            <a:endParaRPr lang="en-US" sz="1200" dirty="0"/>
          </a:p>
        </p:txBody>
      </p:sp>
      <p:pic>
        <p:nvPicPr>
          <p:cNvPr id="15" name="Image 0" descr="/home/user/DungeonPuzzle/docs/Semana04/capturas/07_gameplay.png">    </p:cNvPr>
          <p:cNvPicPr>
            <a:picLocks noChangeAspect="1"/>
          </p:cNvPicPr>
          <p:nvPr/>
        </p:nvPicPr>
        <p:blipFill>
          <a:blip r:embed="rId1"/>
          <a:stretch>
            <a:fillRect/>
          </a:stretch>
        </p:blipFill>
        <p:spPr>
          <a:xfrm>
            <a:off x="7315200" y="1325880"/>
            <a:ext cx="4297680" cy="2414016"/>
          </a:xfrm>
          <a:prstGeom prst="rect">
            <a:avLst/>
          </a:prstGeom>
        </p:spPr>
      </p:pic>
      <p:sp>
        <p:nvSpPr>
          <p:cNvPr id="16" name="Text 13"/>
          <p:cNvSpPr txBox="1"/>
          <p:nvPr/>
        </p:nvSpPr>
        <p:spPr>
          <a:xfrm>
            <a:off x="7315200" y="3840480"/>
            <a:ext cx="4297680" cy="457200"/>
          </a:xfrm>
          <a:prstGeom prst="rect">
            <a:avLst/>
          </a:prstGeom>
          <a:noFill/>
          <a:ln/>
        </p:spPr>
        <p:txBody>
          <a:bodyPr wrap="square" lIns="0" tIns="0" rIns="0" bIns="0" rtlCol="0" anchor="ctr"/>
          <a:lstStyle/>
          <a:p>
            <a:pPr indent="0" marL="0">
              <a:lnSpc>
                <a:spcPts val="1300"/>
              </a:lnSpc>
              <a:buNone/>
            </a:pPr>
            <a:r>
              <a:rPr lang="en-US" sz="950" dirty="0">
                <a:solidFill>
                  <a:srgbClr val="605E6E"/>
                </a:solidFill>
                <a:latin typeface="Courier New" pitchFamily="34" charset="0"/>
                <a:ea typeface="Courier New" pitchFamily="34" charset="-122"/>
                <a:cs typeface="Courier New" pitchFamily="34" charset="-120"/>
              </a:rPr>
              <a:t>Room_01 en ejecución: llave, guardia con su cono de visión,</a:t>
            </a:r>
            <a:endParaRPr lang="en-US" sz="950" dirty="0"/>
          </a:p>
          <a:p>
            <a:pPr indent="0" marL="0">
              <a:lnSpc>
                <a:spcPts val="1300"/>
              </a:lnSpc>
              <a:buNone/>
            </a:pPr>
            <a:r>
              <a:rPr lang="en-US" sz="950" dirty="0">
                <a:solidFill>
                  <a:srgbClr val="605E6E"/>
                </a:solidFill>
                <a:latin typeface="Courier New" pitchFamily="34" charset="0"/>
                <a:ea typeface="Courier New" pitchFamily="34" charset="-122"/>
                <a:cs typeface="Courier New" pitchFamily="34" charset="-120"/>
              </a:rPr>
              <a:t>puerta y HUD de vidas y tiempo.</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9"/>
        </a:solidFill>
      </p:bgPr>
    </p:bg>
    <p:spTree>
      <p:nvGrpSpPr>
        <p:cNvPr id="1" name=""/>
        <p:cNvGrpSpPr/>
        <p:nvPr/>
      </p:nvGrpSpPr>
      <p:grpSpPr>
        <a:xfrm>
          <a:off x="0" y="0"/>
          <a:ext cx="0" cy="0"/>
          <a:chOff x="0" y="0"/>
          <a:chExt cx="0" cy="0"/>
        </a:xfrm>
      </p:grpSpPr>
      <p:sp>
        <p:nvSpPr>
          <p:cNvPr id="2" name="Text 0"/>
          <p:cNvSpPr txBox="1"/>
          <p:nvPr/>
        </p:nvSpPr>
        <p:spPr>
          <a:xfrm>
            <a:off x="548640" y="329184"/>
            <a:ext cx="11064240" cy="237744"/>
          </a:xfrm>
          <a:prstGeom prst="rect">
            <a:avLst/>
          </a:prstGeom>
          <a:noFill/>
          <a:ln/>
        </p:spPr>
        <p:txBody>
          <a:bodyPr wrap="square" lIns="0" tIns="0" rIns="0" bIns="0" rtlCol="0" anchor="ctr"/>
          <a:lstStyle/>
          <a:p>
            <a:pPr indent="0" marL="0">
              <a:buNone/>
            </a:pPr>
            <a:r>
              <a:rPr lang="en-US" sz="1100" spc="140" kern="0" dirty="0">
                <a:solidFill>
                  <a:srgbClr val="9A681F"/>
                </a:solidFill>
                <a:latin typeface="Courier New" pitchFamily="34" charset="0"/>
                <a:ea typeface="Courier New" pitchFamily="34" charset="-122"/>
                <a:cs typeface="Courier New" pitchFamily="34" charset="-120"/>
              </a:rPr>
              <a:t>01 · ORGANIZACIÓN DEL PROYECTO</a:t>
            </a:r>
            <a:endParaRPr lang="en-US" sz="1100" dirty="0"/>
          </a:p>
        </p:txBody>
      </p:sp>
      <p:sp>
        <p:nvSpPr>
          <p:cNvPr id="3" name="Text 1"/>
          <p:cNvSpPr txBox="1"/>
          <p:nvPr/>
        </p:nvSpPr>
        <p:spPr>
          <a:xfrm>
            <a:off x="548640" y="585216"/>
            <a:ext cx="10515600" cy="658368"/>
          </a:xfrm>
          <a:prstGeom prst="rect">
            <a:avLst/>
          </a:prstGeom>
          <a:noFill/>
          <a:ln/>
        </p:spPr>
        <p:txBody>
          <a:bodyPr wrap="square" lIns="0" tIns="0" rIns="0" bIns="0" rtlCol="0" anchor="ctr"/>
          <a:lstStyle/>
          <a:p>
            <a:pPr indent="0" marL="0">
              <a:buNone/>
            </a:pPr>
            <a:r>
              <a:rPr lang="en-US" sz="3000" b="1" dirty="0">
                <a:solidFill>
                  <a:srgbClr val="23222A"/>
                </a:solidFill>
                <a:latin typeface="Calibri" pitchFamily="34" charset="0"/>
                <a:ea typeface="Calibri" pitchFamily="34" charset="-122"/>
                <a:cs typeface="Calibri" pitchFamily="34" charset="-120"/>
              </a:rPr>
              <a:t>Una carpeta por responsabilidad</a:t>
            </a:r>
            <a:endParaRPr lang="en-US" sz="3000" dirty="0"/>
          </a:p>
        </p:txBody>
      </p:sp>
      <p:sp>
        <p:nvSpPr>
          <p:cNvPr id="4" name="Text 2"/>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7A7787"/>
                </a:solidFill>
                <a:latin typeface="Courier New" pitchFamily="34" charset="0"/>
                <a:ea typeface="Courier New" pitchFamily="34" charset="-122"/>
                <a:cs typeface="Courier New" pitchFamily="34" charset="-120"/>
              </a:rPr>
              <a:t>2</a:t>
            </a:r>
            <a:endParaRPr lang="en-US" sz="1000" dirty="0"/>
          </a:p>
        </p:txBody>
      </p:sp>
      <p:sp>
        <p:nvSpPr>
          <p:cNvPr id="5" name="Shape 3"/>
          <p:cNvSpPr/>
          <p:nvPr/>
        </p:nvSpPr>
        <p:spPr>
          <a:xfrm>
            <a:off x="548640" y="1463040"/>
            <a:ext cx="5029200" cy="3200400"/>
          </a:xfrm>
          <a:prstGeom prst="roundRect">
            <a:avLst>
              <a:gd name="adj" fmla="val 1714"/>
            </a:avLst>
          </a:prstGeom>
          <a:solidFill>
            <a:srgbClr val="FFFFFF"/>
          </a:solidFill>
          <a:ln w="9525">
            <a:solidFill>
              <a:srgbClr val="D9D6E1"/>
            </a:solidFill>
            <a:prstDash val="solid"/>
          </a:ln>
        </p:spPr>
      </p:sp>
      <p:sp>
        <p:nvSpPr>
          <p:cNvPr id="6" name="Text 4"/>
          <p:cNvSpPr txBox="1"/>
          <p:nvPr/>
        </p:nvSpPr>
        <p:spPr>
          <a:xfrm>
            <a:off x="749808" y="1664208"/>
            <a:ext cx="4626864" cy="2834640"/>
          </a:xfrm>
          <a:prstGeom prst="rect">
            <a:avLst/>
          </a:prstGeom>
          <a:noFill/>
          <a:ln/>
        </p:spPr>
        <p:txBody>
          <a:bodyPr wrap="square" lIns="0" tIns="0" rIns="0" bIns="0" rtlCol="0" anchor="ctr"/>
          <a:lstStyle/>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Assets/</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Scenes/    Room_01..05 · Room_Demo · MainMenu</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Prefabs/   Player, Guard_*, Door, Lever, Key,</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Stone, PressurePlate*, SpikeTrap*</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Scripts/</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 Core/    GameManager, CollisionLayers*,</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            DemoOverlay*, SfxLibrary</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 Player/  Movement, Interaction,</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            Inventory, InteractionSensor*</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 Guard/   GuardBase, Static, Patrol, Cone</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 World/   Door, Lever, Key, Stone,</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            PressurePlate*, SpikeTrap*</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 UI/ FX/  HUD · VFX, YSort</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 Tests/   EditMode, lógica pura</a:t>
            </a:r>
            <a:endParaRPr lang="en-US" sz="1000" dirty="0"/>
          </a:p>
          <a:p>
            <a:pPr indent="0" marL="0">
              <a:lnSpc>
                <a:spcPts val="1320"/>
              </a:lnSpc>
              <a:buNone/>
            </a:pPr>
            <a:r>
              <a:rPr lang="en-US" sz="1000" dirty="0">
                <a:solidFill>
                  <a:srgbClr val="4E4B59"/>
                </a:solidFill>
                <a:latin typeface="Courier New" pitchFamily="34" charset="0"/>
                <a:ea typeface="Courier New" pitchFamily="34" charset="-122"/>
                <a:cs typeface="Courier New" pitchFamily="34" charset="-120"/>
              </a:rPr>
              <a:t>└── Editor/    RoomBuilder, Semana04Builder*</a:t>
            </a:r>
            <a:endParaRPr lang="en-US" sz="1000" dirty="0"/>
          </a:p>
        </p:txBody>
      </p:sp>
      <p:sp>
        <p:nvSpPr>
          <p:cNvPr id="7" name="Text 5"/>
          <p:cNvSpPr txBox="1"/>
          <p:nvPr/>
        </p:nvSpPr>
        <p:spPr>
          <a:xfrm>
            <a:off x="749808" y="4754880"/>
            <a:ext cx="2743200" cy="228600"/>
          </a:xfrm>
          <a:prstGeom prst="rect">
            <a:avLst/>
          </a:prstGeom>
          <a:noFill/>
          <a:ln/>
        </p:spPr>
        <p:txBody>
          <a:bodyPr wrap="square" lIns="0" tIns="0" rIns="0" bIns="0" rtlCol="0" anchor="ctr"/>
          <a:lstStyle/>
          <a:p>
            <a:pPr indent="0" marL="0">
              <a:lnSpc>
                <a:spcPts val="1300"/>
              </a:lnSpc>
              <a:buNone/>
            </a:pPr>
            <a:r>
              <a:rPr lang="en-US" sz="950" dirty="0">
                <a:solidFill>
                  <a:srgbClr val="7A7787"/>
                </a:solidFill>
                <a:latin typeface="Courier New" pitchFamily="34" charset="0"/>
                <a:ea typeface="Courier New" pitchFamily="34" charset="-122"/>
                <a:cs typeface="Courier New" pitchFamily="34" charset="-120"/>
              </a:rPr>
              <a:t>*  añadido en la Semana 4</a:t>
            </a:r>
            <a:endParaRPr lang="en-US" sz="950" dirty="0"/>
          </a:p>
        </p:txBody>
      </p:sp>
      <p:sp>
        <p:nvSpPr>
          <p:cNvPr id="8" name="Text 6"/>
          <p:cNvSpPr txBox="1"/>
          <p:nvPr/>
        </p:nvSpPr>
        <p:spPr>
          <a:xfrm>
            <a:off x="5943600" y="1463040"/>
            <a:ext cx="5669280" cy="274320"/>
          </a:xfrm>
          <a:prstGeom prst="rect">
            <a:avLst/>
          </a:prstGeom>
          <a:noFill/>
          <a:ln/>
        </p:spPr>
        <p:txBody>
          <a:bodyPr wrap="square" lIns="0" tIns="0" rIns="0" bIns="0" rtlCol="0" anchor="ctr"/>
          <a:lstStyle/>
          <a:p>
            <a:pPr indent="0" marL="0">
              <a:buNone/>
            </a:pPr>
            <a:r>
              <a:rPr lang="en-US" sz="1500" b="1" dirty="0">
                <a:solidFill>
                  <a:srgbClr val="23222A"/>
                </a:solidFill>
                <a:latin typeface="Calibri" pitchFamily="34" charset="0"/>
                <a:ea typeface="Calibri" pitchFamily="34" charset="-122"/>
                <a:cs typeface="Calibri" pitchFamily="34" charset="-120"/>
              </a:rPr>
              <a:t>Tres assemblies, una regla</a:t>
            </a:r>
            <a:endParaRPr lang="en-US" sz="15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943600" y="1828800"/>
          <a:ext cx="5669280" cy="914400"/>
        </p:xfrm>
        <a:graphic>
          <a:graphicData uri="http://schemas.openxmlformats.org/drawingml/2006/table">
            <a:tbl>
              <a:tblPr/>
              <a:tblGrid>
                <a:gridCol w="2286000"/>
                <a:gridCol w="2194560"/>
                <a:gridCol w="1188720"/>
              </a:tblGrid>
              <a:tr h="292608">
                <a:tc>
                  <a:txBody>
                    <a:bodyPr/>
                    <a:lstStyle/>
                    <a:p>
                      <a:pPr indent="0" marL="0">
                        <a:buNone/>
                      </a:pPr>
                      <a:r>
                        <a:rPr lang="en-US" sz="1050" b="1" dirty="0">
                          <a:solidFill>
                            <a:srgbClr val="4E4B59"/>
                          </a:solidFill>
                          <a:latin typeface="Courier New" pitchFamily="34" charset="0"/>
                          <a:ea typeface="Courier New" pitchFamily="34" charset="-122"/>
                          <a:cs typeface="Courier New" pitchFamily="34" charset="-120"/>
                        </a:rPr>
                        <a:t>Assembly</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050" b="1" dirty="0">
                          <a:solidFill>
                            <a:srgbClr val="4E4B59"/>
                          </a:solidFill>
                          <a:latin typeface="Courier New" pitchFamily="34" charset="0"/>
                          <a:ea typeface="Courier New" pitchFamily="34" charset="-122"/>
                          <a:cs typeface="Courier New" pitchFamily="34" charset="-120"/>
                        </a:rPr>
                        <a:t>Contenido</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050" b="1" dirty="0">
                          <a:solidFill>
                            <a:srgbClr val="4E4B59"/>
                          </a:solidFill>
                          <a:latin typeface="Courier New" pitchFamily="34" charset="0"/>
                          <a:ea typeface="Courier New" pitchFamily="34" charset="-122"/>
                          <a:cs typeface="Courier New" pitchFamily="34" charset="-120"/>
                        </a:rPr>
                        <a:t>¿Al build?</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4E4B59"/>
                          </a:solidFill>
                          <a:latin typeface="Courier New" pitchFamily="34" charset="0"/>
                          <a:ea typeface="Courier New" pitchFamily="34" charset="-122"/>
                          <a:cs typeface="Courier New" pitchFamily="34" charset="-120"/>
                        </a:rPr>
                        <a:t>DungeonPuzzle.Runtime</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050" dirty="0">
                          <a:solidFill>
                            <a:srgbClr val="4E4B59"/>
                          </a:solidFill>
                          <a:latin typeface="Courier New" pitchFamily="34" charset="0"/>
                          <a:ea typeface="Courier New" pitchFamily="34" charset="-122"/>
                          <a:cs typeface="Courier New" pitchFamily="34" charset="-120"/>
                        </a:rPr>
                        <a:t>Assets/Scripts/**</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050" dirty="0">
                          <a:solidFill>
                            <a:srgbClr val="4E4B59"/>
                          </a:solidFill>
                          <a:latin typeface="Courier New" pitchFamily="34" charset="0"/>
                          <a:ea typeface="Courier New" pitchFamily="34" charset="-122"/>
                          <a:cs typeface="Courier New" pitchFamily="34" charset="-120"/>
                        </a:rPr>
                        <a:t>Sí</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4E4B59"/>
                          </a:solidFill>
                          <a:latin typeface="Courier New" pitchFamily="34" charset="0"/>
                          <a:ea typeface="Courier New" pitchFamily="34" charset="-122"/>
                          <a:cs typeface="Courier New" pitchFamily="34" charset="-120"/>
                        </a:rPr>
                        <a:t>DungeonPuzzle.Editor</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050" dirty="0">
                          <a:solidFill>
                            <a:srgbClr val="4E4B59"/>
                          </a:solidFill>
                          <a:latin typeface="Courier New" pitchFamily="34" charset="0"/>
                          <a:ea typeface="Courier New" pitchFamily="34" charset="-122"/>
                          <a:cs typeface="Courier New" pitchFamily="34" charset="-120"/>
                        </a:rPr>
                        <a:t>Assets/Editor/**</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050" dirty="0">
                          <a:solidFill>
                            <a:srgbClr val="4E4B59"/>
                          </a:solidFill>
                          <a:latin typeface="Courier New" pitchFamily="34" charset="0"/>
                          <a:ea typeface="Courier New" pitchFamily="34" charset="-122"/>
                          <a:cs typeface="Courier New" pitchFamily="34" charset="-120"/>
                        </a:rPr>
                        <a:t>No</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292608">
                <a:tc>
                  <a:txBody>
                    <a:bodyPr/>
                    <a:lstStyle/>
                    <a:p>
                      <a:pPr indent="0" marL="0">
                        <a:buNone/>
                      </a:pPr>
                      <a:r>
                        <a:rPr lang="en-US" sz="1050" dirty="0">
                          <a:solidFill>
                            <a:srgbClr val="4E4B59"/>
                          </a:solidFill>
                          <a:latin typeface="Courier New" pitchFamily="34" charset="0"/>
                          <a:ea typeface="Courier New" pitchFamily="34" charset="-122"/>
                          <a:cs typeface="Courier New" pitchFamily="34" charset="-120"/>
                        </a:rPr>
                        <a:t>DungeonPuzzle.Tests</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050" dirty="0">
                          <a:solidFill>
                            <a:srgbClr val="4E4B59"/>
                          </a:solidFill>
                          <a:latin typeface="Courier New" pitchFamily="34" charset="0"/>
                          <a:ea typeface="Courier New" pitchFamily="34" charset="-122"/>
                          <a:cs typeface="Courier New" pitchFamily="34" charset="-120"/>
                        </a:rPr>
                        <a:t>Scripts/Tests/**</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050" dirty="0">
                          <a:solidFill>
                            <a:srgbClr val="4E4B59"/>
                          </a:solidFill>
                          <a:latin typeface="Courier New" pitchFamily="34" charset="0"/>
                          <a:ea typeface="Courier New" pitchFamily="34" charset="-122"/>
                          <a:cs typeface="Courier New" pitchFamily="34" charset="-120"/>
                        </a:rPr>
                        <a:t>No</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5943600" y="3291840"/>
            <a:ext cx="5669280" cy="731520"/>
          </a:xfrm>
          <a:prstGeom prst="rect">
            <a:avLst/>
          </a:prstGeom>
          <a:noFill/>
          <a:ln/>
        </p:spPr>
        <p:txBody>
          <a:bodyPr wrap="square" lIns="0" tIns="0" rIns="0" bIns="0" rtlCol="0" anchor="ctr"/>
          <a:lstStyle/>
          <a:p>
            <a:pPr indent="0" marL="0">
              <a:lnSpc>
                <a:spcPts val="2000"/>
              </a:lnSpc>
              <a:buNone/>
            </a:pPr>
            <a:r>
              <a:rPr lang="en-US" sz="1350" dirty="0">
                <a:solidFill>
                  <a:srgbClr val="4E4B59"/>
                </a:solidFill>
                <a:latin typeface="Calibri" pitchFamily="34" charset="0"/>
                <a:ea typeface="Calibri" pitchFamily="34" charset="-122"/>
                <a:cs typeface="Calibri" pitchFamily="34" charset="-120"/>
              </a:rPr>
              <a:t>El Editor puede usar el Runtime, nunca al revés. Con eso, las herramientas que construyen las salas no pueden colarse en la versión jugable.</a:t>
            </a:r>
            <a:endParaRPr lang="en-US" sz="1350" dirty="0"/>
          </a:p>
        </p:txBody>
      </p:sp>
      <p:sp>
        <p:nvSpPr>
          <p:cNvPr id="11" name="Text 8"/>
          <p:cNvSpPr txBox="1"/>
          <p:nvPr/>
        </p:nvSpPr>
        <p:spPr>
          <a:xfrm>
            <a:off x="5943600" y="4069080"/>
            <a:ext cx="5669280" cy="640080"/>
          </a:xfrm>
          <a:prstGeom prst="rect">
            <a:avLst/>
          </a:prstGeom>
          <a:noFill/>
          <a:ln/>
        </p:spPr>
        <p:txBody>
          <a:bodyPr wrap="square" lIns="0" tIns="0" rIns="0" bIns="0" rtlCol="0" anchor="ctr"/>
          <a:lstStyle/>
          <a:p>
            <a:pPr indent="0" marL="0">
              <a:lnSpc>
                <a:spcPts val="2000"/>
              </a:lnSpc>
              <a:buNone/>
            </a:pPr>
            <a:r>
              <a:rPr lang="en-US" sz="1350" dirty="0">
                <a:solidFill>
                  <a:srgbClr val="4E4B59"/>
                </a:solidFill>
                <a:latin typeface="Calibri" pitchFamily="34" charset="0"/>
                <a:ea typeface="Calibri" pitchFamily="34" charset="-122"/>
                <a:cs typeface="Calibri" pitchFamily="34" charset="-120"/>
              </a:rPr>
              <a:t>GameManager se autocrea y sobrevive a los cambios de escena, así que cualquier sala se ejecuta sola sin arrancar por el menú.</a:t>
            </a:r>
            <a:endParaRPr lang="en-US" sz="1350" dirty="0"/>
          </a:p>
        </p:txBody>
      </p:sp>
      <p:pic>
        <p:nvPicPr>
          <p:cNvPr id="12" name="Image 0" descr="/home/user/DungeonPuzzle/docs/Semana04/capturas/01_project.png">    </p:cNvPr>
          <p:cNvPicPr>
            <a:picLocks noChangeAspect="1"/>
          </p:cNvPicPr>
          <p:nvPr/>
        </p:nvPicPr>
        <p:blipFill>
          <a:blip r:embed="rId1"/>
          <a:stretch>
            <a:fillRect/>
          </a:stretch>
        </p:blipFill>
        <p:spPr>
          <a:xfrm>
            <a:off x="5943600" y="4800600"/>
            <a:ext cx="1234440" cy="1527048"/>
          </a:xfrm>
          <a:prstGeom prst="rect">
            <a:avLst/>
          </a:prstGeom>
        </p:spPr>
      </p:pic>
      <p:sp>
        <p:nvSpPr>
          <p:cNvPr id="13" name="Text 9"/>
          <p:cNvSpPr txBox="1"/>
          <p:nvPr/>
        </p:nvSpPr>
        <p:spPr>
          <a:xfrm>
            <a:off x="7360920" y="5120640"/>
            <a:ext cx="4206240" cy="548640"/>
          </a:xfrm>
          <a:prstGeom prst="rect">
            <a:avLst/>
          </a:prstGeom>
          <a:noFill/>
          <a:ln/>
        </p:spPr>
        <p:txBody>
          <a:bodyPr wrap="square" lIns="0" tIns="0" rIns="0" bIns="0" rtlCol="0" anchor="ctr"/>
          <a:lstStyle/>
          <a:p>
            <a:pPr indent="0" marL="0">
              <a:lnSpc>
                <a:spcPts val="1300"/>
              </a:lnSpc>
              <a:buNone/>
            </a:pPr>
            <a:r>
              <a:rPr lang="en-US" sz="950" dirty="0">
                <a:solidFill>
                  <a:srgbClr val="7A7787"/>
                </a:solidFill>
                <a:latin typeface="Courier New" pitchFamily="34" charset="0"/>
                <a:ea typeface="Courier New" pitchFamily="34" charset="-122"/>
                <a:cs typeface="Courier New" pitchFamily="34" charset="-120"/>
              </a:rPr>
              <a:t>El panel Project con Scripts/ desplegado</a:t>
            </a:r>
            <a:endParaRPr lang="en-US" sz="950" dirty="0"/>
          </a:p>
          <a:p>
            <a:pPr indent="0" marL="0">
              <a:lnSpc>
                <a:spcPts val="1300"/>
              </a:lnSpc>
              <a:buNone/>
            </a:pPr>
            <a:r>
              <a:rPr lang="en-US" sz="950" dirty="0">
                <a:solidFill>
                  <a:srgbClr val="7A7787"/>
                </a:solidFill>
                <a:latin typeface="Courier New" pitchFamily="34" charset="0"/>
                <a:ea typeface="Courier New" pitchFamily="34" charset="-122"/>
                <a:cs typeface="Courier New" pitchFamily="34" charset="-120"/>
              </a:rPr>
              <a:t>y los tres archivos .asmdef.</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9"/>
        </a:solidFill>
      </p:bgPr>
    </p:bg>
    <p:spTree>
      <p:nvGrpSpPr>
        <p:cNvPr id="1" name=""/>
        <p:cNvGrpSpPr/>
        <p:nvPr/>
      </p:nvGrpSpPr>
      <p:grpSpPr>
        <a:xfrm>
          <a:off x="0" y="0"/>
          <a:ext cx="0" cy="0"/>
          <a:chOff x="0" y="0"/>
          <a:chExt cx="0" cy="0"/>
        </a:xfrm>
      </p:grpSpPr>
      <p:sp>
        <p:nvSpPr>
          <p:cNvPr id="2" name="Text 0"/>
          <p:cNvSpPr txBox="1"/>
          <p:nvPr/>
        </p:nvSpPr>
        <p:spPr>
          <a:xfrm>
            <a:off x="548640" y="329184"/>
            <a:ext cx="11064240" cy="237744"/>
          </a:xfrm>
          <a:prstGeom prst="rect">
            <a:avLst/>
          </a:prstGeom>
          <a:noFill/>
          <a:ln/>
        </p:spPr>
        <p:txBody>
          <a:bodyPr wrap="square" lIns="0" tIns="0" rIns="0" bIns="0" rtlCol="0" anchor="ctr"/>
          <a:lstStyle/>
          <a:p>
            <a:pPr indent="0" marL="0">
              <a:buNone/>
            </a:pPr>
            <a:r>
              <a:rPr lang="en-US" sz="1100" spc="140" kern="0" dirty="0">
                <a:solidFill>
                  <a:srgbClr val="9A681F"/>
                </a:solidFill>
                <a:latin typeface="Courier New" pitchFamily="34" charset="0"/>
                <a:ea typeface="Courier New" pitchFamily="34" charset="-122"/>
                <a:cs typeface="Courier New" pitchFamily="34" charset="-120"/>
              </a:rPr>
              <a:t>01 · COMPONENTES</a:t>
            </a:r>
            <a:endParaRPr lang="en-US" sz="1100" dirty="0"/>
          </a:p>
        </p:txBody>
      </p:sp>
      <p:sp>
        <p:nvSpPr>
          <p:cNvPr id="3" name="Text 1"/>
          <p:cNvSpPr txBox="1"/>
          <p:nvPr/>
        </p:nvSpPr>
        <p:spPr>
          <a:xfrm>
            <a:off x="548640" y="585216"/>
            <a:ext cx="10515600" cy="658368"/>
          </a:xfrm>
          <a:prstGeom prst="rect">
            <a:avLst/>
          </a:prstGeom>
          <a:noFill/>
          <a:ln/>
        </p:spPr>
        <p:txBody>
          <a:bodyPr wrap="square" lIns="0" tIns="0" rIns="0" bIns="0" rtlCol="0" anchor="ctr"/>
          <a:lstStyle/>
          <a:p>
            <a:pPr indent="0" marL="0">
              <a:buNone/>
            </a:pPr>
            <a:r>
              <a:rPr lang="en-US" sz="3000" b="1" dirty="0">
                <a:solidFill>
                  <a:srgbClr val="23222A"/>
                </a:solidFill>
                <a:latin typeface="Calibri" pitchFamily="34" charset="0"/>
                <a:ea typeface="Calibri" pitchFamily="34" charset="-122"/>
                <a:cs typeface="Calibri" pitchFamily="34" charset="-120"/>
              </a:rPr>
              <a:t>Composición sobre herencia</a:t>
            </a:r>
            <a:endParaRPr lang="en-US" sz="3000" dirty="0"/>
          </a:p>
        </p:txBody>
      </p:sp>
      <p:sp>
        <p:nvSpPr>
          <p:cNvPr id="4" name="Text 2"/>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7A7787"/>
                </a:solidFill>
                <a:latin typeface="Courier New" pitchFamily="34" charset="0"/>
                <a:ea typeface="Courier New" pitchFamily="34" charset="-122"/>
                <a:cs typeface="Courier New" pitchFamily="34" charset="-120"/>
              </a:rPr>
              <a:t>3</a:t>
            </a:r>
            <a:endParaRPr lang="en-US" sz="1000" dirty="0"/>
          </a:p>
        </p:txBody>
      </p:sp>
      <p:sp>
        <p:nvSpPr>
          <p:cNvPr id="5" name="Shape 3"/>
          <p:cNvSpPr/>
          <p:nvPr/>
        </p:nvSpPr>
        <p:spPr>
          <a:xfrm>
            <a:off x="548640" y="1463040"/>
            <a:ext cx="3931920" cy="2286000"/>
          </a:xfrm>
          <a:prstGeom prst="roundRect">
            <a:avLst>
              <a:gd name="adj" fmla="val 2400"/>
            </a:avLst>
          </a:prstGeom>
          <a:solidFill>
            <a:srgbClr val="FFFFFF"/>
          </a:solidFill>
          <a:ln w="9525">
            <a:solidFill>
              <a:srgbClr val="D9D6E1"/>
            </a:solidFill>
            <a:prstDash val="solid"/>
          </a:ln>
        </p:spPr>
      </p:sp>
      <p:sp>
        <p:nvSpPr>
          <p:cNvPr id="6" name="Text 4"/>
          <p:cNvSpPr txBox="1"/>
          <p:nvPr/>
        </p:nvSpPr>
        <p:spPr>
          <a:xfrm>
            <a:off x="777240" y="1645920"/>
            <a:ext cx="914400" cy="274320"/>
          </a:xfrm>
          <a:prstGeom prst="rect">
            <a:avLst/>
          </a:prstGeom>
          <a:noFill/>
          <a:ln/>
        </p:spPr>
        <p:txBody>
          <a:bodyPr wrap="square" lIns="0" tIns="0" rIns="0" bIns="0" rtlCol="0" anchor="ctr"/>
          <a:lstStyle/>
          <a:p>
            <a:pPr indent="0" marL="0">
              <a:buNone/>
            </a:pPr>
            <a:r>
              <a:rPr lang="en-US" sz="1500" b="1" dirty="0">
                <a:solidFill>
                  <a:srgbClr val="23222A"/>
                </a:solidFill>
                <a:latin typeface="Calibri" pitchFamily="34" charset="0"/>
                <a:ea typeface="Calibri" pitchFamily="34" charset="-122"/>
                <a:cs typeface="Calibri" pitchFamily="34" charset="-120"/>
              </a:rPr>
              <a:t>Player</a:t>
            </a:r>
            <a:endParaRPr lang="en-US" sz="1500" dirty="0"/>
          </a:p>
        </p:txBody>
      </p:sp>
      <p:sp>
        <p:nvSpPr>
          <p:cNvPr id="7" name="Text 5"/>
          <p:cNvSpPr txBox="1"/>
          <p:nvPr/>
        </p:nvSpPr>
        <p:spPr>
          <a:xfrm>
            <a:off x="1783080" y="1691640"/>
            <a:ext cx="1097280" cy="228600"/>
          </a:xfrm>
          <a:prstGeom prst="rect">
            <a:avLst/>
          </a:prstGeom>
          <a:noFill/>
          <a:ln/>
        </p:spPr>
        <p:txBody>
          <a:bodyPr wrap="square" lIns="0" tIns="0" rIns="0" bIns="0" rtlCol="0" anchor="ctr"/>
          <a:lstStyle/>
          <a:p>
            <a:pPr indent="0" marL="0">
              <a:lnSpc>
                <a:spcPts val="1500"/>
              </a:lnSpc>
              <a:buNone/>
            </a:pPr>
            <a:r>
              <a:rPr lang="en-US" sz="1000" dirty="0">
                <a:solidFill>
                  <a:srgbClr val="9A681F"/>
                </a:solidFill>
                <a:latin typeface="Courier New" pitchFamily="34" charset="0"/>
                <a:ea typeface="Courier New" pitchFamily="34" charset="-122"/>
                <a:cs typeface="Courier New" pitchFamily="34" charset="-120"/>
              </a:rPr>
              <a:t>capa 6</a:t>
            </a:r>
            <a:endParaRPr lang="en-US" sz="1000" dirty="0"/>
          </a:p>
        </p:txBody>
      </p:sp>
      <p:sp>
        <p:nvSpPr>
          <p:cNvPr id="8" name="Text 6"/>
          <p:cNvSpPr txBox="1"/>
          <p:nvPr/>
        </p:nvSpPr>
        <p:spPr>
          <a:xfrm>
            <a:off x="777240" y="2011680"/>
            <a:ext cx="3474720" cy="1600200"/>
          </a:xfrm>
          <a:prstGeom prst="rect">
            <a:avLst/>
          </a:prstGeom>
          <a:noFill/>
          <a:ln/>
        </p:spPr>
        <p:txBody>
          <a:bodyPr wrap="square" lIns="0" tIns="0" rIns="0" bIns="0" rtlCol="0" anchor="ctr"/>
          <a:lstStyle/>
          <a:p>
            <a:pPr marL="342900" indent="-342900">
              <a:lnSpc>
                <a:spcPts val="2000"/>
              </a:lnSpc>
              <a:spcAft>
                <a:spcPts val="500"/>
              </a:spcAft>
              <a:buSzPct val="100000"/>
              <a:buChar char="•"/>
            </a:pPr>
            <a:r>
              <a:rPr lang="en-US" sz="1250" dirty="0">
                <a:solidFill>
                  <a:srgbClr val="4E4B59"/>
                </a:solidFill>
                <a:latin typeface="Calibri" pitchFamily="34" charset="0"/>
                <a:ea typeface="Calibri" pitchFamily="34" charset="-122"/>
                <a:cs typeface="Calibri" pitchFamily="34" charset="-120"/>
              </a:rPr>
              <a:t>Rigidbody2D dinámico, rotación congelada</a:t>
            </a:r>
            <a:endParaRPr lang="en-US" sz="1250" dirty="0"/>
          </a:p>
          <a:p>
            <a:pPr marL="342900" indent="-342900">
              <a:lnSpc>
                <a:spcPts val="2000"/>
              </a:lnSpc>
              <a:spcAft>
                <a:spcPts val="500"/>
              </a:spcAft>
              <a:buSzPct val="100000"/>
              <a:buChar char="•"/>
            </a:pPr>
            <a:r>
              <a:rPr lang="en-US" sz="1250" dirty="0">
                <a:solidFill>
                  <a:srgbClr val="4E4B59"/>
                </a:solidFill>
                <a:latin typeface="Calibri" pitchFamily="34" charset="0"/>
                <a:ea typeface="Calibri" pitchFamily="34" charset="-122"/>
                <a:cs typeface="Calibri" pitchFamily="34" charset="-120"/>
              </a:rPr>
              <a:t>CircleCollider2D sólido r = 0.4</a:t>
            </a:r>
            <a:endParaRPr lang="en-US" sz="1250" dirty="0"/>
          </a:p>
          <a:p>
            <a:pPr marL="342900" indent="-342900">
              <a:lnSpc>
                <a:spcPts val="2000"/>
              </a:lnSpc>
              <a:spcAft>
                <a:spcPts val="500"/>
              </a:spcAft>
              <a:buSzPct val="100000"/>
              <a:buChar char="•"/>
            </a:pPr>
            <a:r>
              <a:rPr lang="en-US" sz="1250" dirty="0">
                <a:solidFill>
                  <a:srgbClr val="4E4B59"/>
                </a:solidFill>
                <a:latin typeface="Calibri" pitchFamily="34" charset="0"/>
                <a:ea typeface="Calibri" pitchFamily="34" charset="-122"/>
                <a:cs typeface="Calibri" pitchFamily="34" charset="-120"/>
              </a:rPr>
              <a:t>CircleCollider2D trigger r = 1.0, el sensor</a:t>
            </a:r>
            <a:endParaRPr lang="en-US" sz="1250" dirty="0"/>
          </a:p>
          <a:p>
            <a:pPr marL="342900" indent="-342900">
              <a:lnSpc>
                <a:spcPts val="2000"/>
              </a:lnSpc>
              <a:spcAft>
                <a:spcPts val="500"/>
              </a:spcAft>
              <a:buSzPct val="100000"/>
              <a:buChar char="•"/>
            </a:pPr>
            <a:r>
              <a:rPr lang="en-US" sz="1250" dirty="0">
                <a:solidFill>
                  <a:srgbClr val="4E4B59"/>
                </a:solidFill>
                <a:latin typeface="Calibri" pitchFamily="34" charset="0"/>
                <a:ea typeface="Calibri" pitchFamily="34" charset="-122"/>
                <a:cs typeface="Calibri" pitchFamily="34" charset="-120"/>
              </a:rPr>
              <a:t>Movement · Interaction · Inventory · Sensor</a:t>
            </a:r>
            <a:endParaRPr lang="en-US" sz="1250" dirty="0"/>
          </a:p>
          <a:p>
            <a:pPr marL="342900" indent="-342900">
              <a:lnSpc>
                <a:spcPts val="2000"/>
              </a:lnSpc>
              <a:spcAft>
                <a:spcPts val="500"/>
              </a:spcAft>
              <a:buSzPct val="100000"/>
              <a:buChar char="•"/>
            </a:pPr>
            <a:r>
              <a:rPr lang="en-US" sz="1250" dirty="0">
                <a:solidFill>
                  <a:srgbClr val="4E4B59"/>
                </a:solidFill>
                <a:latin typeface="Calibri" pitchFamily="34" charset="0"/>
                <a:ea typeface="Calibri" pitchFamily="34" charset="-122"/>
                <a:cs typeface="Calibri" pitchFamily="34" charset="-120"/>
              </a:rPr>
              <a:t>Hijo Visual: Animator de 4 direcciones</a:t>
            </a:r>
            <a:endParaRPr lang="en-US" sz="1250" dirty="0"/>
          </a:p>
        </p:txBody>
      </p:sp>
      <p:sp>
        <p:nvSpPr>
          <p:cNvPr id="9" name="Shape 7"/>
          <p:cNvSpPr/>
          <p:nvPr/>
        </p:nvSpPr>
        <p:spPr>
          <a:xfrm>
            <a:off x="548640" y="3886200"/>
            <a:ext cx="3931920" cy="2194560"/>
          </a:xfrm>
          <a:prstGeom prst="roundRect">
            <a:avLst>
              <a:gd name="adj" fmla="val 2500"/>
            </a:avLst>
          </a:prstGeom>
          <a:solidFill>
            <a:srgbClr val="FFFFFF"/>
          </a:solidFill>
          <a:ln w="9525">
            <a:solidFill>
              <a:srgbClr val="D9D6E1"/>
            </a:solidFill>
            <a:prstDash val="solid"/>
          </a:ln>
        </p:spPr>
      </p:sp>
      <p:sp>
        <p:nvSpPr>
          <p:cNvPr id="10" name="Text 8"/>
          <p:cNvSpPr txBox="1"/>
          <p:nvPr/>
        </p:nvSpPr>
        <p:spPr>
          <a:xfrm>
            <a:off x="777240" y="4069080"/>
            <a:ext cx="1051560" cy="274320"/>
          </a:xfrm>
          <a:prstGeom prst="rect">
            <a:avLst/>
          </a:prstGeom>
          <a:noFill/>
          <a:ln/>
        </p:spPr>
        <p:txBody>
          <a:bodyPr wrap="square" lIns="0" tIns="0" rIns="0" bIns="0" rtlCol="0" anchor="ctr"/>
          <a:lstStyle/>
          <a:p>
            <a:pPr indent="0" marL="0">
              <a:buNone/>
            </a:pPr>
            <a:r>
              <a:rPr lang="en-US" sz="1500" b="1" dirty="0">
                <a:solidFill>
                  <a:srgbClr val="23222A"/>
                </a:solidFill>
                <a:latin typeface="Calibri" pitchFamily="34" charset="0"/>
                <a:ea typeface="Calibri" pitchFamily="34" charset="-122"/>
                <a:cs typeface="Calibri" pitchFamily="34" charset="-120"/>
              </a:rPr>
              <a:t>Guard_*</a:t>
            </a:r>
            <a:endParaRPr lang="en-US" sz="1500" dirty="0"/>
          </a:p>
        </p:txBody>
      </p:sp>
      <p:sp>
        <p:nvSpPr>
          <p:cNvPr id="11" name="Text 9"/>
          <p:cNvSpPr txBox="1"/>
          <p:nvPr/>
        </p:nvSpPr>
        <p:spPr>
          <a:xfrm>
            <a:off x="1874520" y="4114800"/>
            <a:ext cx="1097280" cy="228600"/>
          </a:xfrm>
          <a:prstGeom prst="rect">
            <a:avLst/>
          </a:prstGeom>
          <a:noFill/>
          <a:ln/>
        </p:spPr>
        <p:txBody>
          <a:bodyPr wrap="square" lIns="0" tIns="0" rIns="0" bIns="0" rtlCol="0" anchor="ctr"/>
          <a:lstStyle/>
          <a:p>
            <a:pPr indent="0" marL="0">
              <a:lnSpc>
                <a:spcPts val="1500"/>
              </a:lnSpc>
              <a:buNone/>
            </a:pPr>
            <a:r>
              <a:rPr lang="en-US" sz="1000" dirty="0">
                <a:solidFill>
                  <a:srgbClr val="9A681F"/>
                </a:solidFill>
                <a:latin typeface="Courier New" pitchFamily="34" charset="0"/>
                <a:ea typeface="Courier New" pitchFamily="34" charset="-122"/>
                <a:cs typeface="Courier New" pitchFamily="34" charset="-120"/>
              </a:rPr>
              <a:t>capa 7</a:t>
            </a:r>
            <a:endParaRPr lang="en-US" sz="1000" dirty="0"/>
          </a:p>
        </p:txBody>
      </p:sp>
      <p:sp>
        <p:nvSpPr>
          <p:cNvPr id="12" name="Text 10"/>
          <p:cNvSpPr txBox="1"/>
          <p:nvPr/>
        </p:nvSpPr>
        <p:spPr>
          <a:xfrm>
            <a:off x="777240" y="4434840"/>
            <a:ext cx="3474720" cy="1417320"/>
          </a:xfrm>
          <a:prstGeom prst="rect">
            <a:avLst/>
          </a:prstGeom>
          <a:noFill/>
          <a:ln/>
        </p:spPr>
        <p:txBody>
          <a:bodyPr wrap="square" lIns="0" tIns="0" rIns="0" bIns="0" rtlCol="0" anchor="ctr"/>
          <a:lstStyle/>
          <a:p>
            <a:pPr marL="342900" indent="-342900">
              <a:lnSpc>
                <a:spcPts val="2000"/>
              </a:lnSpc>
              <a:spcAft>
                <a:spcPts val="500"/>
              </a:spcAft>
              <a:buSzPct val="100000"/>
              <a:buChar char="•"/>
            </a:pPr>
            <a:r>
              <a:rPr lang="en-US" sz="1250" dirty="0">
                <a:solidFill>
                  <a:srgbClr val="4E4B59"/>
                </a:solidFill>
                <a:latin typeface="Calibri" pitchFamily="34" charset="0"/>
                <a:ea typeface="Calibri" pitchFamily="34" charset="-122"/>
                <a:cs typeface="Calibri" pitchFamily="34" charset="-120"/>
              </a:rPr>
              <a:t>Rigidbody2D cinemático con contactos completos</a:t>
            </a:r>
            <a:endParaRPr lang="en-US" sz="1250" dirty="0"/>
          </a:p>
          <a:p>
            <a:pPr marL="342900" indent="-342900">
              <a:lnSpc>
                <a:spcPts val="2000"/>
              </a:lnSpc>
              <a:spcAft>
                <a:spcPts val="500"/>
              </a:spcAft>
              <a:buSzPct val="100000"/>
              <a:buChar char="•"/>
            </a:pPr>
            <a:r>
              <a:rPr lang="en-US" sz="1250" dirty="0">
                <a:solidFill>
                  <a:srgbClr val="4E4B59"/>
                </a:solidFill>
                <a:latin typeface="Calibri" pitchFamily="34" charset="0"/>
                <a:ea typeface="Calibri" pitchFamily="34" charset="-122"/>
                <a:cs typeface="Calibri" pitchFamily="34" charset="-120"/>
              </a:rPr>
              <a:t>GuardBase → GuardStatic o GuardPatrol</a:t>
            </a:r>
            <a:endParaRPr lang="en-US" sz="1250" dirty="0"/>
          </a:p>
          <a:p>
            <a:pPr marL="342900" indent="-342900">
              <a:lnSpc>
                <a:spcPts val="2000"/>
              </a:lnSpc>
              <a:spcAft>
                <a:spcPts val="500"/>
              </a:spcAft>
              <a:buSzPct val="100000"/>
              <a:buChar char="•"/>
            </a:pPr>
            <a:r>
              <a:rPr lang="en-US" sz="1250" dirty="0">
                <a:solidFill>
                  <a:srgbClr val="4E4B59"/>
                </a:solidFill>
                <a:latin typeface="Calibri" pitchFamily="34" charset="0"/>
                <a:ea typeface="Calibri" pitchFamily="34" charset="-122"/>
                <a:cs typeface="Calibri" pitchFamily="34" charset="-120"/>
              </a:rPr>
              <a:t>Hijo VisionCone: malla generada por raycasts</a:t>
            </a:r>
            <a:endParaRPr lang="en-US" sz="1250" dirty="0"/>
          </a:p>
          <a:p>
            <a:pPr marL="342900" indent="-342900">
              <a:lnSpc>
                <a:spcPts val="2000"/>
              </a:lnSpc>
              <a:spcAft>
                <a:spcPts val="500"/>
              </a:spcAft>
              <a:buSzPct val="100000"/>
              <a:buChar char="•"/>
            </a:pPr>
            <a:r>
              <a:rPr lang="en-US" sz="1250" dirty="0">
                <a:solidFill>
                  <a:srgbClr val="4E4B59"/>
                </a:solidFill>
                <a:latin typeface="Calibri" pitchFamily="34" charset="0"/>
                <a:ea typeface="Calibri" pitchFamily="34" charset="-122"/>
                <a:cs typeface="Calibri" pitchFamily="34" charset="-120"/>
              </a:rPr>
              <a:t>Hijo Visual: contra-rota para verse de pie</a:t>
            </a:r>
            <a:endParaRPr lang="en-US" sz="1250" dirty="0"/>
          </a:p>
        </p:txBody>
      </p:sp>
      <p:sp>
        <p:nvSpPr>
          <p:cNvPr id="13" name="Text 11"/>
          <p:cNvSpPr txBox="1"/>
          <p:nvPr/>
        </p:nvSpPr>
        <p:spPr>
          <a:xfrm>
            <a:off x="4846320" y="1600200"/>
            <a:ext cx="3931920" cy="1280160"/>
          </a:xfrm>
          <a:prstGeom prst="rect">
            <a:avLst/>
          </a:prstGeom>
          <a:noFill/>
          <a:ln/>
        </p:spPr>
        <p:txBody>
          <a:bodyPr wrap="square" lIns="0" tIns="0" rIns="0" bIns="0" rtlCol="0" anchor="ctr"/>
          <a:lstStyle/>
          <a:p>
            <a:pPr indent="0" marL="0">
              <a:lnSpc>
                <a:spcPts val="2000"/>
              </a:lnSpc>
              <a:buNone/>
            </a:pPr>
            <a:r>
              <a:rPr lang="en-US" sz="1400" dirty="0">
                <a:solidFill>
                  <a:srgbClr val="4E4B59"/>
                </a:solidFill>
                <a:latin typeface="Calibri" pitchFamily="34" charset="0"/>
                <a:ea typeface="Calibri" pitchFamily="34" charset="-122"/>
                <a:cs typeface="Calibri" pitchFamily="34" charset="-120"/>
              </a:rPr>
              <a:t>Un guardia no es una clase gigante. Es un GameObject que suma cuerpo, cono, visual y una política de movimiento. Cambiar la política de quieto a patrulla no toca la detección ni la animación.</a:t>
            </a:r>
            <a:endParaRPr lang="en-US" sz="1400" dirty="0"/>
          </a:p>
        </p:txBody>
      </p:sp>
      <p:sp>
        <p:nvSpPr>
          <p:cNvPr id="14" name="Shape 12"/>
          <p:cNvSpPr/>
          <p:nvPr/>
        </p:nvSpPr>
        <p:spPr>
          <a:xfrm>
            <a:off x="4846320" y="3063240"/>
            <a:ext cx="3931920" cy="868680"/>
          </a:xfrm>
          <a:prstGeom prst="roundRect">
            <a:avLst>
              <a:gd name="adj" fmla="val 6316"/>
            </a:avLst>
          </a:prstGeom>
          <a:solidFill>
            <a:srgbClr val="F6EEDE"/>
          </a:solidFill>
          <a:ln w="9525">
            <a:solidFill>
              <a:srgbClr val="E7A93F"/>
            </a:solidFill>
            <a:prstDash val="solid"/>
          </a:ln>
        </p:spPr>
      </p:sp>
      <p:sp>
        <p:nvSpPr>
          <p:cNvPr id="15" name="Text 13"/>
          <p:cNvSpPr txBox="1"/>
          <p:nvPr/>
        </p:nvSpPr>
        <p:spPr>
          <a:xfrm>
            <a:off x="5029200" y="3246120"/>
            <a:ext cx="3566160" cy="548640"/>
          </a:xfrm>
          <a:prstGeom prst="rect">
            <a:avLst/>
          </a:prstGeom>
          <a:noFill/>
          <a:ln/>
        </p:spPr>
        <p:txBody>
          <a:bodyPr wrap="square" lIns="0" tIns="0" rIns="0" bIns="0" rtlCol="0" anchor="ctr"/>
          <a:lstStyle/>
          <a:p>
            <a:pPr indent="0" marL="0">
              <a:lnSpc>
                <a:spcPts val="2000"/>
              </a:lnSpc>
              <a:buNone/>
            </a:pPr>
            <a:r>
              <a:rPr lang="en-US" sz="1300" b="1" dirty="0">
                <a:solidFill>
                  <a:srgbClr val="9A681F"/>
                </a:solidFill>
                <a:latin typeface="Calibri" pitchFamily="34" charset="0"/>
                <a:ea typeface="Calibri" pitchFamily="34" charset="-122"/>
                <a:cs typeface="Calibri" pitchFamily="34" charset="-120"/>
              </a:rPr>
              <a:t>El jugador lleva DOS colliders. Ese detalle da guerra tres láminas más adelante.</a:t>
            </a:r>
            <a:endParaRPr lang="en-US" sz="1300" dirty="0"/>
          </a:p>
        </p:txBody>
      </p:sp>
      <p:pic>
        <p:nvPicPr>
          <p:cNvPr id="16" name="Image 0" descr="/home/user/DungeonPuzzle/docs/Semana04/capturas/02_player_inspector.png">    </p:cNvPr>
          <p:cNvPicPr>
            <a:picLocks noChangeAspect="1"/>
          </p:cNvPicPr>
          <p:nvPr/>
        </p:nvPicPr>
        <p:blipFill>
          <a:blip r:embed="rId1"/>
          <a:stretch>
            <a:fillRect/>
          </a:stretch>
        </p:blipFill>
        <p:spPr>
          <a:xfrm>
            <a:off x="9144000" y="1463040"/>
            <a:ext cx="2377440" cy="4251960"/>
          </a:xfrm>
          <a:prstGeom prst="rect">
            <a:avLst/>
          </a:prstGeom>
        </p:spPr>
      </p:pic>
      <p:sp>
        <p:nvSpPr>
          <p:cNvPr id="17" name="Text 14"/>
          <p:cNvSpPr txBox="1"/>
          <p:nvPr/>
        </p:nvSpPr>
        <p:spPr>
          <a:xfrm>
            <a:off x="9144000" y="5779008"/>
            <a:ext cx="2377440" cy="228600"/>
          </a:xfrm>
          <a:prstGeom prst="rect">
            <a:avLst/>
          </a:prstGeom>
          <a:noFill/>
          <a:ln/>
        </p:spPr>
        <p:txBody>
          <a:bodyPr wrap="square" lIns="0" tIns="0" rIns="0" bIns="0" rtlCol="0" anchor="ctr"/>
          <a:lstStyle/>
          <a:p>
            <a:pPr indent="0" marL="0">
              <a:lnSpc>
                <a:spcPts val="1300"/>
              </a:lnSpc>
              <a:buNone/>
            </a:pPr>
            <a:r>
              <a:rPr lang="en-US" sz="950" dirty="0">
                <a:solidFill>
                  <a:srgbClr val="7A7787"/>
                </a:solidFill>
                <a:latin typeface="Courier New" pitchFamily="34" charset="0"/>
                <a:ea typeface="Courier New" pitchFamily="34" charset="-122"/>
                <a:cs typeface="Courier New" pitchFamily="34" charset="-120"/>
              </a:rPr>
              <a:t>Inspector del Player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9"/>
        </a:solidFill>
      </p:bgPr>
    </p:bg>
    <p:spTree>
      <p:nvGrpSpPr>
        <p:cNvPr id="1" name=""/>
        <p:cNvGrpSpPr/>
        <p:nvPr/>
      </p:nvGrpSpPr>
      <p:grpSpPr>
        <a:xfrm>
          <a:off x="0" y="0"/>
          <a:ext cx="0" cy="0"/>
          <a:chOff x="0" y="0"/>
          <a:chExt cx="0" cy="0"/>
        </a:xfrm>
      </p:grpSpPr>
      <p:sp>
        <p:nvSpPr>
          <p:cNvPr id="2" name="Text 0"/>
          <p:cNvSpPr txBox="1"/>
          <p:nvPr/>
        </p:nvSpPr>
        <p:spPr>
          <a:xfrm>
            <a:off x="548640" y="329184"/>
            <a:ext cx="11064240" cy="237744"/>
          </a:xfrm>
          <a:prstGeom prst="rect">
            <a:avLst/>
          </a:prstGeom>
          <a:noFill/>
          <a:ln/>
        </p:spPr>
        <p:txBody>
          <a:bodyPr wrap="square" lIns="0" tIns="0" rIns="0" bIns="0" rtlCol="0" anchor="ctr"/>
          <a:lstStyle/>
          <a:p>
            <a:pPr indent="0" marL="0">
              <a:buNone/>
            </a:pPr>
            <a:r>
              <a:rPr lang="en-US" sz="1100" spc="140" kern="0" dirty="0">
                <a:solidFill>
                  <a:srgbClr val="9A681F"/>
                </a:solidFill>
                <a:latin typeface="Courier New" pitchFamily="34" charset="0"/>
                <a:ea typeface="Courier New" pitchFamily="34" charset="-122"/>
                <a:cs typeface="Courier New" pitchFamily="34" charset="-120"/>
              </a:rPr>
              <a:t>02 · COLISIONES 2D</a:t>
            </a:r>
            <a:endParaRPr lang="en-US" sz="1100" dirty="0"/>
          </a:p>
        </p:txBody>
      </p:sp>
      <p:sp>
        <p:nvSpPr>
          <p:cNvPr id="3" name="Text 1"/>
          <p:cNvSpPr txBox="1"/>
          <p:nvPr/>
        </p:nvSpPr>
        <p:spPr>
          <a:xfrm>
            <a:off x="548640" y="585216"/>
            <a:ext cx="10515600" cy="658368"/>
          </a:xfrm>
          <a:prstGeom prst="rect">
            <a:avLst/>
          </a:prstGeom>
          <a:noFill/>
          <a:ln/>
        </p:spPr>
        <p:txBody>
          <a:bodyPr wrap="square" lIns="0" tIns="0" rIns="0" bIns="0" rtlCol="0" anchor="ctr"/>
          <a:lstStyle/>
          <a:p>
            <a:pPr indent="0" marL="0">
              <a:buNone/>
            </a:pPr>
            <a:r>
              <a:rPr lang="en-US" sz="3000" b="1" dirty="0">
                <a:solidFill>
                  <a:srgbClr val="23222A"/>
                </a:solidFill>
                <a:latin typeface="Calibri" pitchFamily="34" charset="0"/>
                <a:ea typeface="Calibri" pitchFamily="34" charset="-122"/>
                <a:cs typeface="Calibri" pitchFamily="34" charset="-120"/>
              </a:rPr>
              <a:t>Punto de partida: todo chocaba contra todo</a:t>
            </a:r>
            <a:endParaRPr lang="en-US" sz="3000" dirty="0"/>
          </a:p>
        </p:txBody>
      </p:sp>
      <p:sp>
        <p:nvSpPr>
          <p:cNvPr id="4" name="Text 2"/>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7A7787"/>
                </a:solidFill>
                <a:latin typeface="Courier New" pitchFamily="34" charset="0"/>
                <a:ea typeface="Courier New" pitchFamily="34" charset="-122"/>
                <a:cs typeface="Courier New" pitchFamily="34" charset="-120"/>
              </a:rPr>
              <a:t>4</a:t>
            </a:r>
            <a:endParaRPr lang="en-US" sz="1000" dirty="0"/>
          </a:p>
        </p:txBody>
      </p:sp>
      <p:sp>
        <p:nvSpPr>
          <p:cNvPr id="5" name="Text 3"/>
          <p:cNvSpPr txBox="1"/>
          <p:nvPr/>
        </p:nvSpPr>
        <p:spPr>
          <a:xfrm>
            <a:off x="548640" y="1371600"/>
            <a:ext cx="11064240" cy="320040"/>
          </a:xfrm>
          <a:prstGeom prst="rect">
            <a:avLst/>
          </a:prstGeom>
          <a:noFill/>
          <a:ln/>
        </p:spPr>
        <p:txBody>
          <a:bodyPr wrap="square" lIns="0" tIns="0" rIns="0" bIns="0" rtlCol="0" anchor="ctr"/>
          <a:lstStyle/>
          <a:p>
            <a:pPr indent="0" marL="0">
              <a:lnSpc>
                <a:spcPts val="2000"/>
              </a:lnSpc>
              <a:buNone/>
            </a:pPr>
            <a:r>
              <a:rPr lang="en-US" sz="1400" dirty="0">
                <a:solidFill>
                  <a:srgbClr val="4E4B59"/>
                </a:solidFill>
                <a:latin typeface="Calibri" pitchFamily="34" charset="0"/>
                <a:ea typeface="Calibri" pitchFamily="34" charset="-122"/>
                <a:cs typeface="Calibri" pitchFamily="34" charset="-120"/>
              </a:rPr>
              <a:t>La matriz de colisiones 2D estaba entera en ffff…ff. Seis fallos, cuatro visibles jugando.</a:t>
            </a:r>
            <a:endParaRPr lang="en-US" sz="1400" dirty="0"/>
          </a:p>
        </p:txBody>
      </p:sp>
      <p:sp>
        <p:nvSpPr>
          <p:cNvPr id="6" name="Shape 4"/>
          <p:cNvSpPr/>
          <p:nvPr/>
        </p:nvSpPr>
        <p:spPr>
          <a:xfrm>
            <a:off x="548640" y="1874520"/>
            <a:ext cx="3566160" cy="1371600"/>
          </a:xfrm>
          <a:prstGeom prst="roundRect">
            <a:avLst>
              <a:gd name="adj" fmla="val 4000"/>
            </a:avLst>
          </a:prstGeom>
          <a:solidFill>
            <a:srgbClr val="F8E7E5"/>
          </a:solidFill>
          <a:ln w="9525">
            <a:solidFill>
              <a:srgbClr val="B23A30"/>
            </a:solidFill>
            <a:prstDash val="solid"/>
          </a:ln>
        </p:spPr>
      </p:sp>
      <p:sp>
        <p:nvSpPr>
          <p:cNvPr id="7" name="Text 5"/>
          <p:cNvSpPr txBox="1"/>
          <p:nvPr/>
        </p:nvSpPr>
        <p:spPr>
          <a:xfrm>
            <a:off x="731520" y="2029968"/>
            <a:ext cx="3200400" cy="320040"/>
          </a:xfrm>
          <a:prstGeom prst="rect">
            <a:avLst/>
          </a:prstGeom>
          <a:noFill/>
          <a:ln/>
        </p:spPr>
        <p:txBody>
          <a:bodyPr wrap="square" lIns="0" tIns="0" rIns="0" bIns="0" rtlCol="0" anchor="ctr"/>
          <a:lstStyle/>
          <a:p>
            <a:pPr indent="0" marL="0">
              <a:buNone/>
            </a:pPr>
            <a:r>
              <a:rPr lang="en-US" sz="1350" b="1" dirty="0">
                <a:solidFill>
                  <a:srgbClr val="B23A30"/>
                </a:solidFill>
                <a:latin typeface="Calibri" pitchFamily="34" charset="0"/>
                <a:ea typeface="Calibri" pitchFamily="34" charset="-122"/>
                <a:cs typeface="Calibri" pitchFamily="34" charset="-120"/>
              </a:rPr>
              <a:t>La piedra empujaba al héroe</a:t>
            </a:r>
            <a:endParaRPr lang="en-US" sz="1350" dirty="0"/>
          </a:p>
        </p:txBody>
      </p:sp>
      <p:sp>
        <p:nvSpPr>
          <p:cNvPr id="8" name="Text 6"/>
          <p:cNvSpPr txBox="1"/>
          <p:nvPr/>
        </p:nvSpPr>
        <p:spPr>
          <a:xfrm>
            <a:off x="731520" y="2377440"/>
            <a:ext cx="3200400" cy="731520"/>
          </a:xfrm>
          <a:prstGeom prst="rect">
            <a:avLst/>
          </a:prstGeom>
          <a:noFill/>
          <a:ln/>
        </p:spPr>
        <p:txBody>
          <a:bodyPr wrap="square" lIns="0" tIns="0" rIns="0" bIns="0" rtlCol="0" anchor="ctr"/>
          <a:lstStyle/>
          <a:p>
            <a:pPr indent="0" marL="0">
              <a:lnSpc>
                <a:spcPts val="1500"/>
              </a:lnSpc>
              <a:buNone/>
            </a:pPr>
            <a:r>
              <a:rPr lang="en-US" sz="1150" dirty="0">
                <a:solidFill>
                  <a:srgbClr val="4E4B59"/>
                </a:solidFill>
                <a:latin typeface="Calibri" pitchFamily="34" charset="0"/>
                <a:ea typeface="Calibri" pitchFamily="34" charset="-122"/>
                <a:cs typeface="Calibri" pitchFamily="34" charset="-120"/>
              </a:rPr>
              <a:t>Nacía en su posición exacta y en capa Default</a:t>
            </a:r>
            <a:endParaRPr lang="en-US" sz="1150" dirty="0"/>
          </a:p>
        </p:txBody>
      </p:sp>
      <p:sp>
        <p:nvSpPr>
          <p:cNvPr id="9" name="Shape 7"/>
          <p:cNvSpPr/>
          <p:nvPr/>
        </p:nvSpPr>
        <p:spPr>
          <a:xfrm>
            <a:off x="4343400" y="1874520"/>
            <a:ext cx="3566160" cy="1371600"/>
          </a:xfrm>
          <a:prstGeom prst="roundRect">
            <a:avLst>
              <a:gd name="adj" fmla="val 4000"/>
            </a:avLst>
          </a:prstGeom>
          <a:solidFill>
            <a:srgbClr val="F8E7E5"/>
          </a:solidFill>
          <a:ln w="9525">
            <a:solidFill>
              <a:srgbClr val="B23A30"/>
            </a:solidFill>
            <a:prstDash val="solid"/>
          </a:ln>
        </p:spPr>
      </p:sp>
      <p:sp>
        <p:nvSpPr>
          <p:cNvPr id="10" name="Text 8"/>
          <p:cNvSpPr txBox="1"/>
          <p:nvPr/>
        </p:nvSpPr>
        <p:spPr>
          <a:xfrm>
            <a:off x="4526280" y="2029968"/>
            <a:ext cx="3200400" cy="320040"/>
          </a:xfrm>
          <a:prstGeom prst="rect">
            <a:avLst/>
          </a:prstGeom>
          <a:noFill/>
          <a:ln/>
        </p:spPr>
        <p:txBody>
          <a:bodyPr wrap="square" lIns="0" tIns="0" rIns="0" bIns="0" rtlCol="0" anchor="ctr"/>
          <a:lstStyle/>
          <a:p>
            <a:pPr indent="0" marL="0">
              <a:buNone/>
            </a:pPr>
            <a:r>
              <a:rPr lang="en-US" sz="1350" b="1" dirty="0">
                <a:solidFill>
                  <a:srgbClr val="B23A30"/>
                </a:solidFill>
                <a:latin typeface="Calibri" pitchFamily="34" charset="0"/>
                <a:ea typeface="Calibri" pitchFamily="34" charset="-122"/>
                <a:cs typeface="Calibri" pitchFamily="34" charset="-120"/>
              </a:rPr>
              <a:t>Atravesaba muros finos</a:t>
            </a:r>
            <a:endParaRPr lang="en-US" sz="1350" dirty="0"/>
          </a:p>
        </p:txBody>
      </p:sp>
      <p:sp>
        <p:nvSpPr>
          <p:cNvPr id="11" name="Text 9"/>
          <p:cNvSpPr txBox="1"/>
          <p:nvPr/>
        </p:nvSpPr>
        <p:spPr>
          <a:xfrm>
            <a:off x="4526280" y="2377440"/>
            <a:ext cx="3200400" cy="731520"/>
          </a:xfrm>
          <a:prstGeom prst="rect">
            <a:avLst/>
          </a:prstGeom>
          <a:noFill/>
          <a:ln/>
        </p:spPr>
        <p:txBody>
          <a:bodyPr wrap="square" lIns="0" tIns="0" rIns="0" bIns="0" rtlCol="0" anchor="ctr"/>
          <a:lstStyle/>
          <a:p>
            <a:pPr indent="0" marL="0">
              <a:lnSpc>
                <a:spcPts val="1500"/>
              </a:lnSpc>
              <a:buNone/>
            </a:pPr>
            <a:r>
              <a:rPr lang="en-US" sz="1150" dirty="0">
                <a:solidFill>
                  <a:srgbClr val="4E4B59"/>
                </a:solidFill>
                <a:latin typeface="Calibri" pitchFamily="34" charset="0"/>
                <a:ea typeface="Calibri" pitchFamily="34" charset="-122"/>
                <a:cs typeface="Calibri" pitchFamily="34" charset="-120"/>
              </a:rPr>
              <a:t>r = 0.1 a 8 u/s con detección discreta</a:t>
            </a:r>
            <a:endParaRPr lang="en-US" sz="1150" dirty="0"/>
          </a:p>
        </p:txBody>
      </p:sp>
      <p:sp>
        <p:nvSpPr>
          <p:cNvPr id="12" name="Shape 10"/>
          <p:cNvSpPr/>
          <p:nvPr/>
        </p:nvSpPr>
        <p:spPr>
          <a:xfrm>
            <a:off x="8138160" y="1874520"/>
            <a:ext cx="3566160" cy="1371600"/>
          </a:xfrm>
          <a:prstGeom prst="roundRect">
            <a:avLst>
              <a:gd name="adj" fmla="val 4000"/>
            </a:avLst>
          </a:prstGeom>
          <a:solidFill>
            <a:srgbClr val="F8E7E5"/>
          </a:solidFill>
          <a:ln w="9525">
            <a:solidFill>
              <a:srgbClr val="B23A30"/>
            </a:solidFill>
            <a:prstDash val="solid"/>
          </a:ln>
        </p:spPr>
      </p:sp>
      <p:sp>
        <p:nvSpPr>
          <p:cNvPr id="13" name="Text 11"/>
          <p:cNvSpPr txBox="1"/>
          <p:nvPr/>
        </p:nvSpPr>
        <p:spPr>
          <a:xfrm>
            <a:off x="8321040" y="2029968"/>
            <a:ext cx="3200400" cy="320040"/>
          </a:xfrm>
          <a:prstGeom prst="rect">
            <a:avLst/>
          </a:prstGeom>
          <a:noFill/>
          <a:ln/>
        </p:spPr>
        <p:txBody>
          <a:bodyPr wrap="square" lIns="0" tIns="0" rIns="0" bIns="0" rtlCol="0" anchor="ctr"/>
          <a:lstStyle/>
          <a:p>
            <a:pPr indent="0" marL="0">
              <a:buNone/>
            </a:pPr>
            <a:r>
              <a:rPr lang="en-US" sz="1350" b="1" dirty="0">
                <a:solidFill>
                  <a:srgbClr val="B23A30"/>
                </a:solidFill>
                <a:latin typeface="Calibri" pitchFamily="34" charset="0"/>
                <a:ea typeface="Calibri" pitchFamily="34" charset="-122"/>
                <a:cs typeface="Calibri" pitchFamily="34" charset="-120"/>
              </a:rPr>
              <a:t>El héroe se enganchaba</a:t>
            </a:r>
            <a:endParaRPr lang="en-US" sz="1350" dirty="0"/>
          </a:p>
        </p:txBody>
      </p:sp>
      <p:sp>
        <p:nvSpPr>
          <p:cNvPr id="14" name="Text 12"/>
          <p:cNvSpPr txBox="1"/>
          <p:nvPr/>
        </p:nvSpPr>
        <p:spPr>
          <a:xfrm>
            <a:off x="8321040" y="2377440"/>
            <a:ext cx="3200400" cy="731520"/>
          </a:xfrm>
          <a:prstGeom prst="rect">
            <a:avLst/>
          </a:prstGeom>
          <a:noFill/>
          <a:ln/>
        </p:spPr>
        <p:txBody>
          <a:bodyPr wrap="square" lIns="0" tIns="0" rIns="0" bIns="0" rtlCol="0" anchor="ctr"/>
          <a:lstStyle/>
          <a:p>
            <a:pPr indent="0" marL="0">
              <a:lnSpc>
                <a:spcPts val="1500"/>
              </a:lnSpc>
              <a:buNone/>
            </a:pPr>
            <a:r>
              <a:rPr lang="en-US" sz="1150" dirty="0">
                <a:solidFill>
                  <a:srgbClr val="4E4B59"/>
                </a:solidFill>
                <a:latin typeface="Calibri" pitchFamily="34" charset="0"/>
                <a:ea typeface="Calibri" pitchFamily="34" charset="-122"/>
                <a:cs typeface="Calibri" pitchFamily="34" charset="-120"/>
              </a:rPr>
              <a:t>MovePosition teletransporta; el solver corrige después del solape</a:t>
            </a:r>
            <a:endParaRPr lang="en-US" sz="1150" dirty="0"/>
          </a:p>
        </p:txBody>
      </p:sp>
      <p:sp>
        <p:nvSpPr>
          <p:cNvPr id="15" name="Shape 13"/>
          <p:cNvSpPr/>
          <p:nvPr/>
        </p:nvSpPr>
        <p:spPr>
          <a:xfrm>
            <a:off x="548640" y="3447288"/>
            <a:ext cx="3566160" cy="1371600"/>
          </a:xfrm>
          <a:prstGeom prst="roundRect">
            <a:avLst>
              <a:gd name="adj" fmla="val 4000"/>
            </a:avLst>
          </a:prstGeom>
          <a:solidFill>
            <a:srgbClr val="F8E7E5"/>
          </a:solidFill>
          <a:ln w="9525">
            <a:solidFill>
              <a:srgbClr val="B23A30"/>
            </a:solidFill>
            <a:prstDash val="solid"/>
          </a:ln>
        </p:spPr>
      </p:sp>
      <p:sp>
        <p:nvSpPr>
          <p:cNvPr id="16" name="Text 14"/>
          <p:cNvSpPr txBox="1"/>
          <p:nvPr/>
        </p:nvSpPr>
        <p:spPr>
          <a:xfrm>
            <a:off x="731520" y="3602736"/>
            <a:ext cx="3200400" cy="320040"/>
          </a:xfrm>
          <a:prstGeom prst="rect">
            <a:avLst/>
          </a:prstGeom>
          <a:noFill/>
          <a:ln/>
        </p:spPr>
        <p:txBody>
          <a:bodyPr wrap="square" lIns="0" tIns="0" rIns="0" bIns="0" rtlCol="0" anchor="ctr"/>
          <a:lstStyle/>
          <a:p>
            <a:pPr indent="0" marL="0">
              <a:buNone/>
            </a:pPr>
            <a:r>
              <a:rPr lang="en-US" sz="1350" b="1" dirty="0">
                <a:solidFill>
                  <a:srgbClr val="B23A30"/>
                </a:solidFill>
                <a:latin typeface="Calibri" pitchFamily="34" charset="0"/>
                <a:ea typeface="Calibri" pitchFamily="34" charset="-122"/>
                <a:cs typeface="Calibri" pitchFamily="34" charset="-120"/>
              </a:rPr>
              <a:t>Punto ciego a la espalda</a:t>
            </a:r>
            <a:endParaRPr lang="en-US" sz="1350" dirty="0"/>
          </a:p>
        </p:txBody>
      </p:sp>
      <p:sp>
        <p:nvSpPr>
          <p:cNvPr id="17" name="Text 15"/>
          <p:cNvSpPr txBox="1"/>
          <p:nvPr/>
        </p:nvSpPr>
        <p:spPr>
          <a:xfrm>
            <a:off x="731520" y="3950208"/>
            <a:ext cx="3200400" cy="731520"/>
          </a:xfrm>
          <a:prstGeom prst="rect">
            <a:avLst/>
          </a:prstGeom>
          <a:noFill/>
          <a:ln/>
        </p:spPr>
        <p:txBody>
          <a:bodyPr wrap="square" lIns="0" tIns="0" rIns="0" bIns="0" rtlCol="0" anchor="ctr"/>
          <a:lstStyle/>
          <a:p>
            <a:pPr indent="0" marL="0">
              <a:lnSpc>
                <a:spcPts val="1500"/>
              </a:lnSpc>
              <a:buNone/>
            </a:pPr>
            <a:r>
              <a:rPr lang="en-US" sz="1150" dirty="0">
                <a:solidFill>
                  <a:srgbClr val="4E4B59"/>
                </a:solidFill>
                <a:latin typeface="Calibri" pitchFamily="34" charset="0"/>
                <a:ea typeface="Calibri" pitchFamily="34" charset="-122"/>
                <a:cs typeface="Calibri" pitchFamily="34" charset="-120"/>
              </a:rPr>
              <a:t>El cono no llega detrás y el contacto no se comprobaba</a:t>
            </a:r>
            <a:endParaRPr lang="en-US" sz="1150" dirty="0"/>
          </a:p>
        </p:txBody>
      </p:sp>
      <p:sp>
        <p:nvSpPr>
          <p:cNvPr id="18" name="Shape 16"/>
          <p:cNvSpPr/>
          <p:nvPr/>
        </p:nvSpPr>
        <p:spPr>
          <a:xfrm>
            <a:off x="4343400" y="3447288"/>
            <a:ext cx="3566160" cy="1371600"/>
          </a:xfrm>
          <a:prstGeom prst="roundRect">
            <a:avLst>
              <a:gd name="adj" fmla="val 4000"/>
            </a:avLst>
          </a:prstGeom>
          <a:solidFill>
            <a:srgbClr val="F6EEDE"/>
          </a:solidFill>
          <a:ln w="9525">
            <a:solidFill>
              <a:srgbClr val="E7A93F"/>
            </a:solidFill>
            <a:prstDash val="solid"/>
          </a:ln>
        </p:spPr>
      </p:sp>
      <p:sp>
        <p:nvSpPr>
          <p:cNvPr id="19" name="Text 17"/>
          <p:cNvSpPr txBox="1"/>
          <p:nvPr/>
        </p:nvSpPr>
        <p:spPr>
          <a:xfrm>
            <a:off x="4526280" y="3602736"/>
            <a:ext cx="3200400" cy="320040"/>
          </a:xfrm>
          <a:prstGeom prst="rect">
            <a:avLst/>
          </a:prstGeom>
          <a:noFill/>
          <a:ln/>
        </p:spPr>
        <p:txBody>
          <a:bodyPr wrap="square" lIns="0" tIns="0" rIns="0" bIns="0" rtlCol="0" anchor="ctr"/>
          <a:lstStyle/>
          <a:p>
            <a:pPr indent="0" marL="0">
              <a:buNone/>
            </a:pPr>
            <a:r>
              <a:rPr lang="en-US" sz="1350" b="1" dirty="0">
                <a:solidFill>
                  <a:srgbClr val="9A681F"/>
                </a:solidFill>
                <a:latin typeface="Calibri" pitchFamily="34" charset="0"/>
                <a:ea typeface="Calibri" pitchFamily="34" charset="-122"/>
                <a:cs typeface="Calibri" pitchFamily="34" charset="-120"/>
              </a:rPr>
              <a:t>Gravedad −9.81</a:t>
            </a:r>
            <a:endParaRPr lang="en-US" sz="1350" dirty="0"/>
          </a:p>
        </p:txBody>
      </p:sp>
      <p:sp>
        <p:nvSpPr>
          <p:cNvPr id="20" name="Text 18"/>
          <p:cNvSpPr txBox="1"/>
          <p:nvPr/>
        </p:nvSpPr>
        <p:spPr>
          <a:xfrm>
            <a:off x="4526280" y="3950208"/>
            <a:ext cx="3200400" cy="731520"/>
          </a:xfrm>
          <a:prstGeom prst="rect">
            <a:avLst/>
          </a:prstGeom>
          <a:noFill/>
          <a:ln/>
        </p:spPr>
        <p:txBody>
          <a:bodyPr wrap="square" lIns="0" tIns="0" rIns="0" bIns="0" rtlCol="0" anchor="ctr"/>
          <a:lstStyle/>
          <a:p>
            <a:pPr indent="0" marL="0">
              <a:lnSpc>
                <a:spcPts val="1500"/>
              </a:lnSpc>
              <a:buNone/>
            </a:pPr>
            <a:r>
              <a:rPr lang="en-US" sz="1150" dirty="0">
                <a:solidFill>
                  <a:srgbClr val="4E4B59"/>
                </a:solidFill>
                <a:latin typeface="Calibri" pitchFamily="34" charset="0"/>
                <a:ea typeface="Calibri" pitchFamily="34" charset="-122"/>
                <a:cs typeface="Calibri" pitchFamily="34" charset="-120"/>
              </a:rPr>
              <a:t>En un juego cenital, confiando en gravityScale = 0 prefab por prefab</a:t>
            </a:r>
            <a:endParaRPr lang="en-US" sz="1150" dirty="0"/>
          </a:p>
        </p:txBody>
      </p:sp>
      <p:sp>
        <p:nvSpPr>
          <p:cNvPr id="21" name="Shape 19"/>
          <p:cNvSpPr/>
          <p:nvPr/>
        </p:nvSpPr>
        <p:spPr>
          <a:xfrm>
            <a:off x="8138160" y="3447288"/>
            <a:ext cx="3566160" cy="1371600"/>
          </a:xfrm>
          <a:prstGeom prst="roundRect">
            <a:avLst>
              <a:gd name="adj" fmla="val 4000"/>
            </a:avLst>
          </a:prstGeom>
          <a:solidFill>
            <a:srgbClr val="F6EEDE"/>
          </a:solidFill>
          <a:ln w="9525">
            <a:solidFill>
              <a:srgbClr val="E7A93F"/>
            </a:solidFill>
            <a:prstDash val="solid"/>
          </a:ln>
        </p:spPr>
      </p:sp>
      <p:sp>
        <p:nvSpPr>
          <p:cNvPr id="22" name="Text 20"/>
          <p:cNvSpPr txBox="1"/>
          <p:nvPr/>
        </p:nvSpPr>
        <p:spPr>
          <a:xfrm>
            <a:off x="8321040" y="3602736"/>
            <a:ext cx="3200400" cy="320040"/>
          </a:xfrm>
          <a:prstGeom prst="rect">
            <a:avLst/>
          </a:prstGeom>
          <a:noFill/>
          <a:ln/>
        </p:spPr>
        <p:txBody>
          <a:bodyPr wrap="square" lIns="0" tIns="0" rIns="0" bIns="0" rtlCol="0" anchor="ctr"/>
          <a:lstStyle/>
          <a:p>
            <a:pPr indent="0" marL="0">
              <a:buNone/>
            </a:pPr>
            <a:r>
              <a:rPr lang="en-US" sz="1350" b="1" dirty="0">
                <a:solidFill>
                  <a:srgbClr val="9A681F"/>
                </a:solidFill>
                <a:latin typeface="Calibri" pitchFamily="34" charset="0"/>
                <a:ea typeface="Calibri" pitchFamily="34" charset="-122"/>
                <a:cs typeface="Calibri" pitchFamily="34" charset="-120"/>
              </a:rPr>
              <a:t>Máscaras vacías</a:t>
            </a:r>
            <a:endParaRPr lang="en-US" sz="1350" dirty="0"/>
          </a:p>
        </p:txBody>
      </p:sp>
      <p:sp>
        <p:nvSpPr>
          <p:cNvPr id="23" name="Text 21"/>
          <p:cNvSpPr txBox="1"/>
          <p:nvPr/>
        </p:nvSpPr>
        <p:spPr>
          <a:xfrm>
            <a:off x="8321040" y="3950208"/>
            <a:ext cx="3200400" cy="731520"/>
          </a:xfrm>
          <a:prstGeom prst="rect">
            <a:avLst/>
          </a:prstGeom>
          <a:noFill/>
          <a:ln/>
        </p:spPr>
        <p:txBody>
          <a:bodyPr wrap="square" lIns="0" tIns="0" rIns="0" bIns="0" rtlCol="0" anchor="ctr"/>
          <a:lstStyle/>
          <a:p>
            <a:pPr indent="0" marL="0">
              <a:lnSpc>
                <a:spcPts val="1500"/>
              </a:lnSpc>
              <a:buNone/>
            </a:pPr>
            <a:r>
              <a:rPr lang="en-US" sz="1150" dirty="0">
                <a:solidFill>
                  <a:srgbClr val="4E4B59"/>
                </a:solidFill>
                <a:latin typeface="Calibri" pitchFamily="34" charset="0"/>
                <a:ea typeface="Calibri" pitchFamily="34" charset="-122"/>
                <a:cs typeface="Calibri" pitchFamily="34" charset="-120"/>
              </a:rPr>
              <a:t>Un LayerMask sin marcar rompía la detección en silencio</a:t>
            </a:r>
            <a:endParaRPr lang="en-US" sz="1150" dirty="0"/>
          </a:p>
        </p:txBody>
      </p:sp>
      <p:sp>
        <p:nvSpPr>
          <p:cNvPr id="24" name="Shape 22"/>
          <p:cNvSpPr/>
          <p:nvPr/>
        </p:nvSpPr>
        <p:spPr>
          <a:xfrm>
            <a:off x="548640" y="5074920"/>
            <a:ext cx="11064240" cy="685800"/>
          </a:xfrm>
          <a:prstGeom prst="roundRect">
            <a:avLst>
              <a:gd name="adj" fmla="val 8000"/>
            </a:avLst>
          </a:prstGeom>
          <a:solidFill>
            <a:srgbClr val="FFFFFF"/>
          </a:solidFill>
          <a:ln w="9525">
            <a:solidFill>
              <a:srgbClr val="D9D6E1"/>
            </a:solidFill>
            <a:prstDash val="solid"/>
          </a:ln>
        </p:spPr>
      </p:sp>
      <p:sp>
        <p:nvSpPr>
          <p:cNvPr id="25" name="Text 23"/>
          <p:cNvSpPr txBox="1"/>
          <p:nvPr/>
        </p:nvSpPr>
        <p:spPr>
          <a:xfrm>
            <a:off x="777240" y="5285232"/>
            <a:ext cx="10607040" cy="320040"/>
          </a:xfrm>
          <a:prstGeom prst="rect">
            <a:avLst/>
          </a:prstGeom>
          <a:noFill/>
          <a:ln/>
        </p:spPr>
        <p:txBody>
          <a:bodyPr wrap="square" lIns="0" tIns="0" rIns="0" bIns="0" rtlCol="0" anchor="ctr"/>
          <a:lstStyle/>
          <a:p>
            <a:pPr indent="0" marL="0">
              <a:lnSpc>
                <a:spcPts val="2000"/>
              </a:lnSpc>
              <a:buNone/>
            </a:pPr>
            <a:r>
              <a:rPr lang="en-US" sz="1350" b="1" dirty="0">
                <a:solidFill>
                  <a:srgbClr val="23222A"/>
                </a:solidFill>
                <a:latin typeface="Calibri" pitchFamily="34" charset="0"/>
                <a:ea typeface="Calibri" pitchFamily="34" charset="-122"/>
                <a:cs typeface="Calibri" pitchFamily="34" charset="-120"/>
              </a:rPr>
              <a:t>Los dos últimos son los peores, porque no dan error. Simplemente dejan de detectar.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9"/>
        </a:solidFill>
      </p:bgPr>
    </p:bg>
    <p:spTree>
      <p:nvGrpSpPr>
        <p:cNvPr id="1" name=""/>
        <p:cNvGrpSpPr/>
        <p:nvPr/>
      </p:nvGrpSpPr>
      <p:grpSpPr>
        <a:xfrm>
          <a:off x="0" y="0"/>
          <a:ext cx="0" cy="0"/>
          <a:chOff x="0" y="0"/>
          <a:chExt cx="0" cy="0"/>
        </a:xfrm>
      </p:grpSpPr>
      <p:sp>
        <p:nvSpPr>
          <p:cNvPr id="2" name="Text 0"/>
          <p:cNvSpPr txBox="1"/>
          <p:nvPr/>
        </p:nvSpPr>
        <p:spPr>
          <a:xfrm>
            <a:off x="548640" y="329184"/>
            <a:ext cx="11064240" cy="237744"/>
          </a:xfrm>
          <a:prstGeom prst="rect">
            <a:avLst/>
          </a:prstGeom>
          <a:noFill/>
          <a:ln/>
        </p:spPr>
        <p:txBody>
          <a:bodyPr wrap="square" lIns="0" tIns="0" rIns="0" bIns="0" rtlCol="0" anchor="ctr"/>
          <a:lstStyle/>
          <a:p>
            <a:pPr indent="0" marL="0">
              <a:buNone/>
            </a:pPr>
            <a:r>
              <a:rPr lang="en-US" sz="1100" spc="140" kern="0" dirty="0">
                <a:solidFill>
                  <a:srgbClr val="9A681F"/>
                </a:solidFill>
                <a:latin typeface="Courier New" pitchFamily="34" charset="0"/>
                <a:ea typeface="Courier New" pitchFamily="34" charset="-122"/>
                <a:cs typeface="Courier New" pitchFamily="34" charset="-120"/>
              </a:rPr>
              <a:t>02 · COLISIONES 2D</a:t>
            </a:r>
            <a:endParaRPr lang="en-US" sz="1100" dirty="0"/>
          </a:p>
        </p:txBody>
      </p:sp>
      <p:sp>
        <p:nvSpPr>
          <p:cNvPr id="3" name="Text 1"/>
          <p:cNvSpPr txBox="1"/>
          <p:nvPr/>
        </p:nvSpPr>
        <p:spPr>
          <a:xfrm>
            <a:off x="548640" y="585216"/>
            <a:ext cx="10515600" cy="658368"/>
          </a:xfrm>
          <a:prstGeom prst="rect">
            <a:avLst/>
          </a:prstGeom>
          <a:noFill/>
          <a:ln/>
        </p:spPr>
        <p:txBody>
          <a:bodyPr wrap="square" lIns="0" tIns="0" rIns="0" bIns="0" rtlCol="0" anchor="ctr"/>
          <a:lstStyle/>
          <a:p>
            <a:pPr indent="0" marL="0">
              <a:buNone/>
            </a:pPr>
            <a:r>
              <a:rPr lang="en-US" sz="3000" b="1" dirty="0">
                <a:solidFill>
                  <a:srgbClr val="23222A"/>
                </a:solidFill>
                <a:latin typeface="Calibri" pitchFamily="34" charset="0"/>
                <a:ea typeface="Calibri" pitchFamily="34" charset="-122"/>
                <a:cs typeface="Calibri" pitchFamily="34" charset="-120"/>
              </a:rPr>
              <a:t>La matriz, recortada a lo que el juego necesita</a:t>
            </a:r>
            <a:endParaRPr lang="en-US" sz="3000" dirty="0"/>
          </a:p>
        </p:txBody>
      </p:sp>
      <p:sp>
        <p:nvSpPr>
          <p:cNvPr id="4" name="Text 2"/>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7A7787"/>
                </a:solidFill>
                <a:latin typeface="Courier New" pitchFamily="34" charset="0"/>
                <a:ea typeface="Courier New" pitchFamily="34" charset="-122"/>
                <a:cs typeface="Courier New"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1325880"/>
                <a:gridCol w="804672"/>
                <a:gridCol w="804672"/>
                <a:gridCol w="804672"/>
                <a:gridCol w="804672"/>
                <a:gridCol w="896112"/>
                <a:gridCol w="868680"/>
                <a:gridCol w="804672"/>
              </a:tblGrid>
              <a:tr h="274320">
                <a:tc>
                  <a:txBody>
                    <a:bodyPr/>
                    <a:lstStyle/>
                    <a:p>
                      <a:pPr algn="ctr" indent="0" marL="0">
                        <a:buNone/>
                      </a:pP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b="1" dirty="0">
                          <a:solidFill>
                            <a:srgbClr val="23222A"/>
                          </a:solidFill>
                          <a:latin typeface="Courier New" pitchFamily="34" charset="0"/>
                          <a:ea typeface="Courier New" pitchFamily="34" charset="-122"/>
                          <a:cs typeface="Courier New" pitchFamily="34" charset="-120"/>
                        </a:rPr>
                        <a:t>Player</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b="1" dirty="0">
                          <a:solidFill>
                            <a:srgbClr val="23222A"/>
                          </a:solidFill>
                          <a:latin typeface="Courier New" pitchFamily="34" charset="0"/>
                          <a:ea typeface="Courier New" pitchFamily="34" charset="-122"/>
                          <a:cs typeface="Courier New" pitchFamily="34" charset="-120"/>
                        </a:rPr>
                        <a:t>Guard</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b="1" dirty="0">
                          <a:solidFill>
                            <a:srgbClr val="23222A"/>
                          </a:solidFill>
                          <a:latin typeface="Courier New" pitchFamily="34" charset="0"/>
                          <a:ea typeface="Courier New" pitchFamily="34" charset="-122"/>
                          <a:cs typeface="Courier New" pitchFamily="34" charset="-120"/>
                        </a:rPr>
                        <a:t>Walls</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b="1" dirty="0">
                          <a:solidFill>
                            <a:srgbClr val="23222A"/>
                          </a:solidFill>
                          <a:latin typeface="Courier New" pitchFamily="34" charset="0"/>
                          <a:ea typeface="Courier New" pitchFamily="34" charset="-122"/>
                          <a:cs typeface="Courier New" pitchFamily="34" charset="-120"/>
                        </a:rPr>
                        <a:t>Items</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b="1" dirty="0">
                          <a:solidFill>
                            <a:srgbClr val="23222A"/>
                          </a:solidFill>
                          <a:latin typeface="Courier New" pitchFamily="34" charset="0"/>
                          <a:ea typeface="Courier New" pitchFamily="34" charset="-122"/>
                          <a:cs typeface="Courier New" pitchFamily="34" charset="-120"/>
                        </a:rPr>
                        <a:t>Interact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b="1" dirty="0">
                          <a:solidFill>
                            <a:srgbClr val="23222A"/>
                          </a:solidFill>
                          <a:latin typeface="Courier New" pitchFamily="34" charset="0"/>
                          <a:ea typeface="Courier New" pitchFamily="34" charset="-122"/>
                          <a:cs typeface="Courier New" pitchFamily="34" charset="-120"/>
                        </a:rPr>
                        <a:t>Projectile</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b="1" dirty="0">
                          <a:solidFill>
                            <a:srgbClr val="23222A"/>
                          </a:solidFill>
                          <a:latin typeface="Courier New" pitchFamily="34" charset="0"/>
                          <a:ea typeface="Courier New" pitchFamily="34" charset="-122"/>
                          <a:cs typeface="Courier New" pitchFamily="34" charset="-120"/>
                        </a:rPr>
                        <a:t>Hazard</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r>
              <a:tr h="274320">
                <a:tc>
                  <a:txBody>
                    <a:bodyPr/>
                    <a:lstStyle/>
                    <a:p>
                      <a:pPr algn="l" indent="0" marL="0">
                        <a:buNone/>
                      </a:pPr>
                      <a:r>
                        <a:rPr lang="en-US" sz="1050" b="1" dirty="0">
                          <a:solidFill>
                            <a:srgbClr val="4E4B59"/>
                          </a:solidFill>
                          <a:latin typeface="Courier New" pitchFamily="34" charset="0"/>
                          <a:ea typeface="Courier New" pitchFamily="34" charset="-122"/>
                          <a:cs typeface="Courier New" pitchFamily="34" charset="-120"/>
                        </a:rPr>
                        <a:t>Player</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23A30"/>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6EEDE"/>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4E4B59"/>
                          </a:solidFill>
                          <a:latin typeface="Courier New" pitchFamily="34" charset="0"/>
                          <a:ea typeface="Courier New" pitchFamily="34" charset="-122"/>
                          <a:cs typeface="Courier New" pitchFamily="34" charset="-120"/>
                        </a:rPr>
                        <a:t>Guard</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23A30"/>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6EEDE"/>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4E4B59"/>
                          </a:solidFill>
                          <a:latin typeface="Courier New" pitchFamily="34" charset="0"/>
                          <a:ea typeface="Courier New" pitchFamily="34" charset="-122"/>
                          <a:cs typeface="Courier New" pitchFamily="34" charset="-120"/>
                        </a:rPr>
                        <a:t>Walls</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6EEDE"/>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4E4B59"/>
                          </a:solidFill>
                          <a:latin typeface="Courier New" pitchFamily="34" charset="0"/>
                          <a:ea typeface="Courier New" pitchFamily="34" charset="-122"/>
                          <a:cs typeface="Courier New" pitchFamily="34" charset="-120"/>
                        </a:rPr>
                        <a:t>Items</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4E4B59"/>
                          </a:solidFill>
                          <a:latin typeface="Courier New" pitchFamily="34" charset="0"/>
                          <a:ea typeface="Courier New" pitchFamily="34" charset="-122"/>
                          <a:cs typeface="Courier New" pitchFamily="34" charset="-120"/>
                        </a:rPr>
                        <a:t>Interactable</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6EEDE"/>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4E4B59"/>
                          </a:solidFill>
                          <a:latin typeface="Courier New" pitchFamily="34" charset="0"/>
                          <a:ea typeface="Courier New" pitchFamily="34" charset="-122"/>
                          <a:cs typeface="Courier New" pitchFamily="34" charset="-120"/>
                        </a:rPr>
                        <a:t>Projectile</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b="1" dirty="0">
                          <a:solidFill>
                            <a:srgbClr val="B23A30"/>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6EEDE"/>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6EEDE"/>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274320">
                <a:tc>
                  <a:txBody>
                    <a:bodyPr/>
                    <a:lstStyle/>
                    <a:p>
                      <a:pPr algn="l" indent="0" marL="0">
                        <a:buNone/>
                      </a:pPr>
                      <a:r>
                        <a:rPr lang="en-US" sz="1050" b="1" dirty="0">
                          <a:solidFill>
                            <a:srgbClr val="4E4B59"/>
                          </a:solidFill>
                          <a:latin typeface="Courier New" pitchFamily="34" charset="0"/>
                          <a:ea typeface="Courier New" pitchFamily="34" charset="-122"/>
                          <a:cs typeface="Courier New" pitchFamily="34" charset="-120"/>
                        </a:rPr>
                        <a:t>Hazard</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EFEDF3"/>
                    </a:solidFill>
                  </a:tcPr>
                </a:tc>
                <a:tc>
                  <a:txBody>
                    <a:bodyPr/>
                    <a:lstStyle/>
                    <a:p>
                      <a:pPr algn="ctr" indent="0" marL="0">
                        <a:buNone/>
                      </a:pPr>
                      <a:r>
                        <a:rPr lang="en-US" sz="1050" dirty="0">
                          <a:solidFill>
                            <a:srgbClr val="2F7F4C"/>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7A7787"/>
                          </a:solidFill>
                          <a:latin typeface="Courier New" pitchFamily="34" charset="0"/>
                          <a:ea typeface="Courier New" pitchFamily="34" charset="-122"/>
                          <a:cs typeface="Courier New" pitchFamily="34" charset="-120"/>
                        </a:rPr>
                        <a:t>✘</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3794760"/>
            <a:ext cx="6949440" cy="274320"/>
          </a:xfrm>
          <a:prstGeom prst="rect">
            <a:avLst/>
          </a:prstGeom>
          <a:noFill/>
          <a:ln/>
        </p:spPr>
        <p:txBody>
          <a:bodyPr wrap="square" lIns="0" tIns="0" rIns="0" bIns="0" rtlCol="0" anchor="ctr"/>
          <a:lstStyle/>
          <a:p>
            <a:pPr indent="0" marL="0">
              <a:lnSpc>
                <a:spcPts val="2000"/>
              </a:lnSpc>
              <a:buNone/>
            </a:pPr>
            <a:r>
              <a:rPr lang="en-US" sz="1300" dirty="0">
                <a:solidFill>
                  <a:srgbClr val="4E4B59"/>
                </a:solidFill>
                <a:latin typeface="Calibri" pitchFamily="34" charset="0"/>
                <a:ea typeface="Calibri" pitchFamily="34" charset="-122"/>
                <a:cs typeface="Calibri" pitchFamily="34" charset="-120"/>
              </a:rPr>
              <a:t>Capas nuevas: Projectile (11) y Hazard (12). Gravedad global a (0, 0).</a:t>
            </a:r>
            <a:endParaRPr lang="en-US" sz="1300" dirty="0"/>
          </a:p>
        </p:txBody>
      </p:sp>
      <p:sp>
        <p:nvSpPr>
          <p:cNvPr id="7" name="Text 4"/>
          <p:cNvSpPr txBox="1"/>
          <p:nvPr/>
        </p:nvSpPr>
        <p:spPr>
          <a:xfrm>
            <a:off x="548640" y="4206240"/>
            <a:ext cx="2651760" cy="566928"/>
          </a:xfrm>
          <a:prstGeom prst="rect">
            <a:avLst/>
          </a:prstGeom>
          <a:noFill/>
          <a:ln/>
        </p:spPr>
        <p:txBody>
          <a:bodyPr wrap="square" lIns="0" tIns="0" rIns="0" bIns="0" rtlCol="0" anchor="t"/>
          <a:lstStyle/>
          <a:p>
            <a:pPr indent="0" marL="0">
              <a:lnSpc>
                <a:spcPts val="1500"/>
              </a:lnSpc>
              <a:buNone/>
            </a:pPr>
            <a:r>
              <a:rPr lang="en-US" sz="1100" b="1" dirty="0">
                <a:solidFill>
                  <a:srgbClr val="9A681F"/>
                </a:solidFill>
                <a:latin typeface="Courier New" pitchFamily="34" charset="0"/>
                <a:ea typeface="Courier New" pitchFamily="34" charset="-122"/>
                <a:cs typeface="Courier New" pitchFamily="34" charset="-120"/>
              </a:rPr>
              <a:t>Player ✘ Projectile</a:t>
            </a:r>
            <a:endParaRPr lang="en-US" sz="1100" dirty="0"/>
          </a:p>
        </p:txBody>
      </p:sp>
      <p:sp>
        <p:nvSpPr>
          <p:cNvPr id="8" name="Text 5"/>
          <p:cNvSpPr txBox="1"/>
          <p:nvPr/>
        </p:nvSpPr>
        <p:spPr>
          <a:xfrm>
            <a:off x="3246120" y="4206240"/>
            <a:ext cx="4251960" cy="566928"/>
          </a:xfrm>
          <a:prstGeom prst="rect">
            <a:avLst/>
          </a:prstGeom>
          <a:noFill/>
          <a:ln/>
        </p:spPr>
        <p:txBody>
          <a:bodyPr wrap="square" lIns="0" tIns="0" rIns="0" bIns="0" rtlCol="0" anchor="t"/>
          <a:lstStyle/>
          <a:p>
            <a:pPr indent="0" marL="0">
              <a:lnSpc>
                <a:spcPts val="1400"/>
              </a:lnSpc>
              <a:buNone/>
            </a:pPr>
            <a:r>
              <a:rPr lang="en-US" sz="1150" dirty="0">
                <a:solidFill>
                  <a:srgbClr val="4E4B59"/>
                </a:solidFill>
                <a:latin typeface="Calibri" pitchFamily="34" charset="0"/>
                <a:ea typeface="Calibri" pitchFamily="34" charset="-122"/>
                <a:cs typeface="Calibri" pitchFamily="34" charset="-120"/>
              </a:rPr>
              <a:t>La piedra ya no empuja a quien la lanza.</a:t>
            </a:r>
            <a:endParaRPr lang="en-US" sz="1150" dirty="0"/>
          </a:p>
        </p:txBody>
      </p:sp>
      <p:sp>
        <p:nvSpPr>
          <p:cNvPr id="9" name="Text 6"/>
          <p:cNvSpPr txBox="1"/>
          <p:nvPr/>
        </p:nvSpPr>
        <p:spPr>
          <a:xfrm>
            <a:off x="548640" y="4864608"/>
            <a:ext cx="2651760" cy="566928"/>
          </a:xfrm>
          <a:prstGeom prst="rect">
            <a:avLst/>
          </a:prstGeom>
          <a:noFill/>
          <a:ln/>
        </p:spPr>
        <p:txBody>
          <a:bodyPr wrap="square" lIns="0" tIns="0" rIns="0" bIns="0" rtlCol="0" anchor="t"/>
          <a:lstStyle/>
          <a:p>
            <a:pPr indent="0" marL="0">
              <a:lnSpc>
                <a:spcPts val="1500"/>
              </a:lnSpc>
              <a:buNone/>
            </a:pPr>
            <a:r>
              <a:rPr lang="en-US" sz="1100" b="1" dirty="0">
                <a:solidFill>
                  <a:srgbClr val="9A681F"/>
                </a:solidFill>
                <a:latin typeface="Courier New" pitchFamily="34" charset="0"/>
                <a:ea typeface="Courier New" pitchFamily="34" charset="-122"/>
                <a:cs typeface="Courier New" pitchFamily="34" charset="-120"/>
              </a:rPr>
              <a:t>Guard ✘ Guard</a:t>
            </a:r>
            <a:endParaRPr lang="en-US" sz="1100" dirty="0"/>
          </a:p>
        </p:txBody>
      </p:sp>
      <p:sp>
        <p:nvSpPr>
          <p:cNvPr id="10" name="Text 7"/>
          <p:cNvSpPr txBox="1"/>
          <p:nvPr/>
        </p:nvSpPr>
        <p:spPr>
          <a:xfrm>
            <a:off x="3246120" y="4864608"/>
            <a:ext cx="4251960" cy="566928"/>
          </a:xfrm>
          <a:prstGeom prst="rect">
            <a:avLst/>
          </a:prstGeom>
          <a:noFill/>
          <a:ln/>
        </p:spPr>
        <p:txBody>
          <a:bodyPr wrap="square" lIns="0" tIns="0" rIns="0" bIns="0" rtlCol="0" anchor="t"/>
          <a:lstStyle/>
          <a:p>
            <a:pPr indent="0" marL="0">
              <a:lnSpc>
                <a:spcPts val="1400"/>
              </a:lnSpc>
              <a:buNone/>
            </a:pPr>
            <a:r>
              <a:rPr lang="en-US" sz="1150" dirty="0">
                <a:solidFill>
                  <a:srgbClr val="4E4B59"/>
                </a:solidFill>
                <a:latin typeface="Calibri" pitchFamily="34" charset="0"/>
                <a:ea typeface="Calibri" pitchFamily="34" charset="-122"/>
                <a:cs typeface="Calibri" pitchFamily="34" charset="-120"/>
              </a:rPr>
              <a:t>Dos cinemáticos solapados generaban contactos inútiles.</a:t>
            </a:r>
            <a:endParaRPr lang="en-US" sz="1150" dirty="0"/>
          </a:p>
        </p:txBody>
      </p:sp>
      <p:sp>
        <p:nvSpPr>
          <p:cNvPr id="11" name="Text 8"/>
          <p:cNvSpPr txBox="1"/>
          <p:nvPr/>
        </p:nvSpPr>
        <p:spPr>
          <a:xfrm>
            <a:off x="548640" y="5522976"/>
            <a:ext cx="2651760" cy="566928"/>
          </a:xfrm>
          <a:prstGeom prst="rect">
            <a:avLst/>
          </a:prstGeom>
          <a:noFill/>
          <a:ln/>
        </p:spPr>
        <p:txBody>
          <a:bodyPr wrap="square" lIns="0" tIns="0" rIns="0" bIns="0" rtlCol="0" anchor="t"/>
          <a:lstStyle/>
          <a:p>
            <a:pPr indent="0" marL="0">
              <a:lnSpc>
                <a:spcPts val="1500"/>
              </a:lnSpc>
              <a:buNone/>
            </a:pPr>
            <a:r>
              <a:rPr lang="en-US" sz="1100" b="1" dirty="0">
                <a:solidFill>
                  <a:srgbClr val="9A681F"/>
                </a:solidFill>
                <a:latin typeface="Courier New" pitchFamily="34" charset="0"/>
                <a:ea typeface="Courier New" pitchFamily="34" charset="-122"/>
                <a:cs typeface="Courier New" pitchFamily="34" charset="-120"/>
              </a:rPr>
              <a:t>Projectile ✔ Interactable</a:t>
            </a:r>
            <a:endParaRPr lang="en-US" sz="1100" dirty="0"/>
          </a:p>
        </p:txBody>
      </p:sp>
      <p:sp>
        <p:nvSpPr>
          <p:cNvPr id="12" name="Text 9"/>
          <p:cNvSpPr txBox="1"/>
          <p:nvPr/>
        </p:nvSpPr>
        <p:spPr>
          <a:xfrm>
            <a:off x="3246120" y="5522976"/>
            <a:ext cx="4251960" cy="566928"/>
          </a:xfrm>
          <a:prstGeom prst="rect">
            <a:avLst/>
          </a:prstGeom>
          <a:noFill/>
          <a:ln/>
        </p:spPr>
        <p:txBody>
          <a:bodyPr wrap="square" lIns="0" tIns="0" rIns="0" bIns="0" rtlCol="0" anchor="t"/>
          <a:lstStyle/>
          <a:p>
            <a:pPr indent="0" marL="0">
              <a:lnSpc>
                <a:spcPts val="1400"/>
              </a:lnSpc>
              <a:buNone/>
            </a:pPr>
            <a:r>
              <a:rPr lang="en-US" sz="1150" dirty="0">
                <a:solidFill>
                  <a:srgbClr val="4E4B59"/>
                </a:solidFill>
                <a:latin typeface="Calibri" pitchFamily="34" charset="0"/>
                <a:ea typeface="Calibri" pitchFamily="34" charset="-122"/>
                <a:cs typeface="Calibri" pitchFamily="34" charset="-120"/>
              </a:rPr>
              <a:t>La piedra choca contra una puerta cerrada y hace ruido ahí. Con la puerta abierta la cruza, porque Door.Open() apaga su collider.</a:t>
            </a:r>
            <a:endParaRPr lang="en-US" sz="1150" dirty="0"/>
          </a:p>
        </p:txBody>
      </p:sp>
      <p:pic>
        <p:nvPicPr>
          <p:cNvPr id="13" name="Image 0" descr="/home/user/DungeonPuzzle/docs/Semana04/capturas/03b_matriz_detalle.png">    </p:cNvPr>
          <p:cNvPicPr>
            <a:picLocks noChangeAspect="1"/>
          </p:cNvPicPr>
          <p:nvPr/>
        </p:nvPicPr>
        <p:blipFill>
          <a:blip r:embed="rId1"/>
          <a:stretch>
            <a:fillRect/>
          </a:stretch>
        </p:blipFill>
        <p:spPr>
          <a:xfrm>
            <a:off x="8138160" y="1417320"/>
            <a:ext cx="3474720" cy="3191256"/>
          </a:xfrm>
          <a:prstGeom prst="rect">
            <a:avLst/>
          </a:prstGeom>
        </p:spPr>
      </p:pic>
      <p:sp>
        <p:nvSpPr>
          <p:cNvPr id="14" name="Text 10"/>
          <p:cNvSpPr txBox="1"/>
          <p:nvPr/>
        </p:nvSpPr>
        <p:spPr>
          <a:xfrm>
            <a:off x="8138160" y="4709160"/>
            <a:ext cx="3474720" cy="457200"/>
          </a:xfrm>
          <a:prstGeom prst="rect">
            <a:avLst/>
          </a:prstGeom>
          <a:noFill/>
          <a:ln/>
        </p:spPr>
        <p:txBody>
          <a:bodyPr wrap="square" lIns="0" tIns="0" rIns="0" bIns="0" rtlCol="0" anchor="ctr"/>
          <a:lstStyle/>
          <a:p>
            <a:pPr indent="0" marL="0">
              <a:lnSpc>
                <a:spcPts val="1300"/>
              </a:lnSpc>
              <a:buNone/>
            </a:pPr>
            <a:r>
              <a:rPr lang="en-US" sz="950" dirty="0">
                <a:solidFill>
                  <a:srgbClr val="7A7787"/>
                </a:solidFill>
                <a:latin typeface="Courier New" pitchFamily="34" charset="0"/>
                <a:ea typeface="Courier New" pitchFamily="34" charset="-122"/>
                <a:cs typeface="Courier New" pitchFamily="34" charset="-120"/>
              </a:rPr>
              <a:t>Project Settings ▸ Physics 2D ▸ Layer Collision Matrix,</a:t>
            </a:r>
            <a:endParaRPr lang="en-US" sz="950" dirty="0"/>
          </a:p>
          <a:p>
            <a:pPr indent="0" marL="0">
              <a:lnSpc>
                <a:spcPts val="1300"/>
              </a:lnSpc>
              <a:buNone/>
            </a:pPr>
            <a:r>
              <a:rPr lang="en-US" sz="950" dirty="0">
                <a:solidFill>
                  <a:srgbClr val="7A7787"/>
                </a:solidFill>
                <a:latin typeface="Courier New" pitchFamily="34" charset="0"/>
                <a:ea typeface="Courier New" pitchFamily="34" charset="-122"/>
                <a:cs typeface="Courier New" pitchFamily="34" charset="-120"/>
              </a:rPr>
              <a:t>recortada a las capas del juego.</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9"/>
        </a:solidFill>
      </p:bgPr>
    </p:bg>
    <p:spTree>
      <p:nvGrpSpPr>
        <p:cNvPr id="1" name=""/>
        <p:cNvGrpSpPr/>
        <p:nvPr/>
      </p:nvGrpSpPr>
      <p:grpSpPr>
        <a:xfrm>
          <a:off x="0" y="0"/>
          <a:ext cx="0" cy="0"/>
          <a:chOff x="0" y="0"/>
          <a:chExt cx="0" cy="0"/>
        </a:xfrm>
      </p:grpSpPr>
      <p:sp>
        <p:nvSpPr>
          <p:cNvPr id="2" name="Text 0"/>
          <p:cNvSpPr txBox="1"/>
          <p:nvPr/>
        </p:nvSpPr>
        <p:spPr>
          <a:xfrm>
            <a:off x="548640" y="329184"/>
            <a:ext cx="11064240" cy="237744"/>
          </a:xfrm>
          <a:prstGeom prst="rect">
            <a:avLst/>
          </a:prstGeom>
          <a:noFill/>
          <a:ln/>
        </p:spPr>
        <p:txBody>
          <a:bodyPr wrap="square" lIns="0" tIns="0" rIns="0" bIns="0" rtlCol="0" anchor="ctr"/>
          <a:lstStyle/>
          <a:p>
            <a:pPr indent="0" marL="0">
              <a:buNone/>
            </a:pPr>
            <a:r>
              <a:rPr lang="en-US" sz="1100" spc="140" kern="0" dirty="0">
                <a:solidFill>
                  <a:srgbClr val="9A681F"/>
                </a:solidFill>
                <a:latin typeface="Courier New" pitchFamily="34" charset="0"/>
                <a:ea typeface="Courier New" pitchFamily="34" charset="-122"/>
                <a:cs typeface="Courier New" pitchFamily="34" charset="-120"/>
              </a:rPr>
              <a:t>02 · COLISIONES 2D</a:t>
            </a:r>
            <a:endParaRPr lang="en-US" sz="1100" dirty="0"/>
          </a:p>
        </p:txBody>
      </p:sp>
      <p:sp>
        <p:nvSpPr>
          <p:cNvPr id="3" name="Text 1"/>
          <p:cNvSpPr txBox="1"/>
          <p:nvPr/>
        </p:nvSpPr>
        <p:spPr>
          <a:xfrm>
            <a:off x="548640" y="585216"/>
            <a:ext cx="10515600" cy="658368"/>
          </a:xfrm>
          <a:prstGeom prst="rect">
            <a:avLst/>
          </a:prstGeom>
          <a:noFill/>
          <a:ln/>
        </p:spPr>
        <p:txBody>
          <a:bodyPr wrap="square" lIns="0" tIns="0" rIns="0" bIns="0" rtlCol="0" anchor="ctr"/>
          <a:lstStyle/>
          <a:p>
            <a:pPr indent="0" marL="0">
              <a:buNone/>
            </a:pPr>
            <a:r>
              <a:rPr lang="en-US" sz="3000" b="1" dirty="0">
                <a:solidFill>
                  <a:srgbClr val="23222A"/>
                </a:solidFill>
                <a:latin typeface="Calibri" pitchFamily="34" charset="0"/>
                <a:ea typeface="Calibri" pitchFamily="34" charset="-122"/>
                <a:cs typeface="Calibri" pitchFamily="34" charset="-120"/>
              </a:rPr>
              <a:t>Detectar el impacto y responder bien</a:t>
            </a:r>
            <a:endParaRPr lang="en-US" sz="3000" dirty="0"/>
          </a:p>
        </p:txBody>
      </p:sp>
      <p:sp>
        <p:nvSpPr>
          <p:cNvPr id="4" name="Text 2"/>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7A7787"/>
                </a:solidFill>
                <a:latin typeface="Courier New" pitchFamily="34" charset="0"/>
                <a:ea typeface="Courier New" pitchFamily="34" charset="-122"/>
                <a:cs typeface="Courier New" pitchFamily="34" charset="-120"/>
              </a:rPr>
              <a:t>6</a:t>
            </a:r>
            <a:endParaRPr lang="en-US" sz="1000" dirty="0"/>
          </a:p>
        </p:txBody>
      </p:sp>
      <p:sp>
        <p:nvSpPr>
          <p:cNvPr id="5" name="Shape 3"/>
          <p:cNvSpPr/>
          <p:nvPr/>
        </p:nvSpPr>
        <p:spPr>
          <a:xfrm>
            <a:off x="548640" y="1417320"/>
            <a:ext cx="5486400" cy="2377440"/>
          </a:xfrm>
          <a:prstGeom prst="roundRect">
            <a:avLst>
              <a:gd name="adj" fmla="val 2308"/>
            </a:avLst>
          </a:prstGeom>
          <a:solidFill>
            <a:srgbClr val="FFFFFF"/>
          </a:solidFill>
          <a:ln w="9525">
            <a:solidFill>
              <a:srgbClr val="D9D6E1"/>
            </a:solidFill>
            <a:prstDash val="solid"/>
          </a:ln>
        </p:spPr>
      </p:sp>
      <p:sp>
        <p:nvSpPr>
          <p:cNvPr id="6" name="Text 4"/>
          <p:cNvSpPr txBox="1"/>
          <p:nvPr/>
        </p:nvSpPr>
        <p:spPr>
          <a:xfrm>
            <a:off x="777240" y="1600200"/>
            <a:ext cx="5029200" cy="274320"/>
          </a:xfrm>
          <a:prstGeom prst="rect">
            <a:avLst/>
          </a:prstGeom>
          <a:noFill/>
          <a:ln/>
        </p:spPr>
        <p:txBody>
          <a:bodyPr wrap="square" lIns="0" tIns="0" rIns="0" bIns="0" rtlCol="0" anchor="ctr"/>
          <a:lstStyle/>
          <a:p>
            <a:pPr indent="0" marL="0">
              <a:buNone/>
            </a:pPr>
            <a:r>
              <a:rPr lang="en-US" sz="1500" b="1" dirty="0">
                <a:solidFill>
                  <a:srgbClr val="23222A"/>
                </a:solidFill>
                <a:latin typeface="Calibri" pitchFamily="34" charset="0"/>
                <a:ea typeface="Calibri" pitchFamily="34" charset="-122"/>
                <a:cs typeface="Calibri" pitchFamily="34" charset="-120"/>
              </a:rPr>
              <a:t>Detección: de discreta a continua</a:t>
            </a:r>
            <a:endParaRPr lang="en-US" sz="1500" dirty="0"/>
          </a:p>
        </p:txBody>
      </p:sp>
      <p:sp>
        <p:nvSpPr>
          <p:cNvPr id="7" name="Text 5"/>
          <p:cNvSpPr txBox="1"/>
          <p:nvPr/>
        </p:nvSpPr>
        <p:spPr>
          <a:xfrm>
            <a:off x="777240" y="1965960"/>
            <a:ext cx="5029200" cy="502920"/>
          </a:xfrm>
          <a:prstGeom prst="rect">
            <a:avLst/>
          </a:prstGeom>
          <a:noFill/>
          <a:ln/>
        </p:spPr>
        <p:txBody>
          <a:bodyPr wrap="square" lIns="0" tIns="0" rIns="0" bIns="0" rtlCol="0" anchor="ctr"/>
          <a:lstStyle/>
          <a:p>
            <a:pPr indent="0" marL="0">
              <a:lnSpc>
                <a:spcPts val="1500"/>
              </a:lnSpc>
              <a:buNone/>
            </a:pPr>
            <a:r>
              <a:rPr lang="en-US" sz="1050" dirty="0">
                <a:solidFill>
                  <a:srgbClr val="B23A30"/>
                </a:solidFill>
                <a:latin typeface="Courier New" pitchFamily="34" charset="0"/>
                <a:ea typeface="Courier New" pitchFamily="34" charset="-122"/>
                <a:cs typeface="Courier New" pitchFamily="34" charset="-120"/>
              </a:rPr>
              <a:t>○ · · · · · · ▓ · · · · ○     discreta</a:t>
            </a:r>
            <a:endParaRPr lang="en-US" sz="1050" dirty="0"/>
          </a:p>
          <a:p>
            <a:pPr indent="0" marL="0">
              <a:lnSpc>
                <a:spcPts val="1500"/>
              </a:lnSpc>
              <a:buNone/>
            </a:pPr>
            <a:r>
              <a:rPr lang="en-US" sz="1050" dirty="0">
                <a:solidFill>
                  <a:srgbClr val="B23A30"/>
                </a:solidFill>
                <a:latin typeface="Courier New" pitchFamily="34" charset="0"/>
                <a:ea typeface="Courier New" pitchFamily="34" charset="-122"/>
                <a:cs typeface="Courier New" pitchFamily="34" charset="-120"/>
              </a:rPr>
              <a:t>paso n       muro    paso n+1</a:t>
            </a:r>
            <a:endParaRPr lang="en-US" sz="1050" dirty="0"/>
          </a:p>
        </p:txBody>
      </p:sp>
      <p:sp>
        <p:nvSpPr>
          <p:cNvPr id="8" name="Text 6"/>
          <p:cNvSpPr txBox="1"/>
          <p:nvPr/>
        </p:nvSpPr>
        <p:spPr>
          <a:xfrm>
            <a:off x="777240" y="2542032"/>
            <a:ext cx="5029200" cy="502920"/>
          </a:xfrm>
          <a:prstGeom prst="rect">
            <a:avLst/>
          </a:prstGeom>
          <a:noFill/>
          <a:ln/>
        </p:spPr>
        <p:txBody>
          <a:bodyPr wrap="square" lIns="0" tIns="0" rIns="0" bIns="0" rtlCol="0" anchor="ctr"/>
          <a:lstStyle/>
          <a:p>
            <a:pPr indent="0" marL="0">
              <a:lnSpc>
                <a:spcPts val="1500"/>
              </a:lnSpc>
              <a:buNone/>
            </a:pPr>
            <a:r>
              <a:rPr lang="en-US" sz="1050" dirty="0">
                <a:solidFill>
                  <a:srgbClr val="2F7F4C"/>
                </a:solidFill>
                <a:latin typeface="Courier New" pitchFamily="34" charset="0"/>
                <a:ea typeface="Courier New" pitchFamily="34" charset="-122"/>
                <a:cs typeface="Courier New" pitchFamily="34" charset="-120"/>
              </a:rPr>
              <a:t>○━━━━━━━━━━━●▓                 continua</a:t>
            </a:r>
            <a:endParaRPr lang="en-US" sz="1050" dirty="0"/>
          </a:p>
          <a:p>
            <a:pPr indent="0" marL="0">
              <a:lnSpc>
                <a:spcPts val="1500"/>
              </a:lnSpc>
              <a:buNone/>
            </a:pPr>
            <a:r>
              <a:rPr lang="en-US" sz="1050" dirty="0">
                <a:solidFill>
                  <a:srgbClr val="2F7F4C"/>
                </a:solidFill>
                <a:latin typeface="Courier New" pitchFamily="34" charset="0"/>
                <a:ea typeface="Courier New" pitchFamily="34" charset="-122"/>
                <a:cs typeface="Courier New" pitchFamily="34" charset="-120"/>
              </a:rPr>
              <a:t>paso n     impacto en el barrido</a:t>
            </a:r>
            <a:endParaRPr lang="en-US" sz="1050" dirty="0"/>
          </a:p>
        </p:txBody>
      </p:sp>
      <p:sp>
        <p:nvSpPr>
          <p:cNvPr id="9" name="Text 7"/>
          <p:cNvSpPr txBox="1"/>
          <p:nvPr/>
        </p:nvSpPr>
        <p:spPr>
          <a:xfrm>
            <a:off x="777240" y="3090672"/>
            <a:ext cx="5029200" cy="713232"/>
          </a:xfrm>
          <a:prstGeom prst="rect">
            <a:avLst/>
          </a:prstGeom>
          <a:noFill/>
          <a:ln/>
        </p:spPr>
        <p:txBody>
          <a:bodyPr wrap="square" lIns="0" tIns="0" rIns="0" bIns="0" rtlCol="0" anchor="ctr"/>
          <a:lstStyle/>
          <a:p>
            <a:pPr indent="0" marL="0">
              <a:lnSpc>
                <a:spcPts val="1500"/>
              </a:lnSpc>
              <a:buNone/>
            </a:pPr>
            <a:r>
              <a:rPr lang="en-US" sz="1150" dirty="0">
                <a:solidFill>
                  <a:srgbClr val="4E4B59"/>
                </a:solidFill>
                <a:latin typeface="Calibri" pitchFamily="34" charset="0"/>
                <a:ea typeface="Calibri" pitchFamily="34" charset="-122"/>
                <a:cs typeface="Calibri" pitchFamily="34" charset="-120"/>
              </a:rPr>
              <a:t>r = 0.1 a 8 u/s son 0.16 u por paso de física. Awake() fuerza Continuous, y el rebote refleja la velocidad sobre la normal del contacto.</a:t>
            </a:r>
            <a:endParaRPr lang="en-US" sz="1150" dirty="0"/>
          </a:p>
        </p:txBody>
      </p:sp>
      <p:sp>
        <p:nvSpPr>
          <p:cNvPr id="10" name="Shape 8"/>
          <p:cNvSpPr/>
          <p:nvPr/>
        </p:nvSpPr>
        <p:spPr>
          <a:xfrm>
            <a:off x="548640" y="3950208"/>
            <a:ext cx="5486400" cy="2130552"/>
          </a:xfrm>
          <a:prstGeom prst="roundRect">
            <a:avLst>
              <a:gd name="adj" fmla="val 2575"/>
            </a:avLst>
          </a:prstGeom>
          <a:solidFill>
            <a:srgbClr val="FFFFFF"/>
          </a:solidFill>
          <a:ln w="9525">
            <a:solidFill>
              <a:srgbClr val="D9D6E1"/>
            </a:solidFill>
            <a:prstDash val="solid"/>
          </a:ln>
        </p:spPr>
      </p:sp>
      <p:sp>
        <p:nvSpPr>
          <p:cNvPr id="11" name="Text 9"/>
          <p:cNvSpPr txBox="1"/>
          <p:nvPr/>
        </p:nvSpPr>
        <p:spPr>
          <a:xfrm>
            <a:off x="777240" y="4114800"/>
            <a:ext cx="5029200" cy="274320"/>
          </a:xfrm>
          <a:prstGeom prst="rect">
            <a:avLst/>
          </a:prstGeom>
          <a:noFill/>
          <a:ln/>
        </p:spPr>
        <p:txBody>
          <a:bodyPr wrap="square" lIns="0" tIns="0" rIns="0" bIns="0" rtlCol="0" anchor="ctr"/>
          <a:lstStyle/>
          <a:p>
            <a:pPr indent="0" marL="0">
              <a:buNone/>
            </a:pPr>
            <a:r>
              <a:rPr lang="en-US" sz="1500" b="1" dirty="0">
                <a:solidFill>
                  <a:srgbClr val="23222A"/>
                </a:solidFill>
                <a:latin typeface="Calibri" pitchFamily="34" charset="0"/>
                <a:ea typeface="Calibri" pitchFamily="34" charset="-122"/>
                <a:cs typeface="Calibri" pitchFamily="34" charset="-120"/>
              </a:rPr>
              <a:t>Respuesta: del empujón al deslizamiento</a:t>
            </a:r>
            <a:endParaRPr lang="en-US" sz="1500" dirty="0"/>
          </a:p>
        </p:txBody>
      </p:sp>
      <p:sp>
        <p:nvSpPr>
          <p:cNvPr id="12" name="Text 10"/>
          <p:cNvSpPr txBox="1"/>
          <p:nvPr/>
        </p:nvSpPr>
        <p:spPr>
          <a:xfrm>
            <a:off x="777240" y="4462272"/>
            <a:ext cx="5029200" cy="548640"/>
          </a:xfrm>
          <a:prstGeom prst="rect">
            <a:avLst/>
          </a:prstGeom>
          <a:noFill/>
          <a:ln/>
        </p:spPr>
        <p:txBody>
          <a:bodyPr wrap="square" lIns="0" tIns="0" rIns="0" bIns="0" rtlCol="0" anchor="ctr"/>
          <a:lstStyle/>
          <a:p>
            <a:pPr indent="0" marL="0">
              <a:lnSpc>
                <a:spcPts val="1600"/>
              </a:lnSpc>
              <a:buNone/>
            </a:pPr>
            <a:r>
              <a:rPr lang="en-US" sz="1200" dirty="0">
                <a:solidFill>
                  <a:srgbClr val="4E4B59"/>
                </a:solidFill>
                <a:latin typeface="Calibri" pitchFamily="34" charset="0"/>
                <a:ea typeface="Calibri" pitchFamily="34" charset="-122"/>
                <a:cs typeface="Calibri" pitchFamily="34" charset="-120"/>
              </a:rPr>
              <a:t>MovePosition teletransporta el cuerpo: se solapa con el muro y el solver lo corrige a empujones. De ahí los tirones y las esquinas pegajosas.</a:t>
            </a:r>
            <a:endParaRPr lang="en-US" sz="1200" dirty="0"/>
          </a:p>
        </p:txBody>
      </p:sp>
      <p:sp>
        <p:nvSpPr>
          <p:cNvPr id="13" name="Text 11"/>
          <p:cNvSpPr txBox="1"/>
          <p:nvPr/>
        </p:nvSpPr>
        <p:spPr>
          <a:xfrm>
            <a:off x="777240" y="5029200"/>
            <a:ext cx="5029200" cy="411480"/>
          </a:xfrm>
          <a:prstGeom prst="rect">
            <a:avLst/>
          </a:prstGeom>
          <a:noFill/>
          <a:ln/>
        </p:spPr>
        <p:txBody>
          <a:bodyPr wrap="square" lIns="0" tIns="0" rIns="0" bIns="0" rtlCol="0" anchor="ctr"/>
          <a:lstStyle/>
          <a:p>
            <a:pPr indent="0" marL="0">
              <a:lnSpc>
                <a:spcPts val="1600"/>
              </a:lnSpc>
              <a:buNone/>
            </a:pPr>
            <a:r>
              <a:rPr lang="en-US" sz="1200" b="1" dirty="0">
                <a:solidFill>
                  <a:srgbClr val="2F7F4C"/>
                </a:solidFill>
                <a:latin typeface="Calibri" pitchFamily="34" charset="0"/>
                <a:ea typeface="Calibri" pitchFamily="34" charset="-122"/>
                <a:cs typeface="Calibri" pitchFamily="34" charset="-120"/>
              </a:rPr>
              <a:t>Con linearVelocity el solver resuelve el contacto y el héroe desliza a lo largo de la pared.</a:t>
            </a:r>
            <a:endParaRPr lang="en-US" sz="1200" dirty="0"/>
          </a:p>
        </p:txBody>
      </p:sp>
      <p:sp>
        <p:nvSpPr>
          <p:cNvPr id="14" name="Text 12"/>
          <p:cNvSpPr txBox="1"/>
          <p:nvPr/>
        </p:nvSpPr>
        <p:spPr>
          <a:xfrm>
            <a:off x="777240" y="5468112"/>
            <a:ext cx="5029200" cy="502920"/>
          </a:xfrm>
          <a:prstGeom prst="rect">
            <a:avLst/>
          </a:prstGeom>
          <a:noFill/>
          <a:ln/>
        </p:spPr>
        <p:txBody>
          <a:bodyPr wrap="square" lIns="0" tIns="0" rIns="0" bIns="0" rtlCol="0" anchor="ctr"/>
          <a:lstStyle/>
          <a:p>
            <a:pPr indent="0" marL="0">
              <a:lnSpc>
                <a:spcPts val="1600"/>
              </a:lnSpc>
              <a:buNone/>
            </a:pPr>
            <a:r>
              <a:rPr lang="en-US" sz="1200" dirty="0">
                <a:solidFill>
                  <a:srgbClr val="4E4B59"/>
                </a:solidFill>
                <a:latin typeface="Calibri" pitchFamily="34" charset="0"/>
                <a:ea typeface="Calibri" pitchFamily="34" charset="-122"/>
                <a:cs typeface="Calibri" pitchFamily="34" charset="-120"/>
              </a:rPr>
              <a:t>El Animator recibe la velocidad real del cuerpo, así que al empujar contra un muro el héroe deja de caminar en pantalla.</a:t>
            </a:r>
            <a:endParaRPr lang="en-US" sz="1200" dirty="0"/>
          </a:p>
        </p:txBody>
      </p:sp>
      <p:pic>
        <p:nvPicPr>
          <p:cNvPr id="15" name="Image 0" descr="/home/user/DungeonPuzzle/docs/Semana04/capturas/04_colisiones_sceneview.png">    </p:cNvPr>
          <p:cNvPicPr>
            <a:picLocks noChangeAspect="1"/>
          </p:cNvPicPr>
          <p:nvPr/>
        </p:nvPicPr>
        <p:blipFill>
          <a:blip r:embed="rId1"/>
          <a:stretch>
            <a:fillRect/>
          </a:stretch>
        </p:blipFill>
        <p:spPr>
          <a:xfrm>
            <a:off x="6400800" y="1417320"/>
            <a:ext cx="5212080" cy="2926080"/>
          </a:xfrm>
          <a:prstGeom prst="rect">
            <a:avLst/>
          </a:prstGeom>
        </p:spPr>
      </p:pic>
      <p:sp>
        <p:nvSpPr>
          <p:cNvPr id="16" name="Text 13"/>
          <p:cNvSpPr txBox="1"/>
          <p:nvPr/>
        </p:nvSpPr>
        <p:spPr>
          <a:xfrm>
            <a:off x="6400800" y="4434840"/>
            <a:ext cx="5212080" cy="457200"/>
          </a:xfrm>
          <a:prstGeom prst="rect">
            <a:avLst/>
          </a:prstGeom>
          <a:noFill/>
          <a:ln/>
        </p:spPr>
        <p:txBody>
          <a:bodyPr wrap="square" lIns="0" tIns="0" rIns="0" bIns="0" rtlCol="0" anchor="ctr"/>
          <a:lstStyle/>
          <a:p>
            <a:pPr indent="0" marL="0">
              <a:lnSpc>
                <a:spcPts val="1300"/>
              </a:lnSpc>
              <a:buNone/>
            </a:pPr>
            <a:r>
              <a:rPr lang="en-US" sz="950" dirty="0">
                <a:solidFill>
                  <a:srgbClr val="7A7787"/>
                </a:solidFill>
                <a:latin typeface="Courier New" pitchFamily="34" charset="0"/>
                <a:ea typeface="Courier New" pitchFamily="34" charset="-122"/>
                <a:cs typeface="Courier New" pitchFamily="34" charset="-120"/>
              </a:rPr>
              <a:t>Scene view con Always Show Colliders: el collider sólido del héroe, el trigger del sensor y el cono del guardia.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9"/>
        </a:solidFill>
      </p:bgPr>
    </p:bg>
    <p:spTree>
      <p:nvGrpSpPr>
        <p:cNvPr id="1" name=""/>
        <p:cNvGrpSpPr/>
        <p:nvPr/>
      </p:nvGrpSpPr>
      <p:grpSpPr>
        <a:xfrm>
          <a:off x="0" y="0"/>
          <a:ext cx="0" cy="0"/>
          <a:chOff x="0" y="0"/>
          <a:chExt cx="0" cy="0"/>
        </a:xfrm>
      </p:grpSpPr>
      <p:sp>
        <p:nvSpPr>
          <p:cNvPr id="2" name="Text 0"/>
          <p:cNvSpPr txBox="1"/>
          <p:nvPr/>
        </p:nvSpPr>
        <p:spPr>
          <a:xfrm>
            <a:off x="548640" y="329184"/>
            <a:ext cx="11064240" cy="237744"/>
          </a:xfrm>
          <a:prstGeom prst="rect">
            <a:avLst/>
          </a:prstGeom>
          <a:noFill/>
          <a:ln/>
        </p:spPr>
        <p:txBody>
          <a:bodyPr wrap="square" lIns="0" tIns="0" rIns="0" bIns="0" rtlCol="0" anchor="ctr"/>
          <a:lstStyle/>
          <a:p>
            <a:pPr indent="0" marL="0">
              <a:buNone/>
            </a:pPr>
            <a:r>
              <a:rPr lang="en-US" sz="1100" spc="140" kern="0" dirty="0">
                <a:solidFill>
                  <a:srgbClr val="9A681F"/>
                </a:solidFill>
                <a:latin typeface="Courier New" pitchFamily="34" charset="0"/>
                <a:ea typeface="Courier New" pitchFamily="34" charset="-122"/>
                <a:cs typeface="Courier New" pitchFamily="34" charset="-120"/>
              </a:rPr>
              <a:t>02 · COLISIONES 2D</a:t>
            </a:r>
            <a:endParaRPr lang="en-US" sz="1100" dirty="0"/>
          </a:p>
        </p:txBody>
      </p:sp>
      <p:sp>
        <p:nvSpPr>
          <p:cNvPr id="3" name="Text 1"/>
          <p:cNvSpPr txBox="1"/>
          <p:nvPr/>
        </p:nvSpPr>
        <p:spPr>
          <a:xfrm>
            <a:off x="548640" y="585216"/>
            <a:ext cx="10515600" cy="658368"/>
          </a:xfrm>
          <a:prstGeom prst="rect">
            <a:avLst/>
          </a:prstGeom>
          <a:noFill/>
          <a:ln/>
        </p:spPr>
        <p:txBody>
          <a:bodyPr wrap="square" lIns="0" tIns="0" rIns="0" bIns="0" rtlCol="0" anchor="ctr"/>
          <a:lstStyle/>
          <a:p>
            <a:pPr indent="0" marL="0">
              <a:buNone/>
            </a:pPr>
            <a:r>
              <a:rPr lang="en-US" sz="3000" b="1" dirty="0">
                <a:solidFill>
                  <a:srgbClr val="23222A"/>
                </a:solidFill>
                <a:latin typeface="Calibri" pitchFamily="34" charset="0"/>
                <a:ea typeface="Calibri" pitchFamily="34" charset="-122"/>
                <a:cs typeface="Calibri" pitchFamily="34" charset="-120"/>
              </a:rPr>
              <a:t>De sondear el espacio a escuchar al motor</a:t>
            </a:r>
            <a:endParaRPr lang="en-US" sz="3000" dirty="0"/>
          </a:p>
        </p:txBody>
      </p:sp>
      <p:sp>
        <p:nvSpPr>
          <p:cNvPr id="4" name="Text 2"/>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7A7787"/>
                </a:solidFill>
                <a:latin typeface="Courier New" pitchFamily="34" charset="0"/>
                <a:ea typeface="Courier New" pitchFamily="34" charset="-122"/>
                <a:cs typeface="Courier New" pitchFamily="34" charset="-120"/>
              </a:rPr>
              <a:t>7</a:t>
            </a:r>
            <a:endParaRPr lang="en-US" sz="1000" dirty="0"/>
          </a:p>
        </p:txBody>
      </p:sp>
      <p:sp>
        <p:nvSpPr>
          <p:cNvPr id="5" name="Shape 3"/>
          <p:cNvSpPr/>
          <p:nvPr/>
        </p:nvSpPr>
        <p:spPr>
          <a:xfrm>
            <a:off x="548640" y="1417320"/>
            <a:ext cx="5394960" cy="1691640"/>
          </a:xfrm>
          <a:prstGeom prst="roundRect">
            <a:avLst>
              <a:gd name="adj" fmla="val 3243"/>
            </a:avLst>
          </a:prstGeom>
          <a:solidFill>
            <a:srgbClr val="F8E7E5"/>
          </a:solidFill>
          <a:ln w="9525">
            <a:solidFill>
              <a:srgbClr val="B23A30"/>
            </a:solidFill>
            <a:prstDash val="solid"/>
          </a:ln>
        </p:spPr>
      </p:sp>
      <p:sp>
        <p:nvSpPr>
          <p:cNvPr id="6" name="Text 4"/>
          <p:cNvSpPr txBox="1"/>
          <p:nvPr/>
        </p:nvSpPr>
        <p:spPr>
          <a:xfrm>
            <a:off x="777240" y="1600200"/>
            <a:ext cx="1828800" cy="274320"/>
          </a:xfrm>
          <a:prstGeom prst="rect">
            <a:avLst/>
          </a:prstGeom>
          <a:noFill/>
          <a:ln/>
        </p:spPr>
        <p:txBody>
          <a:bodyPr wrap="square" lIns="0" tIns="0" rIns="0" bIns="0" rtlCol="0" anchor="ctr"/>
          <a:lstStyle/>
          <a:p>
            <a:pPr indent="0" marL="0">
              <a:buNone/>
            </a:pPr>
            <a:r>
              <a:rPr lang="en-US" sz="1500" b="1" dirty="0">
                <a:solidFill>
                  <a:srgbClr val="B23A30"/>
                </a:solidFill>
                <a:latin typeface="Calibri" pitchFamily="34" charset="0"/>
                <a:ea typeface="Calibri" pitchFamily="34" charset="-122"/>
                <a:cs typeface="Calibri" pitchFamily="34" charset="-120"/>
              </a:rPr>
              <a:t>Antes</a:t>
            </a:r>
            <a:endParaRPr lang="en-US" sz="1500" dirty="0"/>
          </a:p>
        </p:txBody>
      </p:sp>
      <p:sp>
        <p:nvSpPr>
          <p:cNvPr id="7" name="Text 5"/>
          <p:cNvSpPr txBox="1"/>
          <p:nvPr/>
        </p:nvSpPr>
        <p:spPr>
          <a:xfrm>
            <a:off x="777240" y="1965960"/>
            <a:ext cx="4937760" cy="1005840"/>
          </a:xfrm>
          <a:prstGeom prst="rect">
            <a:avLst/>
          </a:prstGeom>
          <a:noFill/>
          <a:ln/>
        </p:spPr>
        <p:txBody>
          <a:bodyPr wrap="square" lIns="0" tIns="0" rIns="0" bIns="0" rtlCol="0" anchor="ctr"/>
          <a:lstStyle/>
          <a:p>
            <a:pPr indent="0" marL="0">
              <a:lnSpc>
                <a:spcPts val="2000"/>
              </a:lnSpc>
              <a:buNone/>
            </a:pPr>
            <a:r>
              <a:rPr lang="en-US" sz="1300" dirty="0">
                <a:solidFill>
                  <a:srgbClr val="4E4B59"/>
                </a:solidFill>
                <a:latin typeface="Calibri" pitchFamily="34" charset="0"/>
                <a:ea typeface="Calibri" pitchFamily="34" charset="-122"/>
                <a:cs typeface="Calibri" pitchFamily="34" charset="-120"/>
              </a:rPr>
              <a:t>Physics2D.OverlapCircle al pulsar E: una consulta a ciegas, fuera del ciclo de física, que devolvía un collider cualquiera del montón. Nada podía avisar al jugador antes de la pulsación.</a:t>
            </a:r>
            <a:endParaRPr lang="en-US" sz="1300" dirty="0"/>
          </a:p>
        </p:txBody>
      </p:sp>
      <p:sp>
        <p:nvSpPr>
          <p:cNvPr id="8" name="Shape 6"/>
          <p:cNvSpPr/>
          <p:nvPr/>
        </p:nvSpPr>
        <p:spPr>
          <a:xfrm>
            <a:off x="6217920" y="1417320"/>
            <a:ext cx="5394960" cy="1691640"/>
          </a:xfrm>
          <a:prstGeom prst="roundRect">
            <a:avLst>
              <a:gd name="adj" fmla="val 3243"/>
            </a:avLst>
          </a:prstGeom>
          <a:solidFill>
            <a:srgbClr val="E4F2E8"/>
          </a:solidFill>
          <a:ln w="9525">
            <a:solidFill>
              <a:srgbClr val="2F7F4C"/>
            </a:solidFill>
            <a:prstDash val="solid"/>
          </a:ln>
        </p:spPr>
      </p:sp>
      <p:sp>
        <p:nvSpPr>
          <p:cNvPr id="9" name="Text 7"/>
          <p:cNvSpPr txBox="1"/>
          <p:nvPr/>
        </p:nvSpPr>
        <p:spPr>
          <a:xfrm>
            <a:off x="6446520" y="1600200"/>
            <a:ext cx="1828800" cy="274320"/>
          </a:xfrm>
          <a:prstGeom prst="rect">
            <a:avLst/>
          </a:prstGeom>
          <a:noFill/>
          <a:ln/>
        </p:spPr>
        <p:txBody>
          <a:bodyPr wrap="square" lIns="0" tIns="0" rIns="0" bIns="0" rtlCol="0" anchor="ctr"/>
          <a:lstStyle/>
          <a:p>
            <a:pPr indent="0" marL="0">
              <a:buNone/>
            </a:pPr>
            <a:r>
              <a:rPr lang="en-US" sz="1500" b="1" dirty="0">
                <a:solidFill>
                  <a:srgbClr val="2F7F4C"/>
                </a:solidFill>
                <a:latin typeface="Calibri" pitchFamily="34" charset="0"/>
                <a:ea typeface="Calibri" pitchFamily="34" charset="-122"/>
                <a:cs typeface="Calibri" pitchFamily="34" charset="-120"/>
              </a:rPr>
              <a:t>Ahora</a:t>
            </a:r>
            <a:endParaRPr lang="en-US" sz="1500" dirty="0"/>
          </a:p>
        </p:txBody>
      </p:sp>
      <p:sp>
        <p:nvSpPr>
          <p:cNvPr id="10" name="Text 8"/>
          <p:cNvSpPr txBox="1"/>
          <p:nvPr/>
        </p:nvSpPr>
        <p:spPr>
          <a:xfrm>
            <a:off x="6446520" y="1965960"/>
            <a:ext cx="4937760" cy="1005840"/>
          </a:xfrm>
          <a:prstGeom prst="rect">
            <a:avLst/>
          </a:prstGeom>
          <a:noFill/>
          <a:ln/>
        </p:spPr>
        <p:txBody>
          <a:bodyPr wrap="square" lIns="0" tIns="0" rIns="0" bIns="0" rtlCol="0" anchor="ctr"/>
          <a:lstStyle/>
          <a:p>
            <a:pPr indent="0" marL="0">
              <a:lnSpc>
                <a:spcPts val="2000"/>
              </a:lnSpc>
              <a:buNone/>
            </a:pPr>
            <a:r>
              <a:rPr lang="en-US" sz="1300" dirty="0">
                <a:solidFill>
                  <a:srgbClr val="4E4B59"/>
                </a:solidFill>
                <a:latin typeface="Calibri" pitchFamily="34" charset="0"/>
                <a:ea typeface="Calibri" pitchFamily="34" charset="-122"/>
                <a:cs typeface="Calibri" pitchFamily="34" charset="-120"/>
              </a:rPr>
              <a:t>InteractionSensor mantiene los candidatos con OnTriggerEnter2D y OnTriggerExit2D. Es cálculo que la simulación ya hace, así que el coste queda amortizado y se elige el más cercano.</a:t>
            </a:r>
            <a:endParaRPr lang="en-US" sz="1300" dirty="0"/>
          </a:p>
        </p:txBody>
      </p:sp>
      <p:sp>
        <p:nvSpPr>
          <p:cNvPr id="11" name="Shape 9"/>
          <p:cNvSpPr/>
          <p:nvPr/>
        </p:nvSpPr>
        <p:spPr>
          <a:xfrm>
            <a:off x="548640" y="3291840"/>
            <a:ext cx="11064240" cy="1234440"/>
          </a:xfrm>
          <a:prstGeom prst="roundRect">
            <a:avLst>
              <a:gd name="adj" fmla="val 4444"/>
            </a:avLst>
          </a:prstGeom>
          <a:solidFill>
            <a:srgbClr val="F6EEDE"/>
          </a:solidFill>
          <a:ln w="9525">
            <a:solidFill>
              <a:srgbClr val="E7A93F"/>
            </a:solidFill>
            <a:prstDash val="solid"/>
          </a:ln>
        </p:spPr>
      </p:sp>
      <p:sp>
        <p:nvSpPr>
          <p:cNvPr id="12" name="Text 10"/>
          <p:cNvSpPr txBox="1"/>
          <p:nvPr/>
        </p:nvSpPr>
        <p:spPr>
          <a:xfrm>
            <a:off x="777240" y="3456432"/>
            <a:ext cx="3840480" cy="274320"/>
          </a:xfrm>
          <a:prstGeom prst="rect">
            <a:avLst/>
          </a:prstGeom>
          <a:noFill/>
          <a:ln/>
        </p:spPr>
        <p:txBody>
          <a:bodyPr wrap="square" lIns="0" tIns="0" rIns="0" bIns="0" rtlCol="0" anchor="ctr"/>
          <a:lstStyle/>
          <a:p>
            <a:pPr indent="0" marL="0">
              <a:buNone/>
            </a:pPr>
            <a:r>
              <a:rPr lang="en-US" sz="1500" b="1" dirty="0">
                <a:solidFill>
                  <a:srgbClr val="9A681F"/>
                </a:solidFill>
                <a:latin typeface="Calibri" pitchFamily="34" charset="0"/>
                <a:ea typeface="Calibri" pitchFamily="34" charset="-122"/>
                <a:cs typeface="Calibri" pitchFamily="34" charset="-120"/>
              </a:rPr>
              <a:t>El agujero que abrió esa mejora</a:t>
            </a:r>
            <a:endParaRPr lang="en-US" sz="1500" dirty="0"/>
          </a:p>
        </p:txBody>
      </p:sp>
      <p:sp>
        <p:nvSpPr>
          <p:cNvPr id="13" name="Text 11"/>
          <p:cNvSpPr txBox="1"/>
          <p:nvPr/>
        </p:nvSpPr>
        <p:spPr>
          <a:xfrm>
            <a:off x="777240" y="3794760"/>
            <a:ext cx="10607040" cy="640080"/>
          </a:xfrm>
          <a:prstGeom prst="rect">
            <a:avLst/>
          </a:prstGeom>
          <a:noFill/>
          <a:ln/>
        </p:spPr>
        <p:txBody>
          <a:bodyPr wrap="square" lIns="0" tIns="0" rIns="0" bIns="0" rtlCol="0" anchor="ctr"/>
          <a:lstStyle/>
          <a:p>
            <a:pPr indent="0" marL="0">
              <a:lnSpc>
                <a:spcPts val="2000"/>
              </a:lnSpc>
              <a:buNone/>
            </a:pPr>
            <a:r>
              <a:rPr lang="en-US" sz="1300" dirty="0">
                <a:solidFill>
                  <a:srgbClr val="4E4B59"/>
                </a:solidFill>
                <a:latin typeface="Calibri" pitchFamily="34" charset="0"/>
                <a:ea typeface="Calibri" pitchFamily="34" charset="-122"/>
                <a:cs typeface="Calibri" pitchFamily="34" charset="-120"/>
              </a:rPr>
              <a:t>El jugador pasó a llevar dos colliders, así que cada trigger de la escena recibía el evento dos veces. Sin protección, ExitTrigger cargaba la sala siguiente dos veces y te saltabas un nivel; la trampa restaba dos vidas de golpe. Los dos llevan ahora un pestillo de un solo uso.</a:t>
            </a:r>
            <a:endParaRPr lang="en-US" sz="1300" dirty="0"/>
          </a:p>
        </p:txBody>
      </p:sp>
      <p:sp>
        <p:nvSpPr>
          <p:cNvPr id="14" name="Shape 12"/>
          <p:cNvSpPr/>
          <p:nvPr/>
        </p:nvSpPr>
        <p:spPr>
          <a:xfrm>
            <a:off x="548640" y="4709160"/>
            <a:ext cx="11064240" cy="1371600"/>
          </a:xfrm>
          <a:prstGeom prst="roundRect">
            <a:avLst>
              <a:gd name="adj" fmla="val 4000"/>
            </a:avLst>
          </a:prstGeom>
          <a:solidFill>
            <a:srgbClr val="FFFFFF"/>
          </a:solidFill>
          <a:ln w="9525">
            <a:solidFill>
              <a:srgbClr val="D9D6E1"/>
            </a:solidFill>
            <a:prstDash val="solid"/>
          </a:ln>
        </p:spPr>
      </p:sp>
      <p:sp>
        <p:nvSpPr>
          <p:cNvPr id="15" name="Text 13"/>
          <p:cNvSpPr txBox="1"/>
          <p:nvPr/>
        </p:nvSpPr>
        <p:spPr>
          <a:xfrm>
            <a:off x="777240" y="4873752"/>
            <a:ext cx="3657600" cy="274320"/>
          </a:xfrm>
          <a:prstGeom prst="rect">
            <a:avLst/>
          </a:prstGeom>
          <a:noFill/>
          <a:ln/>
        </p:spPr>
        <p:txBody>
          <a:bodyPr wrap="square" lIns="0" tIns="0" rIns="0" bIns="0" rtlCol="0" anchor="ctr"/>
          <a:lstStyle/>
          <a:p>
            <a:pPr indent="0" marL="0">
              <a:buNone/>
            </a:pPr>
            <a:r>
              <a:rPr lang="en-US" sz="1500" b="1" dirty="0">
                <a:solidFill>
                  <a:srgbClr val="23222A"/>
                </a:solidFill>
                <a:latin typeface="Calibri" pitchFamily="34" charset="0"/>
                <a:ea typeface="Calibri" pitchFamily="34" charset="-122"/>
                <a:cs typeface="Calibri" pitchFamily="34" charset="-120"/>
              </a:rPr>
              <a:t>Y el punto ciego del guardia, cerrado</a:t>
            </a:r>
            <a:endParaRPr lang="en-US" sz="1500" dirty="0"/>
          </a:p>
        </p:txBody>
      </p:sp>
      <p:sp>
        <p:nvSpPr>
          <p:cNvPr id="16" name="Text 14"/>
          <p:cNvSpPr txBox="1"/>
          <p:nvPr/>
        </p:nvSpPr>
        <p:spPr>
          <a:xfrm>
            <a:off x="777240" y="5230368"/>
            <a:ext cx="3840480" cy="256032"/>
          </a:xfrm>
          <a:prstGeom prst="rect">
            <a:avLst/>
          </a:prstGeom>
          <a:noFill/>
          <a:ln/>
        </p:spPr>
        <p:txBody>
          <a:bodyPr wrap="square" lIns="0" tIns="0" rIns="0" bIns="0" rtlCol="0" anchor="ctr"/>
          <a:lstStyle/>
          <a:p>
            <a:pPr indent="0" marL="0">
              <a:lnSpc>
                <a:spcPts val="1500"/>
              </a:lnSpc>
              <a:buNone/>
            </a:pPr>
            <a:r>
              <a:rPr lang="en-US" sz="1200" dirty="0">
                <a:solidFill>
                  <a:srgbClr val="9A681F"/>
                </a:solidFill>
                <a:latin typeface="Courier New" pitchFamily="34" charset="0"/>
                <a:ea typeface="Courier New" pitchFamily="34" charset="-122"/>
                <a:cs typeface="Courier New" pitchFamily="34" charset="-120"/>
              </a:rPr>
              <a:t>Rb.useFullKinematicContacts = true;</a:t>
            </a:r>
            <a:endParaRPr lang="en-US" sz="1200" dirty="0"/>
          </a:p>
        </p:txBody>
      </p:sp>
      <p:sp>
        <p:nvSpPr>
          <p:cNvPr id="17" name="Text 15"/>
          <p:cNvSpPr txBox="1"/>
          <p:nvPr/>
        </p:nvSpPr>
        <p:spPr>
          <a:xfrm>
            <a:off x="4572000" y="4937760"/>
            <a:ext cx="6949440" cy="960120"/>
          </a:xfrm>
          <a:prstGeom prst="rect">
            <a:avLst/>
          </a:prstGeom>
          <a:noFill/>
          <a:ln/>
        </p:spPr>
        <p:txBody>
          <a:bodyPr wrap="square" lIns="0" tIns="0" rIns="0" bIns="0" rtlCol="0" anchor="ctr"/>
          <a:lstStyle/>
          <a:p>
            <a:pPr indent="0" marL="0">
              <a:lnSpc>
                <a:spcPts val="2000"/>
              </a:lnSpc>
              <a:buNone/>
            </a:pPr>
            <a:r>
              <a:rPr lang="en-US" sz="1300" dirty="0">
                <a:solidFill>
                  <a:srgbClr val="4E4B59"/>
                </a:solidFill>
                <a:latin typeface="Calibri" pitchFamily="34" charset="0"/>
                <a:ea typeface="Calibri" pitchFamily="34" charset="-122"/>
                <a:cs typeface="Calibri" pitchFamily="34" charset="-120"/>
              </a:rPr>
              <a:t>Un Rigidbody2D cinemático no reporta contactos salvo que se le pida. GuardBase añade OnCollisionEnter2D, así que chocar de frente con un guardia te descubre al instante aunque su cono mire al otro lado. Antes, pegarse a su espalda era impunidad total.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9"/>
        </a:solidFill>
      </p:bgPr>
    </p:bg>
    <p:spTree>
      <p:nvGrpSpPr>
        <p:cNvPr id="1" name=""/>
        <p:cNvGrpSpPr/>
        <p:nvPr/>
      </p:nvGrpSpPr>
      <p:grpSpPr>
        <a:xfrm>
          <a:off x="0" y="0"/>
          <a:ext cx="0" cy="0"/>
          <a:chOff x="0" y="0"/>
          <a:chExt cx="0" cy="0"/>
        </a:xfrm>
      </p:grpSpPr>
      <p:sp>
        <p:nvSpPr>
          <p:cNvPr id="2" name="Text 0"/>
          <p:cNvSpPr txBox="1"/>
          <p:nvPr/>
        </p:nvSpPr>
        <p:spPr>
          <a:xfrm>
            <a:off x="548640" y="329184"/>
            <a:ext cx="11064240" cy="237744"/>
          </a:xfrm>
          <a:prstGeom prst="rect">
            <a:avLst/>
          </a:prstGeom>
          <a:noFill/>
          <a:ln/>
        </p:spPr>
        <p:txBody>
          <a:bodyPr wrap="square" lIns="0" tIns="0" rIns="0" bIns="0" rtlCol="0" anchor="ctr"/>
          <a:lstStyle/>
          <a:p>
            <a:pPr indent="0" marL="0">
              <a:buNone/>
            </a:pPr>
            <a:r>
              <a:rPr lang="en-US" sz="1100" spc="140" kern="0" dirty="0">
                <a:solidFill>
                  <a:srgbClr val="9A681F"/>
                </a:solidFill>
                <a:latin typeface="Courier New" pitchFamily="34" charset="0"/>
                <a:ea typeface="Courier New" pitchFamily="34" charset="-122"/>
                <a:cs typeface="Courier New" pitchFamily="34" charset="-120"/>
              </a:rPr>
              <a:t>03 · OBJETOS INTERACTIVOS</a:t>
            </a:r>
            <a:endParaRPr lang="en-US" sz="1100" dirty="0"/>
          </a:p>
        </p:txBody>
      </p:sp>
      <p:sp>
        <p:nvSpPr>
          <p:cNvPr id="3" name="Text 1"/>
          <p:cNvSpPr txBox="1"/>
          <p:nvPr/>
        </p:nvSpPr>
        <p:spPr>
          <a:xfrm>
            <a:off x="548640" y="585216"/>
            <a:ext cx="10515600" cy="658368"/>
          </a:xfrm>
          <a:prstGeom prst="rect">
            <a:avLst/>
          </a:prstGeom>
          <a:noFill/>
          <a:ln/>
        </p:spPr>
        <p:txBody>
          <a:bodyPr wrap="square" lIns="0" tIns="0" rIns="0" bIns="0" rtlCol="0" anchor="ctr"/>
          <a:lstStyle/>
          <a:p>
            <a:pPr indent="0" marL="0">
              <a:buNone/>
            </a:pPr>
            <a:r>
              <a:rPr lang="en-US" sz="3000" b="1" dirty="0">
                <a:solidFill>
                  <a:srgbClr val="23222A"/>
                </a:solidFill>
                <a:latin typeface="Calibri" pitchFamily="34" charset="0"/>
                <a:ea typeface="Calibri" pitchFamily="34" charset="-122"/>
                <a:cs typeface="Calibri" pitchFamily="34" charset="-120"/>
              </a:rPr>
              <a:t>Seis objetos, y el problema del bool</a:t>
            </a:r>
            <a:endParaRPr lang="en-US" sz="3000" dirty="0"/>
          </a:p>
        </p:txBody>
      </p:sp>
      <p:sp>
        <p:nvSpPr>
          <p:cNvPr id="4" name="Text 2"/>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7A7787"/>
                </a:solidFill>
                <a:latin typeface="Courier New" pitchFamily="34" charset="0"/>
                <a:ea typeface="Courier New" pitchFamily="34" charset="-122"/>
                <a:cs typeface="Courier New"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577840" cy="914400"/>
        </p:xfrm>
        <a:graphic>
          <a:graphicData uri="http://schemas.openxmlformats.org/drawingml/2006/table">
            <a:tbl>
              <a:tblPr/>
              <a:tblGrid>
                <a:gridCol w="1417320"/>
                <a:gridCol w="1874520"/>
                <a:gridCol w="2286000"/>
              </a:tblGrid>
              <a:tr h="310896">
                <a:tc>
                  <a:txBody>
                    <a:bodyPr/>
                    <a:lstStyle/>
                    <a:p>
                      <a:pPr indent="0" marL="0">
                        <a:buNone/>
                      </a:pPr>
                      <a:r>
                        <a:rPr lang="en-US" sz="1150" b="1" dirty="0">
                          <a:solidFill>
                            <a:srgbClr val="4E4B59"/>
                          </a:solidFill>
                          <a:latin typeface="Calibri" pitchFamily="34" charset="0"/>
                          <a:ea typeface="Calibri" pitchFamily="34" charset="-122"/>
                          <a:cs typeface="Calibri" pitchFamily="34" charset="-120"/>
                        </a:rPr>
                        <a:t>Objeto</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b="1" dirty="0">
                          <a:solidFill>
                            <a:srgbClr val="4E4B59"/>
                          </a:solidFill>
                          <a:latin typeface="Calibri" pitchFamily="34" charset="0"/>
                          <a:ea typeface="Calibri" pitchFamily="34" charset="-122"/>
                          <a:cs typeface="Calibri" pitchFamily="34" charset="-120"/>
                        </a:rPr>
                        <a:t>Se activa por</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b="1" dirty="0">
                          <a:solidFill>
                            <a:srgbClr val="4E4B59"/>
                          </a:solidFill>
                          <a:latin typeface="Calibri" pitchFamily="34" charset="0"/>
                          <a:ea typeface="Calibri" pitchFamily="34" charset="-122"/>
                          <a:cs typeface="Calibri" pitchFamily="34" charset="-120"/>
                        </a:rPr>
                        <a:t>Respuesta</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Key</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trigger + E</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Abre su puerta y se consume</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Lever</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trigger + E</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Conmuta su puerta</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Stone</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E recoger · F lanzar</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Genera un proyectil</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Door</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mensaje de otro objeto</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Anima escala y apaga su collider</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310896">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ExitTrigger</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solo colisión</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dirty="0">
                          <a:solidFill>
                            <a:srgbClr val="4E4B59"/>
                          </a:solidFill>
                          <a:latin typeface="Calibri" pitchFamily="34" charset="0"/>
                          <a:ea typeface="Calibri" pitchFamily="34" charset="-122"/>
                          <a:cs typeface="Calibri" pitchFamily="34" charset="-120"/>
                        </a:rPr>
                        <a:t>Siguiente sala o victoria</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9A681F"/>
                          </a:solidFill>
                          <a:latin typeface="Calibri" pitchFamily="34" charset="0"/>
                          <a:ea typeface="Calibri" pitchFamily="34" charset="-122"/>
                          <a:cs typeface="Calibri" pitchFamily="34" charset="-120"/>
                        </a:rPr>
                        <a:t>PressurePlate</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b="1" dirty="0">
                          <a:solidFill>
                            <a:srgbClr val="9A681F"/>
                          </a:solidFill>
                          <a:latin typeface="Calibri" pitchFamily="34" charset="0"/>
                          <a:ea typeface="Calibri" pitchFamily="34" charset="-122"/>
                          <a:cs typeface="Calibri" pitchFamily="34" charset="-120"/>
                        </a:rPr>
                        <a:t>solo colisión</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50" b="1" dirty="0">
                          <a:solidFill>
                            <a:srgbClr val="9A681F"/>
                          </a:solidFill>
                          <a:latin typeface="Calibri" pitchFamily="34" charset="0"/>
                          <a:ea typeface="Calibri" pitchFamily="34" charset="-122"/>
                          <a:cs typeface="Calibri" pitchFamily="34" charset="-120"/>
                        </a:rPr>
                        <a:t>Mantiene la puerta abierta</a:t>
                      </a:r>
                      <a:endParaRPr lang="en-US" sz="1150" dirty="0">
                        <a:latin typeface="Calibri" charset="0"/>
                        <a:ea typeface="Calibri" charset="0"/>
                        <a:cs typeface="Calibri"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0" y="1463040"/>
            <a:ext cx="5212080" cy="2286000"/>
          </a:xfrm>
          <a:prstGeom prst="roundRect">
            <a:avLst>
              <a:gd name="adj" fmla="val 2400"/>
            </a:avLst>
          </a:prstGeom>
          <a:solidFill>
            <a:srgbClr val="F8E7E5"/>
          </a:solidFill>
          <a:ln w="9525">
            <a:solidFill>
              <a:srgbClr val="B23A30"/>
            </a:solidFill>
            <a:prstDash val="solid"/>
          </a:ln>
        </p:spPr>
      </p:sp>
      <p:sp>
        <p:nvSpPr>
          <p:cNvPr id="7" name="Text 4"/>
          <p:cNvSpPr txBox="1"/>
          <p:nvPr/>
        </p:nvSpPr>
        <p:spPr>
          <a:xfrm>
            <a:off x="6629400" y="1645920"/>
            <a:ext cx="3657600" cy="274320"/>
          </a:xfrm>
          <a:prstGeom prst="rect">
            <a:avLst/>
          </a:prstGeom>
          <a:noFill/>
          <a:ln/>
        </p:spPr>
        <p:txBody>
          <a:bodyPr wrap="square" lIns="0" tIns="0" rIns="0" bIns="0" rtlCol="0" anchor="ctr"/>
          <a:lstStyle/>
          <a:p>
            <a:pPr indent="0" marL="0">
              <a:buNone/>
            </a:pPr>
            <a:r>
              <a:rPr lang="en-US" sz="1500" b="1" dirty="0">
                <a:solidFill>
                  <a:srgbClr val="B23A30"/>
                </a:solidFill>
                <a:latin typeface="Calibri" pitchFamily="34" charset="0"/>
                <a:ea typeface="Calibri" pitchFamily="34" charset="-122"/>
                <a:cs typeface="Calibri" pitchFamily="34" charset="-120"/>
              </a:rPr>
              <a:t>Con un bool se rompe</a:t>
            </a:r>
            <a:endParaRPr lang="en-US" sz="1500" dirty="0"/>
          </a:p>
        </p:txBody>
      </p:sp>
      <p:sp>
        <p:nvSpPr>
          <p:cNvPr id="8" name="Text 5"/>
          <p:cNvSpPr txBox="1"/>
          <p:nvPr/>
        </p:nvSpPr>
        <p:spPr>
          <a:xfrm>
            <a:off x="6629400" y="2011680"/>
            <a:ext cx="4754880" cy="1554480"/>
          </a:xfrm>
          <a:prstGeom prst="rect">
            <a:avLst/>
          </a:prstGeom>
          <a:noFill/>
          <a:ln/>
        </p:spPr>
        <p:txBody>
          <a:bodyPr wrap="square" lIns="0" tIns="0" rIns="0" bIns="0" rtlCol="0" anchor="ctr"/>
          <a:lstStyle/>
          <a:p>
            <a:pPr indent="0" marL="0">
              <a:lnSpc>
                <a:spcPts val="2100"/>
              </a:lnSpc>
              <a:buNone/>
            </a:pPr>
            <a:r>
              <a:rPr lang="en-US" sz="1300" dirty="0">
                <a:solidFill>
                  <a:srgbClr val="4E4B59"/>
                </a:solidFill>
                <a:latin typeface="Calibri" pitchFamily="34" charset="0"/>
                <a:ea typeface="Calibri" pitchFamily="34" charset="-122"/>
                <a:cs typeface="Calibri" pitchFamily="34" charset="-120"/>
              </a:rPr>
              <a:t>1.  el héroe entra  →  true</a:t>
            </a:r>
            <a:endParaRPr lang="en-US" sz="1300" dirty="0"/>
          </a:p>
          <a:p>
            <a:pPr indent="0" marL="0">
              <a:lnSpc>
                <a:spcPts val="2100"/>
              </a:lnSpc>
              <a:buNone/>
            </a:pPr>
            <a:r>
              <a:rPr lang="en-US" sz="1300" dirty="0">
                <a:solidFill>
                  <a:srgbClr val="4E4B59"/>
                </a:solidFill>
                <a:latin typeface="Calibri" pitchFamily="34" charset="0"/>
                <a:ea typeface="Calibri" pitchFamily="34" charset="-122"/>
                <a:cs typeface="Calibri" pitchFamily="34" charset="-120"/>
              </a:rPr>
              <a:t>2.  otro cuerpo entra  →  true</a:t>
            </a:r>
            <a:endParaRPr lang="en-US" sz="1300" dirty="0"/>
          </a:p>
          <a:p>
            <a:pPr indent="0" marL="0">
              <a:lnSpc>
                <a:spcPts val="2100"/>
              </a:lnSpc>
              <a:buNone/>
            </a:pPr>
            <a:r>
              <a:rPr lang="en-US" sz="1300" dirty="0">
                <a:solidFill>
                  <a:srgbClr val="4E4B59"/>
                </a:solidFill>
                <a:latin typeface="Calibri" pitchFamily="34" charset="0"/>
                <a:ea typeface="Calibri" pitchFamily="34" charset="-122"/>
                <a:cs typeface="Calibri" pitchFamily="34" charset="-120"/>
              </a:rPr>
              <a:t>3.  ese otro cuerpo sale  →  false</a:t>
            </a:r>
            <a:endParaRPr lang="en-US" sz="1300" dirty="0"/>
          </a:p>
          <a:p>
            <a:pPr indent="0" marL="0">
              <a:lnSpc>
                <a:spcPts val="2100"/>
              </a:lnSpc>
              <a:buNone/>
            </a:pPr>
            <a:r>
              <a:rPr lang="en-US" sz="1300" dirty="0">
                <a:solidFill>
                  <a:srgbClr val="4E4B59"/>
                </a:solidFill>
                <a:latin typeface="Calibri" pitchFamily="34" charset="0"/>
                <a:ea typeface="Calibri" pitchFamily="34" charset="-122"/>
                <a:cs typeface="Calibri" pitchFamily="34" charset="-120"/>
              </a:rPr>
              <a:t>…y la puerta se cierra con el héroe todavía encima.</a:t>
            </a:r>
            <a:endParaRPr lang="en-US" sz="1300" dirty="0"/>
          </a:p>
        </p:txBody>
      </p:sp>
      <p:sp>
        <p:nvSpPr>
          <p:cNvPr id="9" name="Shape 6"/>
          <p:cNvSpPr/>
          <p:nvPr/>
        </p:nvSpPr>
        <p:spPr>
          <a:xfrm>
            <a:off x="6400800" y="3886200"/>
            <a:ext cx="5212080" cy="2194560"/>
          </a:xfrm>
          <a:prstGeom prst="roundRect">
            <a:avLst>
              <a:gd name="adj" fmla="val 2500"/>
            </a:avLst>
          </a:prstGeom>
          <a:solidFill>
            <a:srgbClr val="E4F2E8"/>
          </a:solidFill>
          <a:ln w="9525">
            <a:solidFill>
              <a:srgbClr val="2F7F4C"/>
            </a:solidFill>
            <a:prstDash val="solid"/>
          </a:ln>
        </p:spPr>
      </p:sp>
      <p:sp>
        <p:nvSpPr>
          <p:cNvPr id="10" name="Text 7"/>
          <p:cNvSpPr txBox="1"/>
          <p:nvPr/>
        </p:nvSpPr>
        <p:spPr>
          <a:xfrm>
            <a:off x="6629400" y="4069080"/>
            <a:ext cx="4114800" cy="274320"/>
          </a:xfrm>
          <a:prstGeom prst="rect">
            <a:avLst/>
          </a:prstGeom>
          <a:noFill/>
          <a:ln/>
        </p:spPr>
        <p:txBody>
          <a:bodyPr wrap="square" lIns="0" tIns="0" rIns="0" bIns="0" rtlCol="0" anchor="ctr"/>
          <a:lstStyle/>
          <a:p>
            <a:pPr indent="0" marL="0">
              <a:buNone/>
            </a:pPr>
            <a:r>
              <a:rPr lang="en-US" sz="1500" b="1" dirty="0">
                <a:solidFill>
                  <a:srgbClr val="2F7F4C"/>
                </a:solidFill>
                <a:latin typeface="Calibri" pitchFamily="34" charset="0"/>
                <a:ea typeface="Calibri" pitchFamily="34" charset="-122"/>
                <a:cs typeface="Calibri" pitchFamily="34" charset="-120"/>
              </a:rPr>
              <a:t>Un conjunto de ocupantes</a:t>
            </a:r>
            <a:endParaRPr lang="en-US" sz="1500" dirty="0"/>
          </a:p>
        </p:txBody>
      </p:sp>
      <p:sp>
        <p:nvSpPr>
          <p:cNvPr id="11" name="Text 8"/>
          <p:cNvSpPr txBox="1"/>
          <p:nvPr/>
        </p:nvSpPr>
        <p:spPr>
          <a:xfrm>
            <a:off x="6629400" y="4434840"/>
            <a:ext cx="4754880" cy="914400"/>
          </a:xfrm>
          <a:prstGeom prst="rect">
            <a:avLst/>
          </a:prstGeom>
          <a:noFill/>
          <a:ln/>
        </p:spPr>
        <p:txBody>
          <a:bodyPr wrap="square" lIns="0" tIns="0" rIns="0" bIns="0" rtlCol="0" anchor="ctr"/>
          <a:lstStyle/>
          <a:p>
            <a:pPr indent="0" marL="0">
              <a:lnSpc>
                <a:spcPts val="2000"/>
              </a:lnSpc>
              <a:buNone/>
            </a:pPr>
            <a:r>
              <a:rPr lang="en-US" sz="1300" dirty="0">
                <a:solidFill>
                  <a:srgbClr val="4E4B59"/>
                </a:solidFill>
                <a:latin typeface="Calibri" pitchFamily="34" charset="0"/>
                <a:ea typeface="Calibri" pitchFamily="34" charset="-122"/>
                <a:cs typeface="Calibri" pitchFamily="34" charset="-120"/>
              </a:rPr>
              <a:t>La placa se suelta solo cuando el conjunto queda vacío, y hace un barrido para descartar ocupantes destruidos, porque un objeto que desaparece no siempre emite su Exit.</a:t>
            </a:r>
            <a:endParaRPr lang="en-US" sz="1300" dirty="0"/>
          </a:p>
        </p:txBody>
      </p:sp>
      <p:sp>
        <p:nvSpPr>
          <p:cNvPr id="12" name="Text 9"/>
          <p:cNvSpPr txBox="1"/>
          <p:nvPr/>
        </p:nvSpPr>
        <p:spPr>
          <a:xfrm>
            <a:off x="6629400" y="5394960"/>
            <a:ext cx="4754880" cy="548640"/>
          </a:xfrm>
          <a:prstGeom prst="rect">
            <a:avLst/>
          </a:prstGeom>
          <a:noFill/>
          <a:ln/>
        </p:spPr>
        <p:txBody>
          <a:bodyPr wrap="square" lIns="0" tIns="0" rIns="0" bIns="0" rtlCol="0" anchor="ctr"/>
          <a:lstStyle/>
          <a:p>
            <a:pPr indent="0" marL="0">
              <a:lnSpc>
                <a:spcPts val="2000"/>
              </a:lnSpc>
              <a:buNone/>
            </a:pPr>
            <a:r>
              <a:rPr lang="en-US" sz="1250" b="1" dirty="0">
                <a:solidFill>
                  <a:srgbClr val="2F7F4C"/>
                </a:solidFill>
                <a:latin typeface="Calibri" pitchFamily="34" charset="0"/>
                <a:ea typeface="Calibri" pitchFamily="34" charset="-122"/>
                <a:cs typeface="Calibri" pitchFamily="34" charset="-120"/>
              </a:rPr>
              <a:t>No es un caso rebuscado: el héroe aporta dos colliders y un guardia puede pisarla a la vez.</a:t>
            </a:r>
            <a:endParaRPr lang="en-US" sz="1250" dirty="0"/>
          </a:p>
        </p:txBody>
      </p:sp>
      <p:sp>
        <p:nvSpPr>
          <p:cNvPr id="13" name="Shape 10"/>
          <p:cNvSpPr/>
          <p:nvPr/>
        </p:nvSpPr>
        <p:spPr>
          <a:xfrm>
            <a:off x="548640" y="4297680"/>
            <a:ext cx="5577840" cy="1783080"/>
          </a:xfrm>
          <a:prstGeom prst="roundRect">
            <a:avLst>
              <a:gd name="adj" fmla="val 3077"/>
            </a:avLst>
          </a:prstGeom>
          <a:solidFill>
            <a:srgbClr val="FFFFFF"/>
          </a:solidFill>
          <a:ln w="9525">
            <a:solidFill>
              <a:srgbClr val="D9D6E1"/>
            </a:solidFill>
            <a:prstDash val="solid"/>
          </a:ln>
        </p:spPr>
      </p:sp>
      <p:sp>
        <p:nvSpPr>
          <p:cNvPr id="14" name="Text 11"/>
          <p:cNvSpPr txBox="1"/>
          <p:nvPr/>
        </p:nvSpPr>
        <p:spPr>
          <a:xfrm>
            <a:off x="777240" y="4480560"/>
            <a:ext cx="5120640" cy="274320"/>
          </a:xfrm>
          <a:prstGeom prst="rect">
            <a:avLst/>
          </a:prstGeom>
          <a:noFill/>
          <a:ln/>
        </p:spPr>
        <p:txBody>
          <a:bodyPr wrap="square" lIns="0" tIns="0" rIns="0" bIns="0" rtlCol="0" anchor="ctr"/>
          <a:lstStyle/>
          <a:p>
            <a:pPr indent="0" marL="0">
              <a:buNone/>
            </a:pPr>
            <a:r>
              <a:rPr lang="en-US" sz="1500" b="1" dirty="0">
                <a:solidFill>
                  <a:srgbClr val="23222A"/>
                </a:solidFill>
                <a:latin typeface="Calibri" pitchFamily="34" charset="0"/>
                <a:ea typeface="Calibri" pitchFamily="34" charset="-122"/>
                <a:cs typeface="Calibri" pitchFamily="34" charset="-120"/>
              </a:rPr>
              <a:t>Se prueba sin abrir una escena</a:t>
            </a:r>
            <a:endParaRPr lang="en-US" sz="1500" dirty="0"/>
          </a:p>
        </p:txBody>
      </p:sp>
      <p:sp>
        <p:nvSpPr>
          <p:cNvPr id="15" name="Text 12"/>
          <p:cNvSpPr txBox="1"/>
          <p:nvPr/>
        </p:nvSpPr>
        <p:spPr>
          <a:xfrm>
            <a:off x="777240" y="4846320"/>
            <a:ext cx="5120640" cy="256032"/>
          </a:xfrm>
          <a:prstGeom prst="rect">
            <a:avLst/>
          </a:prstGeom>
          <a:noFill/>
          <a:ln/>
        </p:spPr>
        <p:txBody>
          <a:bodyPr wrap="square" lIns="0" tIns="0" rIns="0" bIns="0" rtlCol="0" anchor="ctr"/>
          <a:lstStyle/>
          <a:p>
            <a:pPr indent="0" marL="0">
              <a:lnSpc>
                <a:spcPts val="1500"/>
              </a:lnSpc>
              <a:buNone/>
            </a:pPr>
            <a:r>
              <a:rPr lang="en-US" sz="1100" dirty="0">
                <a:solidFill>
                  <a:srgbClr val="9A681F"/>
                </a:solidFill>
                <a:latin typeface="Courier New" pitchFamily="34" charset="0"/>
                <a:ea typeface="Courier New" pitchFamily="34" charset="-122"/>
                <a:cs typeface="Courier New" pitchFamily="34" charset="-120"/>
              </a:rPr>
              <a:t>ShouldBePressed(ocupantes, latching, yaFijada)</a:t>
            </a:r>
            <a:endParaRPr lang="en-US" sz="1100" dirty="0"/>
          </a:p>
        </p:txBody>
      </p:sp>
      <p:sp>
        <p:nvSpPr>
          <p:cNvPr id="16" name="Text 13"/>
          <p:cNvSpPr txBox="1"/>
          <p:nvPr/>
        </p:nvSpPr>
        <p:spPr>
          <a:xfrm>
            <a:off x="777240" y="5166360"/>
            <a:ext cx="5120640" cy="731520"/>
          </a:xfrm>
          <a:prstGeom prst="rect">
            <a:avLst/>
          </a:prstGeom>
          <a:noFill/>
          <a:ln/>
        </p:spPr>
        <p:txBody>
          <a:bodyPr wrap="square" lIns="0" tIns="0" rIns="0" bIns="0" rtlCol="0" anchor="ctr"/>
          <a:lstStyle/>
          <a:p>
            <a:pPr indent="0" marL="0">
              <a:lnSpc>
                <a:spcPts val="2000"/>
              </a:lnSpc>
              <a:buNone/>
            </a:pPr>
            <a:r>
              <a:rPr lang="en-US" sz="1250" dirty="0">
                <a:solidFill>
                  <a:srgbClr val="4E4B59"/>
                </a:solidFill>
                <a:latin typeface="Calibri" pitchFamily="34" charset="0"/>
                <a:ea typeface="Calibri" pitchFamily="34" charset="-122"/>
                <a:cs typeface="Calibri" pitchFamily="34" charset="-120"/>
              </a:rPr>
              <a:t>La regla vive en una función pura y estática, cubierta por tests EditMode. No necesita instanciar nada.</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9"/>
        </a:solidFill>
      </p:bgPr>
    </p:bg>
    <p:spTree>
      <p:nvGrpSpPr>
        <p:cNvPr id="1" name=""/>
        <p:cNvGrpSpPr/>
        <p:nvPr/>
      </p:nvGrpSpPr>
      <p:grpSpPr>
        <a:xfrm>
          <a:off x="0" y="0"/>
          <a:ext cx="0" cy="0"/>
          <a:chOff x="0" y="0"/>
          <a:chExt cx="0" cy="0"/>
        </a:xfrm>
      </p:grpSpPr>
      <p:sp>
        <p:nvSpPr>
          <p:cNvPr id="2" name="Text 0"/>
          <p:cNvSpPr txBox="1"/>
          <p:nvPr/>
        </p:nvSpPr>
        <p:spPr>
          <a:xfrm>
            <a:off x="548640" y="329184"/>
            <a:ext cx="11064240" cy="237744"/>
          </a:xfrm>
          <a:prstGeom prst="rect">
            <a:avLst/>
          </a:prstGeom>
          <a:noFill/>
          <a:ln/>
        </p:spPr>
        <p:txBody>
          <a:bodyPr wrap="square" lIns="0" tIns="0" rIns="0" bIns="0" rtlCol="0" anchor="ctr"/>
          <a:lstStyle/>
          <a:p>
            <a:pPr indent="0" marL="0">
              <a:buNone/>
            </a:pPr>
            <a:r>
              <a:rPr lang="en-US" sz="1100" spc="140" kern="0" dirty="0">
                <a:solidFill>
                  <a:srgbClr val="9A681F"/>
                </a:solidFill>
                <a:latin typeface="Courier New" pitchFamily="34" charset="0"/>
                <a:ea typeface="Courier New" pitchFamily="34" charset="-122"/>
                <a:cs typeface="Courier New" pitchFamily="34" charset="-120"/>
              </a:rPr>
              <a:t>03 · OBJETOS INTERACTIVOS</a:t>
            </a:r>
            <a:endParaRPr lang="en-US" sz="1100" dirty="0"/>
          </a:p>
        </p:txBody>
      </p:sp>
      <p:sp>
        <p:nvSpPr>
          <p:cNvPr id="3" name="Text 1"/>
          <p:cNvSpPr txBox="1"/>
          <p:nvPr/>
        </p:nvSpPr>
        <p:spPr>
          <a:xfrm>
            <a:off x="548640" y="585216"/>
            <a:ext cx="10515600" cy="658368"/>
          </a:xfrm>
          <a:prstGeom prst="rect">
            <a:avLst/>
          </a:prstGeom>
          <a:noFill/>
          <a:ln/>
        </p:spPr>
        <p:txBody>
          <a:bodyPr wrap="square" lIns="0" tIns="0" rIns="0" bIns="0" rtlCol="0" anchor="ctr"/>
          <a:lstStyle/>
          <a:p>
            <a:pPr indent="0" marL="0">
              <a:buNone/>
            </a:pPr>
            <a:r>
              <a:rPr lang="en-US" sz="3000" b="1" dirty="0">
                <a:solidFill>
                  <a:srgbClr val="23222A"/>
                </a:solidFill>
                <a:latin typeface="Calibri" pitchFamily="34" charset="0"/>
                <a:ea typeface="Calibri" pitchFamily="34" charset="-122"/>
                <a:cs typeface="Calibri" pitchFamily="34" charset="-120"/>
              </a:rPr>
              <a:t>Dos cosas que aprendimos peleando con esto</a:t>
            </a:r>
            <a:endParaRPr lang="en-US" sz="3000" dirty="0"/>
          </a:p>
        </p:txBody>
      </p:sp>
      <p:sp>
        <p:nvSpPr>
          <p:cNvPr id="4" name="Text 2"/>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7A7787"/>
                </a:solidFill>
                <a:latin typeface="Courier New" pitchFamily="34" charset="0"/>
                <a:ea typeface="Courier New" pitchFamily="34" charset="-122"/>
                <a:cs typeface="Courier New" pitchFamily="34" charset="-120"/>
              </a:rPr>
              <a:t>9</a:t>
            </a:r>
            <a:endParaRPr lang="en-US" sz="1000" dirty="0"/>
          </a:p>
        </p:txBody>
      </p:sp>
      <p:sp>
        <p:nvSpPr>
          <p:cNvPr id="5" name="Shape 3"/>
          <p:cNvSpPr/>
          <p:nvPr/>
        </p:nvSpPr>
        <p:spPr>
          <a:xfrm>
            <a:off x="548640" y="1554480"/>
            <a:ext cx="5394960" cy="2377440"/>
          </a:xfrm>
          <a:prstGeom prst="roundRect">
            <a:avLst>
              <a:gd name="adj" fmla="val 2308"/>
            </a:avLst>
          </a:prstGeom>
          <a:solidFill>
            <a:srgbClr val="FFFFFF"/>
          </a:solidFill>
          <a:ln w="9525">
            <a:solidFill>
              <a:srgbClr val="D9D6E1"/>
            </a:solidFill>
            <a:prstDash val="solid"/>
          </a:ln>
        </p:spPr>
      </p:sp>
      <p:sp>
        <p:nvSpPr>
          <p:cNvPr id="6" name="Text 4"/>
          <p:cNvSpPr txBox="1"/>
          <p:nvPr/>
        </p:nvSpPr>
        <p:spPr>
          <a:xfrm>
            <a:off x="822960" y="1783080"/>
            <a:ext cx="4846320" cy="502920"/>
          </a:xfrm>
          <a:prstGeom prst="rect">
            <a:avLst/>
          </a:prstGeom>
          <a:noFill/>
          <a:ln/>
        </p:spPr>
        <p:txBody>
          <a:bodyPr wrap="square" lIns="0" tIns="0" rIns="0" bIns="0" rtlCol="0" anchor="ctr"/>
          <a:lstStyle/>
          <a:p>
            <a:pPr indent="0" marL="0">
              <a:buNone/>
            </a:pPr>
            <a:r>
              <a:rPr lang="en-US" sz="1500" b="1" dirty="0">
                <a:solidFill>
                  <a:srgbClr val="23222A"/>
                </a:solidFill>
                <a:latin typeface="Calibri" pitchFamily="34" charset="0"/>
                <a:ea typeface="Calibri" pitchFamily="34" charset="-122"/>
                <a:cs typeface="Calibri" pitchFamily="34" charset="-120"/>
              </a:rPr>
              <a:t>Una piedra no puede pesar sobre la placa</a:t>
            </a:r>
            <a:endParaRPr lang="en-US" sz="1500" dirty="0"/>
          </a:p>
        </p:txBody>
      </p:sp>
      <p:sp>
        <p:nvSpPr>
          <p:cNvPr id="7" name="Text 5"/>
          <p:cNvSpPr txBox="1"/>
          <p:nvPr/>
        </p:nvSpPr>
        <p:spPr>
          <a:xfrm>
            <a:off x="822960" y="2377440"/>
            <a:ext cx="4846320" cy="1005840"/>
          </a:xfrm>
          <a:prstGeom prst="rect">
            <a:avLst/>
          </a:prstGeom>
          <a:noFill/>
          <a:ln/>
        </p:spPr>
        <p:txBody>
          <a:bodyPr wrap="square" lIns="0" tIns="0" rIns="0" bIns="0" rtlCol="0" anchor="ctr"/>
          <a:lstStyle/>
          <a:p>
            <a:pPr indent="0" marL="0">
              <a:lnSpc>
                <a:spcPts val="2000"/>
              </a:lnSpc>
              <a:buNone/>
            </a:pPr>
            <a:r>
              <a:rPr lang="en-US" sz="1300" dirty="0">
                <a:solidFill>
                  <a:srgbClr val="4E4B59"/>
                </a:solidFill>
                <a:latin typeface="Calibri" pitchFamily="34" charset="0"/>
                <a:ea typeface="Calibri" pitchFamily="34" charset="-122"/>
                <a:cs typeface="Calibri" pitchFamily="34" charset="-120"/>
              </a:rPr>
              <a:t>Un trigger no frena a un cuerpo dinámico. La piedra lanzada la sobrevuela y produce un Enter y un Exit en el mismo instante, así que aceptarla como ocupante solo haría parpadear la puerta.</a:t>
            </a:r>
            <a:endParaRPr lang="en-US" sz="1300" dirty="0"/>
          </a:p>
        </p:txBody>
      </p:sp>
      <p:sp>
        <p:nvSpPr>
          <p:cNvPr id="8" name="Text 6"/>
          <p:cNvSpPr txBox="1"/>
          <p:nvPr/>
        </p:nvSpPr>
        <p:spPr>
          <a:xfrm>
            <a:off x="822960" y="3383280"/>
            <a:ext cx="4846320" cy="457200"/>
          </a:xfrm>
          <a:prstGeom prst="rect">
            <a:avLst/>
          </a:prstGeom>
          <a:noFill/>
          <a:ln/>
        </p:spPr>
        <p:txBody>
          <a:bodyPr wrap="square" lIns="0" tIns="0" rIns="0" bIns="0" rtlCol="0" anchor="ctr"/>
          <a:lstStyle/>
          <a:p>
            <a:pPr indent="0" marL="0">
              <a:lnSpc>
                <a:spcPts val="2000"/>
              </a:lnSpc>
              <a:buNone/>
            </a:pPr>
            <a:r>
              <a:rPr lang="en-US" sz="1300" b="1" dirty="0">
                <a:solidFill>
                  <a:srgbClr val="23222A"/>
                </a:solidFill>
                <a:latin typeface="Calibri" pitchFamily="34" charset="0"/>
                <a:ea typeface="Calibri" pitchFamily="34" charset="-122"/>
                <a:cs typeface="Calibri" pitchFamily="34" charset="-120"/>
              </a:rPr>
              <a:t>La placa cuenta únicamente cuerpos que puedan reposar encima: el héroe y los guardias.</a:t>
            </a:r>
            <a:endParaRPr lang="en-US" sz="1300" dirty="0"/>
          </a:p>
        </p:txBody>
      </p:sp>
      <p:sp>
        <p:nvSpPr>
          <p:cNvPr id="9" name="Shape 7"/>
          <p:cNvSpPr/>
          <p:nvPr/>
        </p:nvSpPr>
        <p:spPr>
          <a:xfrm>
            <a:off x="6217920" y="1554480"/>
            <a:ext cx="5394960" cy="2377440"/>
          </a:xfrm>
          <a:prstGeom prst="roundRect">
            <a:avLst>
              <a:gd name="adj" fmla="val 2308"/>
            </a:avLst>
          </a:prstGeom>
          <a:solidFill>
            <a:srgbClr val="FFFFFF"/>
          </a:solidFill>
          <a:ln w="9525">
            <a:solidFill>
              <a:srgbClr val="D9D6E1"/>
            </a:solidFill>
            <a:prstDash val="solid"/>
          </a:ln>
        </p:spPr>
      </p:sp>
      <p:sp>
        <p:nvSpPr>
          <p:cNvPr id="10" name="Text 8"/>
          <p:cNvSpPr txBox="1"/>
          <p:nvPr/>
        </p:nvSpPr>
        <p:spPr>
          <a:xfrm>
            <a:off x="6492240" y="1783080"/>
            <a:ext cx="4846320" cy="502920"/>
          </a:xfrm>
          <a:prstGeom prst="rect">
            <a:avLst/>
          </a:prstGeom>
          <a:noFill/>
          <a:ln/>
        </p:spPr>
        <p:txBody>
          <a:bodyPr wrap="square" lIns="0" tIns="0" rIns="0" bIns="0" rtlCol="0" anchor="ctr"/>
          <a:lstStyle/>
          <a:p>
            <a:pPr indent="0" marL="0">
              <a:buNone/>
            </a:pPr>
            <a:r>
              <a:rPr lang="en-US" sz="1500" b="1" dirty="0">
                <a:solidFill>
                  <a:srgbClr val="23222A"/>
                </a:solidFill>
                <a:latin typeface="Calibri" pitchFamily="34" charset="0"/>
                <a:ea typeface="Calibri" pitchFamily="34" charset="-122"/>
                <a:cs typeface="Calibri" pitchFamily="34" charset="-120"/>
              </a:rPr>
              <a:t>El problema de los dos dueños</a:t>
            </a:r>
            <a:endParaRPr lang="en-US" sz="1500" dirty="0"/>
          </a:p>
        </p:txBody>
      </p:sp>
      <p:sp>
        <p:nvSpPr>
          <p:cNvPr id="11" name="Text 9"/>
          <p:cNvSpPr txBox="1"/>
          <p:nvPr/>
        </p:nvSpPr>
        <p:spPr>
          <a:xfrm>
            <a:off x="6492240" y="2377440"/>
            <a:ext cx="4846320" cy="731520"/>
          </a:xfrm>
          <a:prstGeom prst="rect">
            <a:avLst/>
          </a:prstGeom>
          <a:noFill/>
          <a:ln/>
        </p:spPr>
        <p:txBody>
          <a:bodyPr wrap="square" lIns="0" tIns="0" rIns="0" bIns="0" rtlCol="0" anchor="ctr"/>
          <a:lstStyle/>
          <a:p>
            <a:pPr indent="0" marL="0">
              <a:lnSpc>
                <a:spcPts val="2000"/>
              </a:lnSpc>
              <a:buNone/>
            </a:pPr>
            <a:r>
              <a:rPr lang="en-US" sz="1300" dirty="0">
                <a:solidFill>
                  <a:srgbClr val="4E4B59"/>
                </a:solidFill>
                <a:latin typeface="Calibri" pitchFamily="34" charset="0"/>
                <a:ea typeface="Calibri" pitchFamily="34" charset="-122"/>
                <a:cs typeface="Calibri" pitchFamily="34" charset="-120"/>
              </a:rPr>
              <a:t>Si una puerta ya la controla una palanca o una llave, bajarse de la placa cerraría lo que el otro mecanismo abrió.</a:t>
            </a:r>
            <a:endParaRPr lang="en-US" sz="1300" dirty="0"/>
          </a:p>
        </p:txBody>
      </p:sp>
      <p:sp>
        <p:nvSpPr>
          <p:cNvPr id="12" name="Text 10"/>
          <p:cNvSpPr txBox="1"/>
          <p:nvPr/>
        </p:nvSpPr>
        <p:spPr>
          <a:xfrm>
            <a:off x="6492240" y="3154680"/>
            <a:ext cx="4846320" cy="548640"/>
          </a:xfrm>
          <a:prstGeom prst="rect">
            <a:avLst/>
          </a:prstGeom>
          <a:noFill/>
          <a:ln/>
        </p:spPr>
        <p:txBody>
          <a:bodyPr wrap="square" lIns="0" tIns="0" rIns="0" bIns="0" rtlCol="0" anchor="ctr"/>
          <a:lstStyle/>
          <a:p>
            <a:pPr indent="0" marL="0">
              <a:lnSpc>
                <a:spcPts val="2000"/>
              </a:lnSpc>
              <a:buNone/>
            </a:pPr>
            <a:r>
              <a:rPr lang="en-US" sz="1300" b="1" dirty="0">
                <a:solidFill>
                  <a:srgbClr val="23222A"/>
                </a:solidFill>
                <a:latin typeface="Calibri" pitchFamily="34" charset="0"/>
                <a:ea typeface="Calibri" pitchFamily="34" charset="-122"/>
                <a:cs typeface="Calibri" pitchFamily="34" charset="-120"/>
              </a:rPr>
              <a:t>Para eso existe el modo latching: en esas salas la placa solo puede abrir.</a:t>
            </a:r>
            <a:endParaRPr lang="en-US" sz="1300" dirty="0"/>
          </a:p>
        </p:txBody>
      </p:sp>
      <p:sp>
        <p:nvSpPr>
          <p:cNvPr id="13" name="Shape 11"/>
          <p:cNvSpPr/>
          <p:nvPr/>
        </p:nvSpPr>
        <p:spPr>
          <a:xfrm>
            <a:off x="548640" y="4160520"/>
            <a:ext cx="11064240" cy="1737360"/>
          </a:xfrm>
          <a:prstGeom prst="roundRect">
            <a:avLst>
              <a:gd name="adj" fmla="val 3158"/>
            </a:avLst>
          </a:prstGeom>
          <a:solidFill>
            <a:srgbClr val="F6EEDE"/>
          </a:solidFill>
          <a:ln w="9525">
            <a:solidFill>
              <a:srgbClr val="E7A93F"/>
            </a:solidFill>
            <a:prstDash val="solid"/>
          </a:ln>
        </p:spPr>
      </p:sp>
      <p:sp>
        <p:nvSpPr>
          <p:cNvPr id="14" name="Text 12"/>
          <p:cNvSpPr txBox="1"/>
          <p:nvPr/>
        </p:nvSpPr>
        <p:spPr>
          <a:xfrm>
            <a:off x="822960" y="4389120"/>
            <a:ext cx="7315200" cy="274320"/>
          </a:xfrm>
          <a:prstGeom prst="rect">
            <a:avLst/>
          </a:prstGeom>
          <a:noFill/>
          <a:ln/>
        </p:spPr>
        <p:txBody>
          <a:bodyPr wrap="square" lIns="0" tIns="0" rIns="0" bIns="0" rtlCol="0" anchor="ctr"/>
          <a:lstStyle/>
          <a:p>
            <a:pPr indent="0" marL="0">
              <a:buNone/>
            </a:pPr>
            <a:r>
              <a:rPr lang="en-US" sz="1500" b="1" dirty="0">
                <a:solidFill>
                  <a:srgbClr val="9A681F"/>
                </a:solidFill>
                <a:latin typeface="Calibri" pitchFamily="34" charset="0"/>
                <a:ea typeface="Calibri" pitchFamily="34" charset="-122"/>
                <a:cs typeface="Calibri" pitchFamily="34" charset="-120"/>
              </a:rPr>
              <a:t>Lo decimos porque nos pasó a nosotros</a:t>
            </a:r>
            <a:endParaRPr lang="en-US" sz="1500" dirty="0"/>
          </a:p>
        </p:txBody>
      </p:sp>
      <p:sp>
        <p:nvSpPr>
          <p:cNvPr id="15" name="Text 13"/>
          <p:cNvSpPr txBox="1"/>
          <p:nvPr/>
        </p:nvSpPr>
        <p:spPr>
          <a:xfrm>
            <a:off x="822960" y="4754880"/>
            <a:ext cx="10515600" cy="914400"/>
          </a:xfrm>
          <a:prstGeom prst="rect">
            <a:avLst/>
          </a:prstGeom>
          <a:noFill/>
          <a:ln/>
        </p:spPr>
        <p:txBody>
          <a:bodyPr wrap="square" lIns="0" tIns="0" rIns="0" bIns="0" rtlCol="0" anchor="ctr"/>
          <a:lstStyle/>
          <a:p>
            <a:pPr indent="0" marL="0">
              <a:lnSpc>
                <a:spcPts val="2000"/>
              </a:lnSpc>
              <a:buNone/>
            </a:pPr>
            <a:r>
              <a:rPr lang="en-US" sz="1350" dirty="0">
                <a:solidFill>
                  <a:srgbClr val="4E4B59"/>
                </a:solidFill>
                <a:latin typeface="Calibri" pitchFamily="34" charset="0"/>
                <a:ea typeface="Calibri" pitchFamily="34" charset="-122"/>
                <a:cs typeface="Calibri" pitchFamily="34" charset="-120"/>
              </a:rPr>
              <a:t>La primera versión de nuestra documentación afirmaba que se podía lanzar la piedra sobre la placa para mantenerla accionada. Al revisar el código vimos que la física no lo permite, y lo corregimos en el código y en los tres documentos antes de presentar.</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9"/>
        </a:solidFill>
      </p:bgPr>
    </p:bg>
    <p:spTree>
      <p:nvGrpSpPr>
        <p:cNvPr id="1" name=""/>
        <p:cNvGrpSpPr/>
        <p:nvPr/>
      </p:nvGrpSpPr>
      <p:grpSpPr>
        <a:xfrm>
          <a:off x="0" y="0"/>
          <a:ext cx="0" cy="0"/>
          <a:chOff x="0" y="0"/>
          <a:chExt cx="0" cy="0"/>
        </a:xfrm>
      </p:grpSpPr>
      <p:sp>
        <p:nvSpPr>
          <p:cNvPr id="2" name="Text 0"/>
          <p:cNvSpPr txBox="1"/>
          <p:nvPr/>
        </p:nvSpPr>
        <p:spPr>
          <a:xfrm>
            <a:off x="548640" y="329184"/>
            <a:ext cx="11064240" cy="237744"/>
          </a:xfrm>
          <a:prstGeom prst="rect">
            <a:avLst/>
          </a:prstGeom>
          <a:noFill/>
          <a:ln/>
        </p:spPr>
        <p:txBody>
          <a:bodyPr wrap="square" lIns="0" tIns="0" rIns="0" bIns="0" rtlCol="0" anchor="ctr"/>
          <a:lstStyle/>
          <a:p>
            <a:pPr indent="0" marL="0">
              <a:buNone/>
            </a:pPr>
            <a:r>
              <a:rPr lang="en-US" sz="1100" spc="140" kern="0" dirty="0">
                <a:solidFill>
                  <a:srgbClr val="9A681F"/>
                </a:solidFill>
                <a:latin typeface="Courier New" pitchFamily="34" charset="0"/>
                <a:ea typeface="Courier New" pitchFamily="34" charset="-122"/>
                <a:cs typeface="Courier New" pitchFamily="34" charset="-120"/>
              </a:rPr>
              <a:t>04 · OBSTÁCULO CON ANIMACIÓN</a:t>
            </a:r>
            <a:endParaRPr lang="en-US" sz="1100" dirty="0"/>
          </a:p>
        </p:txBody>
      </p:sp>
      <p:sp>
        <p:nvSpPr>
          <p:cNvPr id="3" name="Text 1"/>
          <p:cNvSpPr txBox="1"/>
          <p:nvPr/>
        </p:nvSpPr>
        <p:spPr>
          <a:xfrm>
            <a:off x="548640" y="585216"/>
            <a:ext cx="10515600" cy="658368"/>
          </a:xfrm>
          <a:prstGeom prst="rect">
            <a:avLst/>
          </a:prstGeom>
          <a:noFill/>
          <a:ln/>
        </p:spPr>
        <p:txBody>
          <a:bodyPr wrap="square" lIns="0" tIns="0" rIns="0" bIns="0" rtlCol="0" anchor="ctr"/>
          <a:lstStyle/>
          <a:p>
            <a:pPr indent="0" marL="0">
              <a:buNone/>
            </a:pPr>
            <a:r>
              <a:rPr lang="en-US" sz="3000" b="1" dirty="0">
                <a:solidFill>
                  <a:srgbClr val="23222A"/>
                </a:solidFill>
                <a:latin typeface="Calibri" pitchFamily="34" charset="0"/>
                <a:ea typeface="Calibri" pitchFamily="34" charset="-122"/>
                <a:cs typeface="Calibri" pitchFamily="34" charset="-120"/>
              </a:rPr>
              <a:t>SpikeTrap: cuatro fases, tres trampas</a:t>
            </a:r>
            <a:endParaRPr lang="en-US" sz="3000" dirty="0"/>
          </a:p>
        </p:txBody>
      </p:sp>
      <p:sp>
        <p:nvSpPr>
          <p:cNvPr id="4" name="Text 2"/>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7A7787"/>
                </a:solidFill>
                <a:latin typeface="Courier New" pitchFamily="34" charset="0"/>
                <a:ea typeface="Courier New" pitchFamily="34" charset="-122"/>
                <a:cs typeface="Courier New" pitchFamily="34" charset="-120"/>
              </a:rPr>
              <a:t>10</a:t>
            </a:r>
            <a:endParaRPr lang="en-US" sz="1000" dirty="0"/>
          </a:p>
        </p:txBody>
      </p:sp>
      <p:sp>
        <p:nvSpPr>
          <p:cNvPr id="5" name="Shape 3"/>
          <p:cNvSpPr/>
          <p:nvPr/>
        </p:nvSpPr>
        <p:spPr>
          <a:xfrm>
            <a:off x="548640" y="1463040"/>
            <a:ext cx="2377440" cy="1051560"/>
          </a:xfrm>
          <a:prstGeom prst="roundRect">
            <a:avLst>
              <a:gd name="adj" fmla="val 5217"/>
            </a:avLst>
          </a:prstGeom>
          <a:solidFill>
            <a:srgbClr val="FFFFFF"/>
          </a:solidFill>
          <a:ln w="9525">
            <a:solidFill>
              <a:srgbClr val="D9D6E1"/>
            </a:solidFill>
            <a:prstDash val="solid"/>
          </a:ln>
        </p:spPr>
      </p:sp>
      <p:sp>
        <p:nvSpPr>
          <p:cNvPr id="6" name="Text 4"/>
          <p:cNvSpPr txBox="1"/>
          <p:nvPr/>
        </p:nvSpPr>
        <p:spPr>
          <a:xfrm>
            <a:off x="548640" y="1600200"/>
            <a:ext cx="2377440" cy="310896"/>
          </a:xfrm>
          <a:prstGeom prst="rect">
            <a:avLst/>
          </a:prstGeom>
          <a:noFill/>
          <a:ln/>
        </p:spPr>
        <p:txBody>
          <a:bodyPr wrap="square" lIns="0" tIns="0" rIns="0" bIns="0" rtlCol="0" anchor="ctr"/>
          <a:lstStyle/>
          <a:p>
            <a:pPr algn="ctr" indent="0" marL="0">
              <a:buNone/>
            </a:pPr>
            <a:r>
              <a:rPr lang="en-US" sz="1500" b="1" dirty="0">
                <a:solidFill>
                  <a:srgbClr val="23222A"/>
                </a:solidFill>
                <a:latin typeface="Calibri" pitchFamily="34" charset="0"/>
                <a:ea typeface="Calibri" pitchFamily="34" charset="-122"/>
                <a:cs typeface="Calibri" pitchFamily="34" charset="-120"/>
              </a:rPr>
              <a:t>Oculta</a:t>
            </a:r>
            <a:endParaRPr lang="en-US" sz="1500" dirty="0"/>
          </a:p>
        </p:txBody>
      </p:sp>
      <p:sp>
        <p:nvSpPr>
          <p:cNvPr id="7" name="Text 5"/>
          <p:cNvSpPr txBox="1"/>
          <p:nvPr/>
        </p:nvSpPr>
        <p:spPr>
          <a:xfrm>
            <a:off x="548640" y="1938528"/>
            <a:ext cx="2377440" cy="292608"/>
          </a:xfrm>
          <a:prstGeom prst="rect">
            <a:avLst/>
          </a:prstGeom>
          <a:noFill/>
          <a:ln/>
        </p:spPr>
        <p:txBody>
          <a:bodyPr wrap="square" lIns="0" tIns="0" rIns="0" bIns="0" rtlCol="0" anchor="ctr"/>
          <a:lstStyle/>
          <a:p>
            <a:pPr algn="ctr" indent="0" marL="0">
              <a:buNone/>
            </a:pPr>
            <a:r>
              <a:rPr lang="en-US" sz="1300" dirty="0">
                <a:solidFill>
                  <a:srgbClr val="4E4B59"/>
                </a:solidFill>
                <a:latin typeface="Courier New" pitchFamily="34" charset="0"/>
                <a:ea typeface="Courier New" pitchFamily="34" charset="-122"/>
                <a:cs typeface="Courier New" pitchFamily="34" charset="-120"/>
              </a:rPr>
              <a:t>dura 1.6 s</a:t>
            </a:r>
            <a:endParaRPr lang="en-US" sz="1300" dirty="0"/>
          </a:p>
        </p:txBody>
      </p:sp>
      <p:sp>
        <p:nvSpPr>
          <p:cNvPr id="8" name="Text 6"/>
          <p:cNvSpPr txBox="1"/>
          <p:nvPr/>
        </p:nvSpPr>
        <p:spPr>
          <a:xfrm>
            <a:off x="2926080" y="1783080"/>
            <a:ext cx="320040" cy="274320"/>
          </a:xfrm>
          <a:prstGeom prst="rect">
            <a:avLst/>
          </a:prstGeom>
          <a:noFill/>
          <a:ln/>
        </p:spPr>
        <p:txBody>
          <a:bodyPr wrap="square" lIns="0" tIns="0" rIns="0" bIns="0" rtlCol="0" anchor="ctr"/>
          <a:lstStyle/>
          <a:p>
            <a:pPr algn="ctr" indent="0" marL="0">
              <a:buNone/>
            </a:pPr>
            <a:r>
              <a:rPr lang="en-US" sz="1400" dirty="0">
                <a:solidFill>
                  <a:srgbClr val="7A7787"/>
                </a:solidFill>
              </a:rPr>
              <a:t>→</a:t>
            </a:r>
            <a:endParaRPr lang="en-US" sz="1400" dirty="0"/>
          </a:p>
        </p:txBody>
      </p:sp>
      <p:sp>
        <p:nvSpPr>
          <p:cNvPr id="9" name="Shape 7"/>
          <p:cNvSpPr/>
          <p:nvPr/>
        </p:nvSpPr>
        <p:spPr>
          <a:xfrm>
            <a:off x="3246120" y="1463040"/>
            <a:ext cx="2377440" cy="1051560"/>
          </a:xfrm>
          <a:prstGeom prst="roundRect">
            <a:avLst>
              <a:gd name="adj" fmla="val 5217"/>
            </a:avLst>
          </a:prstGeom>
          <a:solidFill>
            <a:srgbClr val="FFFFFF"/>
          </a:solidFill>
          <a:ln w="9525">
            <a:solidFill>
              <a:srgbClr val="D9D6E1"/>
            </a:solidFill>
            <a:prstDash val="solid"/>
          </a:ln>
        </p:spPr>
      </p:sp>
      <p:sp>
        <p:nvSpPr>
          <p:cNvPr id="10" name="Text 8"/>
          <p:cNvSpPr txBox="1"/>
          <p:nvPr/>
        </p:nvSpPr>
        <p:spPr>
          <a:xfrm>
            <a:off x="3246120" y="1600200"/>
            <a:ext cx="2377440" cy="310896"/>
          </a:xfrm>
          <a:prstGeom prst="rect">
            <a:avLst/>
          </a:prstGeom>
          <a:noFill/>
          <a:ln/>
        </p:spPr>
        <p:txBody>
          <a:bodyPr wrap="square" lIns="0" tIns="0" rIns="0" bIns="0" rtlCol="0" anchor="ctr"/>
          <a:lstStyle/>
          <a:p>
            <a:pPr algn="ctr" indent="0" marL="0">
              <a:buNone/>
            </a:pPr>
            <a:r>
              <a:rPr lang="en-US" sz="1500" b="1" dirty="0">
                <a:solidFill>
                  <a:srgbClr val="23222A"/>
                </a:solidFill>
                <a:latin typeface="Calibri" pitchFamily="34" charset="0"/>
                <a:ea typeface="Calibri" pitchFamily="34" charset="-122"/>
                <a:cs typeface="Calibri" pitchFamily="34" charset="-120"/>
              </a:rPr>
              <a:t>Subiendo</a:t>
            </a:r>
            <a:endParaRPr lang="en-US" sz="1500" dirty="0"/>
          </a:p>
        </p:txBody>
      </p:sp>
      <p:sp>
        <p:nvSpPr>
          <p:cNvPr id="11" name="Text 9"/>
          <p:cNvSpPr txBox="1"/>
          <p:nvPr/>
        </p:nvSpPr>
        <p:spPr>
          <a:xfrm>
            <a:off x="3246120" y="1938528"/>
            <a:ext cx="2377440" cy="292608"/>
          </a:xfrm>
          <a:prstGeom prst="rect">
            <a:avLst/>
          </a:prstGeom>
          <a:noFill/>
          <a:ln/>
        </p:spPr>
        <p:txBody>
          <a:bodyPr wrap="square" lIns="0" tIns="0" rIns="0" bIns="0" rtlCol="0" anchor="ctr"/>
          <a:lstStyle/>
          <a:p>
            <a:pPr algn="ctr" indent="0" marL="0">
              <a:buNone/>
            </a:pPr>
            <a:r>
              <a:rPr lang="en-US" sz="1300" dirty="0">
                <a:solidFill>
                  <a:srgbClr val="4E4B59"/>
                </a:solidFill>
                <a:latin typeface="Courier New" pitchFamily="34" charset="0"/>
                <a:ea typeface="Courier New" pitchFamily="34" charset="-122"/>
                <a:cs typeface="Courier New" pitchFamily="34" charset="-120"/>
              </a:rPr>
              <a:t>dura 0.25 s</a:t>
            </a:r>
            <a:endParaRPr lang="en-US" sz="1300" dirty="0"/>
          </a:p>
        </p:txBody>
      </p:sp>
      <p:sp>
        <p:nvSpPr>
          <p:cNvPr id="12" name="Text 10"/>
          <p:cNvSpPr txBox="1"/>
          <p:nvPr/>
        </p:nvSpPr>
        <p:spPr>
          <a:xfrm>
            <a:off x="5623560" y="1783080"/>
            <a:ext cx="320040" cy="274320"/>
          </a:xfrm>
          <a:prstGeom prst="rect">
            <a:avLst/>
          </a:prstGeom>
          <a:noFill/>
          <a:ln/>
        </p:spPr>
        <p:txBody>
          <a:bodyPr wrap="square" lIns="0" tIns="0" rIns="0" bIns="0" rtlCol="0" anchor="ctr"/>
          <a:lstStyle/>
          <a:p>
            <a:pPr algn="ctr" indent="0" marL="0">
              <a:buNone/>
            </a:pPr>
            <a:r>
              <a:rPr lang="en-US" sz="1400" dirty="0">
                <a:solidFill>
                  <a:srgbClr val="7A7787"/>
                </a:solidFill>
              </a:rPr>
              <a:t>→</a:t>
            </a:r>
            <a:endParaRPr lang="en-US" sz="1400" dirty="0"/>
          </a:p>
        </p:txBody>
      </p:sp>
      <p:sp>
        <p:nvSpPr>
          <p:cNvPr id="13" name="Shape 11"/>
          <p:cNvSpPr/>
          <p:nvPr/>
        </p:nvSpPr>
        <p:spPr>
          <a:xfrm>
            <a:off x="5943600" y="1463040"/>
            <a:ext cx="2377440" cy="1051560"/>
          </a:xfrm>
          <a:prstGeom prst="roundRect">
            <a:avLst>
              <a:gd name="adj" fmla="val 5217"/>
            </a:avLst>
          </a:prstGeom>
          <a:solidFill>
            <a:srgbClr val="F8E7E5"/>
          </a:solidFill>
          <a:ln w="9525">
            <a:solidFill>
              <a:srgbClr val="B23A30"/>
            </a:solidFill>
            <a:prstDash val="solid"/>
          </a:ln>
        </p:spPr>
      </p:sp>
      <p:sp>
        <p:nvSpPr>
          <p:cNvPr id="14" name="Text 12"/>
          <p:cNvSpPr txBox="1"/>
          <p:nvPr/>
        </p:nvSpPr>
        <p:spPr>
          <a:xfrm>
            <a:off x="5943600" y="1600200"/>
            <a:ext cx="2377440" cy="310896"/>
          </a:xfrm>
          <a:prstGeom prst="rect">
            <a:avLst/>
          </a:prstGeom>
          <a:noFill/>
          <a:ln/>
        </p:spPr>
        <p:txBody>
          <a:bodyPr wrap="square" lIns="0" tIns="0" rIns="0" bIns="0" rtlCol="0" anchor="ctr"/>
          <a:lstStyle/>
          <a:p>
            <a:pPr algn="ctr" indent="0" marL="0">
              <a:buNone/>
            </a:pPr>
            <a:r>
              <a:rPr lang="en-US" sz="1500" b="1" dirty="0">
                <a:solidFill>
                  <a:srgbClr val="B23A30"/>
                </a:solidFill>
                <a:latin typeface="Calibri" pitchFamily="34" charset="0"/>
                <a:ea typeface="Calibri" pitchFamily="34" charset="-122"/>
                <a:cs typeface="Calibri" pitchFamily="34" charset="-120"/>
              </a:rPr>
              <a:t>Clavada</a:t>
            </a:r>
            <a:endParaRPr lang="en-US" sz="1500" dirty="0"/>
          </a:p>
        </p:txBody>
      </p:sp>
      <p:sp>
        <p:nvSpPr>
          <p:cNvPr id="15" name="Text 13"/>
          <p:cNvSpPr txBox="1"/>
          <p:nvPr/>
        </p:nvSpPr>
        <p:spPr>
          <a:xfrm>
            <a:off x="5943600" y="1938528"/>
            <a:ext cx="2377440" cy="292608"/>
          </a:xfrm>
          <a:prstGeom prst="rect">
            <a:avLst/>
          </a:prstGeom>
          <a:noFill/>
          <a:ln/>
        </p:spPr>
        <p:txBody>
          <a:bodyPr wrap="square" lIns="0" tIns="0" rIns="0" bIns="0" rtlCol="0" anchor="ctr"/>
          <a:lstStyle/>
          <a:p>
            <a:pPr algn="ctr" indent="0" marL="0">
              <a:buNone/>
            </a:pPr>
            <a:r>
              <a:rPr lang="en-US" sz="1300" dirty="0">
                <a:solidFill>
                  <a:srgbClr val="B23A30"/>
                </a:solidFill>
                <a:latin typeface="Courier New" pitchFamily="34" charset="0"/>
                <a:ea typeface="Courier New" pitchFamily="34" charset="-122"/>
                <a:cs typeface="Courier New" pitchFamily="34" charset="-120"/>
              </a:rPr>
              <a:t>dura 0.9 s</a:t>
            </a:r>
            <a:endParaRPr lang="en-US" sz="1300" dirty="0"/>
          </a:p>
        </p:txBody>
      </p:sp>
      <p:sp>
        <p:nvSpPr>
          <p:cNvPr id="16" name="Text 14"/>
          <p:cNvSpPr txBox="1"/>
          <p:nvPr/>
        </p:nvSpPr>
        <p:spPr>
          <a:xfrm>
            <a:off x="8321040" y="1783080"/>
            <a:ext cx="320040" cy="274320"/>
          </a:xfrm>
          <a:prstGeom prst="rect">
            <a:avLst/>
          </a:prstGeom>
          <a:noFill/>
          <a:ln/>
        </p:spPr>
        <p:txBody>
          <a:bodyPr wrap="square" lIns="0" tIns="0" rIns="0" bIns="0" rtlCol="0" anchor="ctr"/>
          <a:lstStyle/>
          <a:p>
            <a:pPr algn="ctr" indent="0" marL="0">
              <a:buNone/>
            </a:pPr>
            <a:r>
              <a:rPr lang="en-US" sz="1400" dirty="0">
                <a:solidFill>
                  <a:srgbClr val="7A7787"/>
                </a:solidFill>
              </a:rPr>
              <a:t>→</a:t>
            </a:r>
            <a:endParaRPr lang="en-US" sz="1400" dirty="0"/>
          </a:p>
        </p:txBody>
      </p:sp>
      <p:sp>
        <p:nvSpPr>
          <p:cNvPr id="17" name="Shape 15"/>
          <p:cNvSpPr/>
          <p:nvPr/>
        </p:nvSpPr>
        <p:spPr>
          <a:xfrm>
            <a:off x="8641080" y="1463040"/>
            <a:ext cx="2377440" cy="1051560"/>
          </a:xfrm>
          <a:prstGeom prst="roundRect">
            <a:avLst>
              <a:gd name="adj" fmla="val 5217"/>
            </a:avLst>
          </a:prstGeom>
          <a:solidFill>
            <a:srgbClr val="FFFFFF"/>
          </a:solidFill>
          <a:ln w="9525">
            <a:solidFill>
              <a:srgbClr val="D9D6E1"/>
            </a:solidFill>
            <a:prstDash val="solid"/>
          </a:ln>
        </p:spPr>
      </p:sp>
      <p:sp>
        <p:nvSpPr>
          <p:cNvPr id="18" name="Text 16"/>
          <p:cNvSpPr txBox="1"/>
          <p:nvPr/>
        </p:nvSpPr>
        <p:spPr>
          <a:xfrm>
            <a:off x="8641080" y="1600200"/>
            <a:ext cx="2377440" cy="310896"/>
          </a:xfrm>
          <a:prstGeom prst="rect">
            <a:avLst/>
          </a:prstGeom>
          <a:noFill/>
          <a:ln/>
        </p:spPr>
        <p:txBody>
          <a:bodyPr wrap="square" lIns="0" tIns="0" rIns="0" bIns="0" rtlCol="0" anchor="ctr"/>
          <a:lstStyle/>
          <a:p>
            <a:pPr algn="ctr" indent="0" marL="0">
              <a:buNone/>
            </a:pPr>
            <a:r>
              <a:rPr lang="en-US" sz="1500" b="1" dirty="0">
                <a:solidFill>
                  <a:srgbClr val="23222A"/>
                </a:solidFill>
                <a:latin typeface="Calibri" pitchFamily="34" charset="0"/>
                <a:ea typeface="Calibri" pitchFamily="34" charset="-122"/>
                <a:cs typeface="Calibri" pitchFamily="34" charset="-120"/>
              </a:rPr>
              <a:t>Bajando</a:t>
            </a:r>
            <a:endParaRPr lang="en-US" sz="1500" dirty="0"/>
          </a:p>
        </p:txBody>
      </p:sp>
      <p:sp>
        <p:nvSpPr>
          <p:cNvPr id="19" name="Text 17"/>
          <p:cNvSpPr txBox="1"/>
          <p:nvPr/>
        </p:nvSpPr>
        <p:spPr>
          <a:xfrm>
            <a:off x="8641080" y="1938528"/>
            <a:ext cx="2377440" cy="292608"/>
          </a:xfrm>
          <a:prstGeom prst="rect">
            <a:avLst/>
          </a:prstGeom>
          <a:noFill/>
          <a:ln/>
        </p:spPr>
        <p:txBody>
          <a:bodyPr wrap="square" lIns="0" tIns="0" rIns="0" bIns="0" rtlCol="0" anchor="ctr"/>
          <a:lstStyle/>
          <a:p>
            <a:pPr algn="ctr" indent="0" marL="0">
              <a:buNone/>
            </a:pPr>
            <a:r>
              <a:rPr lang="en-US" sz="1300" dirty="0">
                <a:solidFill>
                  <a:srgbClr val="4E4B59"/>
                </a:solidFill>
                <a:latin typeface="Courier New" pitchFamily="34" charset="0"/>
                <a:ea typeface="Courier New" pitchFamily="34" charset="-122"/>
                <a:cs typeface="Courier New" pitchFamily="34" charset="-120"/>
              </a:rPr>
              <a:t>dura 0.25 s</a:t>
            </a:r>
            <a:endParaRPr lang="en-US" sz="1300" dirty="0"/>
          </a:p>
        </p:txBody>
      </p:sp>
      <p:sp>
        <p:nvSpPr>
          <p:cNvPr id="20" name="Text 18"/>
          <p:cNvSpPr txBox="1"/>
          <p:nvPr/>
        </p:nvSpPr>
        <p:spPr>
          <a:xfrm>
            <a:off x="548640" y="2633472"/>
            <a:ext cx="11064240" cy="274320"/>
          </a:xfrm>
          <a:prstGeom prst="rect">
            <a:avLst/>
          </a:prstGeom>
          <a:noFill/>
          <a:ln/>
        </p:spPr>
        <p:txBody>
          <a:bodyPr wrap="square" lIns="0" tIns="0" rIns="0" bIns="0" rtlCol="0" anchor="ctr"/>
          <a:lstStyle/>
          <a:p>
            <a:pPr indent="0" marL="0">
              <a:lnSpc>
                <a:spcPts val="2000"/>
              </a:lnSpc>
              <a:buNone/>
            </a:pPr>
            <a:r>
              <a:rPr lang="en-US" sz="1350" dirty="0">
                <a:solidFill>
                  <a:srgbClr val="4E4B59"/>
                </a:solidFill>
                <a:latin typeface="Calibri" pitchFamily="34" charset="0"/>
                <a:ea typeface="Calibri" pitchFamily="34" charset="-122"/>
                <a:cs typeface="Calibri" pitchFamily="34" charset="-120"/>
              </a:rPr>
              <a:t>Ciclo de 3 s. Solo Clavada mata, y el collider se enciende y se apaga con la fase.</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5852160" cy="914400"/>
        </p:xfrm>
        <a:graphic>
          <a:graphicData uri="http://schemas.openxmlformats.org/drawingml/2006/table">
            <a:tbl>
              <a:tblPr/>
              <a:tblGrid>
                <a:gridCol w="1051560"/>
                <a:gridCol w="1051560"/>
                <a:gridCol w="3749040"/>
              </a:tblGrid>
              <a:tr h="301752">
                <a:tc>
                  <a:txBody>
                    <a:bodyPr/>
                    <a:lstStyle/>
                    <a:p>
                      <a:pPr indent="0" marL="0">
                        <a:buNone/>
                      </a:pPr>
                      <a:r>
                        <a:rPr lang="en-US" sz="1100" b="1" dirty="0">
                          <a:solidFill>
                            <a:srgbClr val="4E4B59"/>
                          </a:solidFill>
                          <a:latin typeface="Courier New" pitchFamily="34" charset="0"/>
                          <a:ea typeface="Courier New" pitchFamily="34" charset="-122"/>
                          <a:cs typeface="Courier New" pitchFamily="34" charset="-120"/>
                        </a:rPr>
                        <a:t>Trampa</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00" b="1" dirty="0">
                          <a:solidFill>
                            <a:srgbClr val="4E4B59"/>
                          </a:solidFill>
                          <a:latin typeface="Courier New" pitchFamily="34" charset="0"/>
                          <a:ea typeface="Courier New" pitchFamily="34" charset="-122"/>
                          <a:cs typeface="Courier New" pitchFamily="34" charset="-120"/>
                        </a:rPr>
                        <a:t>Desfase</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00" b="1" dirty="0">
                          <a:solidFill>
                            <a:srgbClr val="4E4B59"/>
                          </a:solidFill>
                          <a:latin typeface="Courier New" pitchFamily="34" charset="0"/>
                          <a:ea typeface="Courier New" pitchFamily="34" charset="-122"/>
                          <a:cs typeface="Courier New" pitchFamily="34" charset="-120"/>
                        </a:rPr>
                        <a:t>Ventana letal dentro del ciclo</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4E4B59"/>
                          </a:solidFill>
                          <a:latin typeface="Courier New" pitchFamily="34" charset="0"/>
                          <a:ea typeface="Courier New" pitchFamily="34" charset="-122"/>
                          <a:cs typeface="Courier New" pitchFamily="34" charset="-120"/>
                        </a:rPr>
                        <a:t>1</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00" dirty="0">
                          <a:solidFill>
                            <a:srgbClr val="4E4B59"/>
                          </a:solidFill>
                          <a:latin typeface="Courier New" pitchFamily="34" charset="0"/>
                          <a:ea typeface="Courier New" pitchFamily="34" charset="-122"/>
                          <a:cs typeface="Courier New" pitchFamily="34" charset="-120"/>
                        </a:rPr>
                        <a:t>0 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00" dirty="0">
                          <a:solidFill>
                            <a:srgbClr val="4E4B59"/>
                          </a:solidFill>
                          <a:latin typeface="Courier New" pitchFamily="34" charset="0"/>
                          <a:ea typeface="Courier New" pitchFamily="34" charset="-122"/>
                          <a:cs typeface="Courier New" pitchFamily="34" charset="-120"/>
                        </a:rPr>
                        <a:t>[1.85 s → 2.75 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4E4B59"/>
                          </a:solidFill>
                          <a:latin typeface="Courier New" pitchFamily="34" charset="0"/>
                          <a:ea typeface="Courier New" pitchFamily="34" charset="-122"/>
                          <a:cs typeface="Courier New" pitchFamily="34" charset="-120"/>
                        </a:rPr>
                        <a:t>2</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00" dirty="0">
                          <a:solidFill>
                            <a:srgbClr val="4E4B59"/>
                          </a:solidFill>
                          <a:latin typeface="Courier New" pitchFamily="34" charset="0"/>
                          <a:ea typeface="Courier New" pitchFamily="34" charset="-122"/>
                          <a:cs typeface="Courier New" pitchFamily="34" charset="-120"/>
                        </a:rPr>
                        <a:t>1 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00" dirty="0">
                          <a:solidFill>
                            <a:srgbClr val="4E4B59"/>
                          </a:solidFill>
                          <a:latin typeface="Courier New" pitchFamily="34" charset="0"/>
                          <a:ea typeface="Courier New" pitchFamily="34" charset="-122"/>
                          <a:cs typeface="Courier New" pitchFamily="34" charset="-120"/>
                        </a:rPr>
                        <a:t>[0.85 s → 1.75 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r h="301752">
                <a:tc>
                  <a:txBody>
                    <a:bodyPr/>
                    <a:lstStyle/>
                    <a:p>
                      <a:pPr indent="0" marL="0">
                        <a:buNone/>
                      </a:pPr>
                      <a:r>
                        <a:rPr lang="en-US" sz="1100" dirty="0">
                          <a:solidFill>
                            <a:srgbClr val="4E4B59"/>
                          </a:solidFill>
                          <a:latin typeface="Courier New" pitchFamily="34" charset="0"/>
                          <a:ea typeface="Courier New" pitchFamily="34" charset="-122"/>
                          <a:cs typeface="Courier New" pitchFamily="34" charset="-120"/>
                        </a:rPr>
                        <a:t>3</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00" dirty="0">
                          <a:solidFill>
                            <a:srgbClr val="4E4B59"/>
                          </a:solidFill>
                          <a:latin typeface="Courier New" pitchFamily="34" charset="0"/>
                          <a:ea typeface="Courier New" pitchFamily="34" charset="-122"/>
                          <a:cs typeface="Courier New" pitchFamily="34" charset="-120"/>
                        </a:rPr>
                        <a:t>2 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c>
                  <a:txBody>
                    <a:bodyPr/>
                    <a:lstStyle/>
                    <a:p>
                      <a:pPr indent="0" marL="0">
                        <a:buNone/>
                      </a:pPr>
                      <a:r>
                        <a:rPr lang="en-US" sz="1100" dirty="0">
                          <a:solidFill>
                            <a:srgbClr val="4E4B59"/>
                          </a:solidFill>
                          <a:latin typeface="Courier New" pitchFamily="34" charset="0"/>
                          <a:ea typeface="Courier New" pitchFamily="34" charset="-122"/>
                          <a:cs typeface="Courier New" pitchFamily="34" charset="-120"/>
                        </a:rPr>
                        <a:t>[0.00 s → 0.75 s)  y  [2.85 s → 3.00 s)</a:t>
                      </a:r>
                      <a:endParaRPr lang="en-US" sz="1100" dirty="0">
                        <a:latin typeface="Courier New" charset="0"/>
                        <a:ea typeface="Courier New" charset="0"/>
                        <a:cs typeface="Courier New" charset="0"/>
                      </a:endParaRPr>
                    </a:p>
                  </a:txBody>
                  <a:tcPr marL="91440" marR="91440" marT="45720" marB="45720" anchor="ctr">
                    <a:lnL w="6350" cap="flat" cmpd="sng" algn="ctr">
                      <a:solidFill>
                        <a:srgbClr val="D9D6E1"/>
                      </a:solidFill>
                      <a:prstDash val="solid"/>
                      <a:round/>
                      <a:headEnd type="none" w="med" len="med"/>
                      <a:tailEnd type="none" w="med" len="med"/>
                    </a:lnL>
                    <a:lnR w="6350" cap="flat" cmpd="sng" algn="ctr">
                      <a:solidFill>
                        <a:srgbClr val="D9D6E1"/>
                      </a:solidFill>
                      <a:prstDash val="solid"/>
                      <a:round/>
                      <a:headEnd type="none" w="med" len="med"/>
                      <a:tailEnd type="none" w="med" len="med"/>
                    </a:lnR>
                    <a:lnT w="6350" cap="flat" cmpd="sng" algn="ctr">
                      <a:solidFill>
                        <a:srgbClr val="D9D6E1"/>
                      </a:solidFill>
                      <a:prstDash val="solid"/>
                      <a:round/>
                      <a:headEnd type="none" w="med" len="med"/>
                      <a:tailEnd type="none" w="med" len="med"/>
                    </a:lnT>
                    <a:lnB w="6350" cap="flat" cmpd="sng" algn="ctr">
                      <a:solidFill>
                        <a:srgbClr val="D9D6E1"/>
                      </a:solidFill>
                      <a:prstDash val="solid"/>
                      <a:round/>
                      <a:headEnd type="none" w="med" len="med"/>
                      <a:tailEnd type="none" w="med" len="med"/>
                    </a:lnB>
                    <a:solidFill>
                      <a:srgbClr val="FFFFFF"/>
                    </a:solidFill>
                  </a:tcPr>
                </a:tc>
              </a:tr>
            </a:tbl>
          </a:graphicData>
        </a:graphic>
      </p:graphicFrame>
      <p:sp>
        <p:nvSpPr>
          <p:cNvPr id="22" name="Shape 19"/>
          <p:cNvSpPr/>
          <p:nvPr/>
        </p:nvSpPr>
        <p:spPr>
          <a:xfrm>
            <a:off x="548640" y="4434840"/>
            <a:ext cx="5852160" cy="685800"/>
          </a:xfrm>
          <a:prstGeom prst="roundRect">
            <a:avLst>
              <a:gd name="adj" fmla="val 8000"/>
            </a:avLst>
          </a:prstGeom>
          <a:solidFill>
            <a:srgbClr val="E4F2E8"/>
          </a:solidFill>
          <a:ln w="9525">
            <a:solidFill>
              <a:srgbClr val="2F7F4C"/>
            </a:solidFill>
            <a:prstDash val="solid"/>
          </a:ln>
        </p:spPr>
      </p:sp>
      <p:sp>
        <p:nvSpPr>
          <p:cNvPr id="23" name="Text 20"/>
          <p:cNvSpPr txBox="1"/>
          <p:nvPr/>
        </p:nvSpPr>
        <p:spPr>
          <a:xfrm>
            <a:off x="777240" y="4617720"/>
            <a:ext cx="5394960" cy="365760"/>
          </a:xfrm>
          <a:prstGeom prst="rect">
            <a:avLst/>
          </a:prstGeom>
          <a:noFill/>
          <a:ln/>
        </p:spPr>
        <p:txBody>
          <a:bodyPr wrap="square" lIns="0" tIns="0" rIns="0" bIns="0" rtlCol="0" anchor="ctr"/>
          <a:lstStyle/>
          <a:p>
            <a:pPr indent="0" marL="0">
              <a:lnSpc>
                <a:spcPts val="2000"/>
              </a:lnSpc>
              <a:buNone/>
            </a:pPr>
            <a:r>
              <a:rPr lang="en-US" sz="1250" b="1" dirty="0">
                <a:solidFill>
                  <a:srgbClr val="2F7F4C"/>
                </a:solidFill>
                <a:latin typeface="Calibri" pitchFamily="34" charset="0"/>
                <a:ea typeface="Calibri" pitchFamily="34" charset="-122"/>
                <a:cs typeface="Calibri" pitchFamily="34" charset="-120"/>
              </a:rPr>
              <a:t>Nunca se solapan, con huecos de 0.10 s. Siempre hay paso, pero hay que leer el ritmo.</a:t>
            </a:r>
            <a:endParaRPr lang="en-US" sz="1250" dirty="0"/>
          </a:p>
        </p:txBody>
      </p:sp>
      <p:sp>
        <p:nvSpPr>
          <p:cNvPr id="24" name="Text 21"/>
          <p:cNvSpPr txBox="1"/>
          <p:nvPr/>
        </p:nvSpPr>
        <p:spPr>
          <a:xfrm>
            <a:off x="548640" y="5257800"/>
            <a:ext cx="5852160" cy="1005840"/>
          </a:xfrm>
          <a:prstGeom prst="rect">
            <a:avLst/>
          </a:prstGeom>
          <a:noFill/>
          <a:ln/>
        </p:spPr>
        <p:txBody>
          <a:bodyPr wrap="square" lIns="0" tIns="0" rIns="0" bIns="0" rtlCol="0" anchor="ctr"/>
          <a:lstStyle/>
          <a:p>
            <a:pPr indent="0" marL="0">
              <a:lnSpc>
                <a:spcPts val="2000"/>
              </a:lnSpc>
              <a:buNone/>
            </a:pPr>
            <a:r>
              <a:rPr lang="en-US" sz="1250" dirty="0">
                <a:solidFill>
                  <a:srgbClr val="4E4B59"/>
                </a:solidFill>
                <a:latin typeface="Calibri" pitchFamily="34" charset="0"/>
                <a:ea typeface="Calibri" pitchFamily="34" charset="-122"/>
                <a:cs typeface="Calibri" pitchFamily="34" charset="-120"/>
              </a:rPr>
              <a:t>Tres sprites conmutados por código, no por Animator: así la fase visible y la lógica no se desincronizan. Y al armarse, un Collider2D.Overlap comprueba quién está dentro en ese instante, porque un cuerpo quieto no vuelve a emitir OnTriggerEnter2D. Quedarse parado sobre los pinchos también mata.</a:t>
            </a:r>
            <a:endParaRPr lang="en-US" sz="1250" dirty="0"/>
          </a:p>
        </p:txBody>
      </p:sp>
      <p:pic>
        <p:nvPicPr>
          <p:cNvPr id="25" name="Image 0" descr="/home/user/DungeonPuzzle/docs/Semana04/capturas/05b_trampas_detalle.png">    </p:cNvPr>
          <p:cNvPicPr>
            <a:picLocks noChangeAspect="1"/>
          </p:cNvPicPr>
          <p:nvPr/>
        </p:nvPicPr>
        <p:blipFill>
          <a:blip r:embed="rId1"/>
          <a:stretch>
            <a:fillRect/>
          </a:stretch>
        </p:blipFill>
        <p:spPr>
          <a:xfrm>
            <a:off x="6400800" y="3063240"/>
            <a:ext cx="5212080" cy="1353312"/>
          </a:xfrm>
          <a:prstGeom prst="rect">
            <a:avLst/>
          </a:prstGeom>
        </p:spPr>
      </p:pic>
      <p:sp>
        <p:nvSpPr>
          <p:cNvPr id="26" name="Text 22"/>
          <p:cNvSpPr txBox="1"/>
          <p:nvPr/>
        </p:nvSpPr>
        <p:spPr>
          <a:xfrm>
            <a:off x="6400800" y="4526280"/>
            <a:ext cx="5212080" cy="457200"/>
          </a:xfrm>
          <a:prstGeom prst="rect">
            <a:avLst/>
          </a:prstGeom>
          <a:noFill/>
          <a:ln/>
        </p:spPr>
        <p:txBody>
          <a:bodyPr wrap="square" lIns="0" tIns="0" rIns="0" bIns="0" rtlCol="0" anchor="ctr"/>
          <a:lstStyle/>
          <a:p>
            <a:pPr indent="0" marL="0">
              <a:lnSpc>
                <a:spcPts val="1300"/>
              </a:lnSpc>
              <a:buNone/>
            </a:pPr>
            <a:r>
              <a:rPr lang="en-US" sz="950" dirty="0">
                <a:solidFill>
                  <a:srgbClr val="7A7787"/>
                </a:solidFill>
                <a:latin typeface="Courier New" pitchFamily="34" charset="0"/>
                <a:ea typeface="Courier New" pitchFamily="34" charset="-122"/>
                <a:cs typeface="Courier New" pitchFamily="34" charset="-120"/>
              </a:rPr>
              <a:t>Dos trampas en fases distintas: una con los pinchos fuera y otra con los agujeros vacíos.</a:t>
            </a:r>
            <a:endParaRPr lang="en-US" sz="950" dirty="0"/>
          </a:p>
        </p:txBody>
      </p:sp>
      <p:pic>
        <p:nvPicPr>
          <p:cNvPr id="27" name="Image 1" descr="/home/user/DungeonPuzzle/docs/Semana04/capturas/05_trampas.png">    </p:cNvPr>
          <p:cNvPicPr>
            <a:picLocks noChangeAspect="1"/>
          </p:cNvPicPr>
          <p:nvPr/>
        </p:nvPicPr>
        <p:blipFill>
          <a:blip r:embed="rId2"/>
          <a:stretch>
            <a:fillRect/>
          </a:stretch>
        </p:blipFill>
        <p:spPr>
          <a:xfrm>
            <a:off x="6400800" y="5029200"/>
            <a:ext cx="5212080" cy="12344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9"/>
        </a:solidFill>
      </p:bgPr>
    </p:bg>
    <p:spTree>
      <p:nvGrpSpPr>
        <p:cNvPr id="1" name=""/>
        <p:cNvGrpSpPr/>
        <p:nvPr/>
      </p:nvGrpSpPr>
      <p:grpSpPr>
        <a:xfrm>
          <a:off x="0" y="0"/>
          <a:ext cx="0" cy="0"/>
          <a:chOff x="0" y="0"/>
          <a:chExt cx="0" cy="0"/>
        </a:xfrm>
      </p:grpSpPr>
      <p:sp>
        <p:nvSpPr>
          <p:cNvPr id="2" name="Text 0"/>
          <p:cNvSpPr txBox="1"/>
          <p:nvPr/>
        </p:nvSpPr>
        <p:spPr>
          <a:xfrm>
            <a:off x="548640" y="329184"/>
            <a:ext cx="11064240" cy="237744"/>
          </a:xfrm>
          <a:prstGeom prst="rect">
            <a:avLst/>
          </a:prstGeom>
          <a:noFill/>
          <a:ln/>
        </p:spPr>
        <p:txBody>
          <a:bodyPr wrap="square" lIns="0" tIns="0" rIns="0" bIns="0" rtlCol="0" anchor="ctr"/>
          <a:lstStyle/>
          <a:p>
            <a:pPr indent="0" marL="0">
              <a:buNone/>
            </a:pPr>
            <a:r>
              <a:rPr lang="en-US" sz="1100" spc="140" kern="0" dirty="0">
                <a:solidFill>
                  <a:srgbClr val="9A681F"/>
                </a:solidFill>
                <a:latin typeface="Courier New" pitchFamily="34" charset="0"/>
                <a:ea typeface="Courier New" pitchFamily="34" charset="-122"/>
                <a:cs typeface="Courier New" pitchFamily="34" charset="-120"/>
              </a:rPr>
              <a:t>05 · ARQUITECTURA</a:t>
            </a:r>
            <a:endParaRPr lang="en-US" sz="1100" dirty="0"/>
          </a:p>
        </p:txBody>
      </p:sp>
      <p:sp>
        <p:nvSpPr>
          <p:cNvPr id="3" name="Text 1"/>
          <p:cNvSpPr txBox="1"/>
          <p:nvPr/>
        </p:nvSpPr>
        <p:spPr>
          <a:xfrm>
            <a:off x="548640" y="585216"/>
            <a:ext cx="10515600" cy="658368"/>
          </a:xfrm>
          <a:prstGeom prst="rect">
            <a:avLst/>
          </a:prstGeom>
          <a:noFill/>
          <a:ln/>
        </p:spPr>
        <p:txBody>
          <a:bodyPr wrap="square" lIns="0" tIns="0" rIns="0" bIns="0" rtlCol="0" anchor="ctr"/>
          <a:lstStyle/>
          <a:p>
            <a:pPr indent="0" marL="0">
              <a:buNone/>
            </a:pPr>
            <a:r>
              <a:rPr lang="en-US" sz="3000" b="1" dirty="0">
                <a:solidFill>
                  <a:srgbClr val="23222A"/>
                </a:solidFill>
                <a:latin typeface="Calibri" pitchFamily="34" charset="0"/>
                <a:ea typeface="Calibri" pitchFamily="34" charset="-122"/>
                <a:cs typeface="Calibri" pitchFamily="34" charset="-120"/>
              </a:rPr>
              <a:t>Decisiones que abaratan lo siguiente</a:t>
            </a:r>
            <a:endParaRPr lang="en-US" sz="3000" dirty="0"/>
          </a:p>
        </p:txBody>
      </p:sp>
      <p:sp>
        <p:nvSpPr>
          <p:cNvPr id="4" name="Text 2"/>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7A7787"/>
                </a:solidFill>
                <a:latin typeface="Courier New" pitchFamily="34" charset="0"/>
                <a:ea typeface="Courier New" pitchFamily="34" charset="-122"/>
                <a:cs typeface="Courier New" pitchFamily="34" charset="-120"/>
              </a:rPr>
              <a:t>11</a:t>
            </a:r>
            <a:endParaRPr lang="en-US" sz="1000" dirty="0"/>
          </a:p>
        </p:txBody>
      </p:sp>
      <p:sp>
        <p:nvSpPr>
          <p:cNvPr id="5" name="Shape 3"/>
          <p:cNvSpPr/>
          <p:nvPr/>
        </p:nvSpPr>
        <p:spPr>
          <a:xfrm>
            <a:off x="548640" y="1463040"/>
            <a:ext cx="3931920" cy="548640"/>
          </a:xfrm>
          <a:prstGeom prst="roundRect">
            <a:avLst>
              <a:gd name="adj" fmla="val 8333"/>
            </a:avLst>
          </a:prstGeom>
          <a:solidFill>
            <a:srgbClr val="F6EEDE"/>
          </a:solidFill>
          <a:ln w="9525">
            <a:solidFill>
              <a:srgbClr val="E7A93F"/>
            </a:solidFill>
            <a:prstDash val="solid"/>
          </a:ln>
        </p:spPr>
      </p:sp>
      <p:sp>
        <p:nvSpPr>
          <p:cNvPr id="6" name="Text 4"/>
          <p:cNvSpPr txBox="1"/>
          <p:nvPr/>
        </p:nvSpPr>
        <p:spPr>
          <a:xfrm>
            <a:off x="713232" y="1463040"/>
            <a:ext cx="3611880" cy="548640"/>
          </a:xfrm>
          <a:prstGeom prst="rect">
            <a:avLst/>
          </a:prstGeom>
          <a:noFill/>
          <a:ln/>
        </p:spPr>
        <p:txBody>
          <a:bodyPr wrap="square" lIns="0" tIns="0" rIns="0" bIns="0" rtlCol="0" anchor="ctr"/>
          <a:lstStyle/>
          <a:p>
            <a:pPr indent="0" marL="0">
              <a:buNone/>
            </a:pPr>
            <a:r>
              <a:rPr lang="en-US" sz="1200" b="1" dirty="0">
                <a:solidFill>
                  <a:srgbClr val="9A681F"/>
                </a:solidFill>
                <a:latin typeface="Calibri" pitchFamily="34" charset="0"/>
                <a:ea typeface="Calibri" pitchFamily="34" charset="-122"/>
                <a:cs typeface="Calibri" pitchFamily="34" charset="-120"/>
              </a:rPr>
              <a:t>CollisionLayers, fuente única</a:t>
            </a:r>
            <a:endParaRPr lang="en-US" sz="1200" dirty="0"/>
          </a:p>
        </p:txBody>
      </p:sp>
      <p:sp>
        <p:nvSpPr>
          <p:cNvPr id="7" name="Text 5"/>
          <p:cNvSpPr txBox="1"/>
          <p:nvPr/>
        </p:nvSpPr>
        <p:spPr>
          <a:xfrm>
            <a:off x="4709160" y="1499616"/>
            <a:ext cx="6858000" cy="502920"/>
          </a:xfrm>
          <a:prstGeom prst="rect">
            <a:avLst/>
          </a:prstGeom>
          <a:noFill/>
          <a:ln/>
        </p:spPr>
        <p:txBody>
          <a:bodyPr wrap="square" lIns="0" tIns="0" rIns="0" bIns="0" rtlCol="0" anchor="ctr"/>
          <a:lstStyle/>
          <a:p>
            <a:pPr indent="0" marL="0">
              <a:lnSpc>
                <a:spcPts val="2000"/>
              </a:lnSpc>
              <a:buNone/>
            </a:pPr>
            <a:r>
              <a:rPr lang="en-US" sz="1250" dirty="0">
                <a:solidFill>
                  <a:srgbClr val="4E4B59"/>
                </a:solidFill>
                <a:latin typeface="Calibri" pitchFamily="34" charset="0"/>
                <a:ea typeface="Calibri" pitchFamily="34" charset="-122"/>
                <a:cs typeface="Calibri" pitchFamily="34" charset="-120"/>
              </a:rPr>
              <a:t>Máscaras nombradas por intención. Ningún prefab rompe la detección dejando un campo vacío.</a:t>
            </a:r>
            <a:endParaRPr lang="en-US" sz="1250" dirty="0"/>
          </a:p>
        </p:txBody>
      </p:sp>
      <p:sp>
        <p:nvSpPr>
          <p:cNvPr id="8" name="Shape 6"/>
          <p:cNvSpPr/>
          <p:nvPr/>
        </p:nvSpPr>
        <p:spPr>
          <a:xfrm>
            <a:off x="548640" y="2121408"/>
            <a:ext cx="3931920" cy="548640"/>
          </a:xfrm>
          <a:prstGeom prst="roundRect">
            <a:avLst>
              <a:gd name="adj" fmla="val 8333"/>
            </a:avLst>
          </a:prstGeom>
          <a:solidFill>
            <a:srgbClr val="F6EEDE"/>
          </a:solidFill>
          <a:ln w="9525">
            <a:solidFill>
              <a:srgbClr val="E7A93F"/>
            </a:solidFill>
            <a:prstDash val="solid"/>
          </a:ln>
        </p:spPr>
      </p:sp>
      <p:sp>
        <p:nvSpPr>
          <p:cNvPr id="9" name="Text 7"/>
          <p:cNvSpPr txBox="1"/>
          <p:nvPr/>
        </p:nvSpPr>
        <p:spPr>
          <a:xfrm>
            <a:off x="713232" y="2121408"/>
            <a:ext cx="3611880" cy="548640"/>
          </a:xfrm>
          <a:prstGeom prst="rect">
            <a:avLst/>
          </a:prstGeom>
          <a:noFill/>
          <a:ln/>
        </p:spPr>
        <p:txBody>
          <a:bodyPr wrap="square" lIns="0" tIns="0" rIns="0" bIns="0" rtlCol="0" anchor="ctr"/>
          <a:lstStyle/>
          <a:p>
            <a:pPr indent="0" marL="0">
              <a:buNone/>
            </a:pPr>
            <a:r>
              <a:rPr lang="en-US" sz="1200" b="1" dirty="0">
                <a:solidFill>
                  <a:srgbClr val="9A681F"/>
                </a:solidFill>
                <a:latin typeface="Calibri" pitchFamily="34" charset="0"/>
                <a:ea typeface="Calibri" pitchFamily="34" charset="-122"/>
                <a:cs typeface="Calibri" pitchFamily="34" charset="-120"/>
              </a:rPr>
              <a:t>Herencia solo donde hay jerarquía</a:t>
            </a:r>
            <a:endParaRPr lang="en-US" sz="1200" dirty="0"/>
          </a:p>
        </p:txBody>
      </p:sp>
      <p:sp>
        <p:nvSpPr>
          <p:cNvPr id="10" name="Text 8"/>
          <p:cNvSpPr txBox="1"/>
          <p:nvPr/>
        </p:nvSpPr>
        <p:spPr>
          <a:xfrm>
            <a:off x="4709160" y="2157984"/>
            <a:ext cx="6858000" cy="502920"/>
          </a:xfrm>
          <a:prstGeom prst="rect">
            <a:avLst/>
          </a:prstGeom>
          <a:noFill/>
          <a:ln/>
        </p:spPr>
        <p:txBody>
          <a:bodyPr wrap="square" lIns="0" tIns="0" rIns="0" bIns="0" rtlCol="0" anchor="ctr"/>
          <a:lstStyle/>
          <a:p>
            <a:pPr indent="0" marL="0">
              <a:lnSpc>
                <a:spcPts val="2000"/>
              </a:lnSpc>
              <a:buNone/>
            </a:pPr>
            <a:r>
              <a:rPr lang="en-US" sz="1250" dirty="0">
                <a:solidFill>
                  <a:srgbClr val="4E4B59"/>
                </a:solidFill>
                <a:latin typeface="Calibri" pitchFamily="34" charset="0"/>
                <a:ea typeface="Calibri" pitchFamily="34" charset="-122"/>
                <a:cs typeface="Calibri" pitchFamily="34" charset="-120"/>
              </a:rPr>
              <a:t>GuardBase define el ciclo detectar → alertar → volver; las subclases solo aportan cómo se mueven.</a:t>
            </a:r>
            <a:endParaRPr lang="en-US" sz="1250" dirty="0"/>
          </a:p>
        </p:txBody>
      </p:sp>
      <p:sp>
        <p:nvSpPr>
          <p:cNvPr id="11" name="Shape 9"/>
          <p:cNvSpPr/>
          <p:nvPr/>
        </p:nvSpPr>
        <p:spPr>
          <a:xfrm>
            <a:off x="548640" y="2779776"/>
            <a:ext cx="3931920" cy="548640"/>
          </a:xfrm>
          <a:prstGeom prst="roundRect">
            <a:avLst>
              <a:gd name="adj" fmla="val 8333"/>
            </a:avLst>
          </a:prstGeom>
          <a:solidFill>
            <a:srgbClr val="F6EEDE"/>
          </a:solidFill>
          <a:ln w="9525">
            <a:solidFill>
              <a:srgbClr val="E7A93F"/>
            </a:solidFill>
            <a:prstDash val="solid"/>
          </a:ln>
        </p:spPr>
      </p:sp>
      <p:sp>
        <p:nvSpPr>
          <p:cNvPr id="12" name="Text 10"/>
          <p:cNvSpPr txBox="1"/>
          <p:nvPr/>
        </p:nvSpPr>
        <p:spPr>
          <a:xfrm>
            <a:off x="713232" y="2779776"/>
            <a:ext cx="3611880" cy="548640"/>
          </a:xfrm>
          <a:prstGeom prst="rect">
            <a:avLst/>
          </a:prstGeom>
          <a:noFill/>
          <a:ln/>
        </p:spPr>
        <p:txBody>
          <a:bodyPr wrap="square" lIns="0" tIns="0" rIns="0" bIns="0" rtlCol="0" anchor="ctr"/>
          <a:lstStyle/>
          <a:p>
            <a:pPr indent="0" marL="0">
              <a:buNone/>
            </a:pPr>
            <a:r>
              <a:rPr lang="en-US" sz="1200" b="1" dirty="0">
                <a:solidFill>
                  <a:srgbClr val="9A681F"/>
                </a:solidFill>
                <a:latin typeface="Calibri" pitchFamily="34" charset="0"/>
                <a:ea typeface="Calibri" pitchFamily="34" charset="-122"/>
                <a:cs typeface="Calibri" pitchFamily="34" charset="-120"/>
              </a:rPr>
              <a:t>Interfaz IInteractable</a:t>
            </a:r>
            <a:endParaRPr lang="en-US" sz="1200" dirty="0"/>
          </a:p>
        </p:txBody>
      </p:sp>
      <p:sp>
        <p:nvSpPr>
          <p:cNvPr id="13" name="Text 11"/>
          <p:cNvSpPr txBox="1"/>
          <p:nvPr/>
        </p:nvSpPr>
        <p:spPr>
          <a:xfrm>
            <a:off x="4709160" y="2816352"/>
            <a:ext cx="6858000" cy="502920"/>
          </a:xfrm>
          <a:prstGeom prst="rect">
            <a:avLst/>
          </a:prstGeom>
          <a:noFill/>
          <a:ln/>
        </p:spPr>
        <p:txBody>
          <a:bodyPr wrap="square" lIns="0" tIns="0" rIns="0" bIns="0" rtlCol="0" anchor="ctr"/>
          <a:lstStyle/>
          <a:p>
            <a:pPr indent="0" marL="0">
              <a:lnSpc>
                <a:spcPts val="2000"/>
              </a:lnSpc>
              <a:buNone/>
            </a:pPr>
            <a:r>
              <a:rPr lang="en-US" sz="1250" dirty="0">
                <a:solidFill>
                  <a:srgbClr val="4E4B59"/>
                </a:solidFill>
                <a:latin typeface="Calibri" pitchFamily="34" charset="0"/>
                <a:ea typeface="Calibri" pitchFamily="34" charset="-122"/>
                <a:cs typeface="Calibri" pitchFamily="34" charset="-120"/>
              </a:rPr>
              <a:t>El jugador pide un contrato y no conoce Lever ni Door.</a:t>
            </a:r>
            <a:endParaRPr lang="en-US" sz="1250" dirty="0"/>
          </a:p>
        </p:txBody>
      </p:sp>
      <p:sp>
        <p:nvSpPr>
          <p:cNvPr id="14" name="Shape 12"/>
          <p:cNvSpPr/>
          <p:nvPr/>
        </p:nvSpPr>
        <p:spPr>
          <a:xfrm>
            <a:off x="548640" y="3438144"/>
            <a:ext cx="3931920" cy="548640"/>
          </a:xfrm>
          <a:prstGeom prst="roundRect">
            <a:avLst>
              <a:gd name="adj" fmla="val 8333"/>
            </a:avLst>
          </a:prstGeom>
          <a:solidFill>
            <a:srgbClr val="F6EEDE"/>
          </a:solidFill>
          <a:ln w="9525">
            <a:solidFill>
              <a:srgbClr val="E7A93F"/>
            </a:solidFill>
            <a:prstDash val="solid"/>
          </a:ln>
        </p:spPr>
      </p:sp>
      <p:sp>
        <p:nvSpPr>
          <p:cNvPr id="15" name="Text 13"/>
          <p:cNvSpPr txBox="1"/>
          <p:nvPr/>
        </p:nvSpPr>
        <p:spPr>
          <a:xfrm>
            <a:off x="713232" y="3438144"/>
            <a:ext cx="3611880" cy="548640"/>
          </a:xfrm>
          <a:prstGeom prst="rect">
            <a:avLst/>
          </a:prstGeom>
          <a:noFill/>
          <a:ln/>
        </p:spPr>
        <p:txBody>
          <a:bodyPr wrap="square" lIns="0" tIns="0" rIns="0" bIns="0" rtlCol="0" anchor="ctr"/>
          <a:lstStyle/>
          <a:p>
            <a:pPr indent="0" marL="0">
              <a:buNone/>
            </a:pPr>
            <a:r>
              <a:rPr lang="en-US" sz="1200" b="1" dirty="0">
                <a:solidFill>
                  <a:srgbClr val="9A681F"/>
                </a:solidFill>
                <a:latin typeface="Calibri" pitchFamily="34" charset="0"/>
                <a:ea typeface="Calibri" pitchFamily="34" charset="-122"/>
                <a:cs typeface="Calibri" pitchFamily="34" charset="-120"/>
              </a:rPr>
              <a:t>Lógica pura fuera del MonoBehaviour</a:t>
            </a:r>
            <a:endParaRPr lang="en-US" sz="1200" dirty="0"/>
          </a:p>
        </p:txBody>
      </p:sp>
      <p:sp>
        <p:nvSpPr>
          <p:cNvPr id="16" name="Text 14"/>
          <p:cNvSpPr txBox="1"/>
          <p:nvPr/>
        </p:nvSpPr>
        <p:spPr>
          <a:xfrm>
            <a:off x="4709160" y="3474720"/>
            <a:ext cx="6858000" cy="502920"/>
          </a:xfrm>
          <a:prstGeom prst="rect">
            <a:avLst/>
          </a:prstGeom>
          <a:noFill/>
          <a:ln/>
        </p:spPr>
        <p:txBody>
          <a:bodyPr wrap="square" lIns="0" tIns="0" rIns="0" bIns="0" rtlCol="0" anchor="ctr"/>
          <a:lstStyle/>
          <a:p>
            <a:pPr indent="0" marL="0">
              <a:lnSpc>
                <a:spcPts val="2000"/>
              </a:lnSpc>
              <a:buNone/>
            </a:pPr>
            <a:r>
              <a:rPr lang="en-US" sz="1250" dirty="0">
                <a:solidFill>
                  <a:srgbClr val="4E4B59"/>
                </a:solidFill>
                <a:latin typeface="Calibri" pitchFamily="34" charset="0"/>
                <a:ea typeface="Calibri" pitchFamily="34" charset="-122"/>
                <a:cs typeface="Calibri" pitchFamily="34" charset="-120"/>
              </a:rPr>
              <a:t>PhaseAt, ShouldBePressed, Bounce y SnapFacing se prueban sin abrir una escena.</a:t>
            </a:r>
            <a:endParaRPr lang="en-US" sz="1250" dirty="0"/>
          </a:p>
        </p:txBody>
      </p:sp>
      <p:sp>
        <p:nvSpPr>
          <p:cNvPr id="17" name="Shape 15"/>
          <p:cNvSpPr/>
          <p:nvPr/>
        </p:nvSpPr>
        <p:spPr>
          <a:xfrm>
            <a:off x="548640" y="4096512"/>
            <a:ext cx="3931920" cy="548640"/>
          </a:xfrm>
          <a:prstGeom prst="roundRect">
            <a:avLst>
              <a:gd name="adj" fmla="val 8333"/>
            </a:avLst>
          </a:prstGeom>
          <a:solidFill>
            <a:srgbClr val="F6EEDE"/>
          </a:solidFill>
          <a:ln w="9525">
            <a:solidFill>
              <a:srgbClr val="E7A93F"/>
            </a:solidFill>
            <a:prstDash val="solid"/>
          </a:ln>
        </p:spPr>
      </p:sp>
      <p:sp>
        <p:nvSpPr>
          <p:cNvPr id="18" name="Text 16"/>
          <p:cNvSpPr txBox="1"/>
          <p:nvPr/>
        </p:nvSpPr>
        <p:spPr>
          <a:xfrm>
            <a:off x="713232" y="4096512"/>
            <a:ext cx="3611880" cy="548640"/>
          </a:xfrm>
          <a:prstGeom prst="rect">
            <a:avLst/>
          </a:prstGeom>
          <a:noFill/>
          <a:ln/>
        </p:spPr>
        <p:txBody>
          <a:bodyPr wrap="square" lIns="0" tIns="0" rIns="0" bIns="0" rtlCol="0" anchor="ctr"/>
          <a:lstStyle/>
          <a:p>
            <a:pPr indent="0" marL="0">
              <a:buNone/>
            </a:pPr>
            <a:r>
              <a:rPr lang="en-US" sz="1200" b="1" dirty="0">
                <a:solidFill>
                  <a:srgbClr val="9A681F"/>
                </a:solidFill>
                <a:latin typeface="Calibri" pitchFamily="34" charset="0"/>
                <a:ea typeface="Calibri" pitchFamily="34" charset="-122"/>
                <a:cs typeface="Calibri" pitchFamily="34" charset="-120"/>
              </a:rPr>
              <a:t>Servicios estáticos por nombre</a:t>
            </a:r>
            <a:endParaRPr lang="en-US" sz="1200" dirty="0"/>
          </a:p>
        </p:txBody>
      </p:sp>
      <p:sp>
        <p:nvSpPr>
          <p:cNvPr id="19" name="Text 17"/>
          <p:cNvSpPr txBox="1"/>
          <p:nvPr/>
        </p:nvSpPr>
        <p:spPr>
          <a:xfrm>
            <a:off x="4709160" y="4133088"/>
            <a:ext cx="6858000" cy="502920"/>
          </a:xfrm>
          <a:prstGeom prst="rect">
            <a:avLst/>
          </a:prstGeom>
          <a:noFill/>
          <a:ln/>
        </p:spPr>
        <p:txBody>
          <a:bodyPr wrap="square" lIns="0" tIns="0" rIns="0" bIns="0" rtlCol="0" anchor="ctr"/>
          <a:lstStyle/>
          <a:p>
            <a:pPr indent="0" marL="0">
              <a:lnSpc>
                <a:spcPts val="2000"/>
              </a:lnSpc>
              <a:buNone/>
            </a:pPr>
            <a:r>
              <a:rPr lang="en-US" sz="1250" dirty="0">
                <a:solidFill>
                  <a:srgbClr val="4E4B59"/>
                </a:solidFill>
                <a:latin typeface="Calibri" pitchFamily="34" charset="0"/>
                <a:ea typeface="Calibri" pitchFamily="34" charset="-122"/>
                <a:cs typeface="Calibri" pitchFamily="34" charset="-120"/>
              </a:rPr>
              <a:t>SfxLibrary y Vfx cargan de Resources/, así que añadir un efecto no toca ningún prefab.</a:t>
            </a:r>
            <a:endParaRPr lang="en-US" sz="1250" dirty="0"/>
          </a:p>
        </p:txBody>
      </p:sp>
      <p:sp>
        <p:nvSpPr>
          <p:cNvPr id="20" name="Shape 18"/>
          <p:cNvSpPr/>
          <p:nvPr/>
        </p:nvSpPr>
        <p:spPr>
          <a:xfrm>
            <a:off x="548640" y="4754880"/>
            <a:ext cx="3931920" cy="548640"/>
          </a:xfrm>
          <a:prstGeom prst="roundRect">
            <a:avLst>
              <a:gd name="adj" fmla="val 8333"/>
            </a:avLst>
          </a:prstGeom>
          <a:solidFill>
            <a:srgbClr val="F6EEDE"/>
          </a:solidFill>
          <a:ln w="9525">
            <a:solidFill>
              <a:srgbClr val="E7A93F"/>
            </a:solidFill>
            <a:prstDash val="solid"/>
          </a:ln>
        </p:spPr>
      </p:sp>
      <p:sp>
        <p:nvSpPr>
          <p:cNvPr id="21" name="Text 19"/>
          <p:cNvSpPr txBox="1"/>
          <p:nvPr/>
        </p:nvSpPr>
        <p:spPr>
          <a:xfrm>
            <a:off x="713232" y="4754880"/>
            <a:ext cx="3611880" cy="548640"/>
          </a:xfrm>
          <a:prstGeom prst="rect">
            <a:avLst/>
          </a:prstGeom>
          <a:noFill/>
          <a:ln/>
        </p:spPr>
        <p:txBody>
          <a:bodyPr wrap="square" lIns="0" tIns="0" rIns="0" bIns="0" rtlCol="0" anchor="ctr"/>
          <a:lstStyle/>
          <a:p>
            <a:pPr indent="0" marL="0">
              <a:buNone/>
            </a:pPr>
            <a:r>
              <a:rPr lang="en-US" sz="1200" b="1" dirty="0">
                <a:solidFill>
                  <a:srgbClr val="9A681F"/>
                </a:solidFill>
                <a:latin typeface="Calibri" pitchFamily="34" charset="0"/>
                <a:ea typeface="Calibri" pitchFamily="34" charset="-122"/>
                <a:cs typeface="Calibri" pitchFamily="34" charset="-120"/>
              </a:rPr>
              <a:t>Salas generadas por código</a:t>
            </a:r>
            <a:endParaRPr lang="en-US" sz="1200" dirty="0"/>
          </a:p>
        </p:txBody>
      </p:sp>
      <p:sp>
        <p:nvSpPr>
          <p:cNvPr id="22" name="Text 20"/>
          <p:cNvSpPr txBox="1"/>
          <p:nvPr/>
        </p:nvSpPr>
        <p:spPr>
          <a:xfrm>
            <a:off x="4709160" y="4791456"/>
            <a:ext cx="6858000" cy="502920"/>
          </a:xfrm>
          <a:prstGeom prst="rect">
            <a:avLst/>
          </a:prstGeom>
          <a:noFill/>
          <a:ln/>
        </p:spPr>
        <p:txBody>
          <a:bodyPr wrap="square" lIns="0" tIns="0" rIns="0" bIns="0" rtlCol="0" anchor="ctr"/>
          <a:lstStyle/>
          <a:p>
            <a:pPr indent="0" marL="0">
              <a:lnSpc>
                <a:spcPts val="2000"/>
              </a:lnSpc>
              <a:buNone/>
            </a:pPr>
            <a:r>
              <a:rPr lang="en-US" sz="1250" dirty="0">
                <a:solidFill>
                  <a:srgbClr val="4E4B59"/>
                </a:solidFill>
                <a:latin typeface="Calibri" pitchFamily="34" charset="0"/>
                <a:ea typeface="Calibri" pitchFamily="34" charset="-122"/>
                <a:cs typeface="Calibri" pitchFamily="34" charset="-120"/>
              </a:rPr>
              <a:t>El avance es reproducible y el diff de git queda legible.</a:t>
            </a:r>
            <a:endParaRPr lang="en-US" sz="1250" dirty="0"/>
          </a:p>
        </p:txBody>
      </p:sp>
      <p:sp>
        <p:nvSpPr>
          <p:cNvPr id="23" name="Shape 21"/>
          <p:cNvSpPr/>
          <p:nvPr/>
        </p:nvSpPr>
        <p:spPr>
          <a:xfrm>
            <a:off x="548640" y="5413248"/>
            <a:ext cx="3931920" cy="548640"/>
          </a:xfrm>
          <a:prstGeom prst="roundRect">
            <a:avLst>
              <a:gd name="adj" fmla="val 8333"/>
            </a:avLst>
          </a:prstGeom>
          <a:solidFill>
            <a:srgbClr val="F6EEDE"/>
          </a:solidFill>
          <a:ln w="9525">
            <a:solidFill>
              <a:srgbClr val="E7A93F"/>
            </a:solidFill>
            <a:prstDash val="solid"/>
          </a:ln>
        </p:spPr>
      </p:sp>
      <p:sp>
        <p:nvSpPr>
          <p:cNvPr id="24" name="Text 22"/>
          <p:cNvSpPr txBox="1"/>
          <p:nvPr/>
        </p:nvSpPr>
        <p:spPr>
          <a:xfrm>
            <a:off x="713232" y="5413248"/>
            <a:ext cx="3611880" cy="548640"/>
          </a:xfrm>
          <a:prstGeom prst="rect">
            <a:avLst/>
          </a:prstGeom>
          <a:noFill/>
          <a:ln/>
        </p:spPr>
        <p:txBody>
          <a:bodyPr wrap="square" lIns="0" tIns="0" rIns="0" bIns="0" rtlCol="0" anchor="ctr"/>
          <a:lstStyle/>
          <a:p>
            <a:pPr indent="0" marL="0">
              <a:buNone/>
            </a:pPr>
            <a:r>
              <a:rPr lang="en-US" sz="1200" b="1" dirty="0">
                <a:solidFill>
                  <a:srgbClr val="9A681F"/>
                </a:solidFill>
                <a:latin typeface="Calibri" pitchFamily="34" charset="0"/>
                <a:ea typeface="Calibri" pitchFamily="34" charset="-122"/>
                <a:cs typeface="Calibri" pitchFamily="34" charset="-120"/>
              </a:rPr>
              <a:t>Validador en el menú del editor</a:t>
            </a:r>
            <a:endParaRPr lang="en-US" sz="1200" dirty="0"/>
          </a:p>
        </p:txBody>
      </p:sp>
      <p:sp>
        <p:nvSpPr>
          <p:cNvPr id="25" name="Text 23"/>
          <p:cNvSpPr txBox="1"/>
          <p:nvPr/>
        </p:nvSpPr>
        <p:spPr>
          <a:xfrm>
            <a:off x="4709160" y="5449824"/>
            <a:ext cx="6858000" cy="502920"/>
          </a:xfrm>
          <a:prstGeom prst="rect">
            <a:avLst/>
          </a:prstGeom>
          <a:noFill/>
          <a:ln/>
        </p:spPr>
        <p:txBody>
          <a:bodyPr wrap="square" lIns="0" tIns="0" rIns="0" bIns="0" rtlCol="0" anchor="ctr"/>
          <a:lstStyle/>
          <a:p>
            <a:pPr indent="0" marL="0">
              <a:lnSpc>
                <a:spcPts val="2000"/>
              </a:lnSpc>
              <a:buNone/>
            </a:pPr>
            <a:r>
              <a:rPr lang="en-US" sz="1250" dirty="0">
                <a:solidFill>
                  <a:srgbClr val="4E4B59"/>
                </a:solidFill>
                <a:latin typeface="Calibri" pitchFamily="34" charset="0"/>
                <a:ea typeface="Calibri" pitchFamily="34" charset="-122"/>
                <a:cs typeface="Calibri" pitchFamily="34" charset="-120"/>
              </a:rPr>
              <a:t>Comprueba capas, matriz y gravedad, e imprime OK o FALLA por línea.</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9"/>
        </a:solidFill>
      </p:bgPr>
    </p:bg>
    <p:spTree>
      <p:nvGrpSpPr>
        <p:cNvPr id="1" name=""/>
        <p:cNvGrpSpPr/>
        <p:nvPr/>
      </p:nvGrpSpPr>
      <p:grpSpPr>
        <a:xfrm>
          <a:off x="0" y="0"/>
          <a:ext cx="0" cy="0"/>
          <a:chOff x="0" y="0"/>
          <a:chExt cx="0" cy="0"/>
        </a:xfrm>
      </p:grpSpPr>
      <p:sp>
        <p:nvSpPr>
          <p:cNvPr id="2" name="Text 0"/>
          <p:cNvSpPr txBox="1"/>
          <p:nvPr/>
        </p:nvSpPr>
        <p:spPr>
          <a:xfrm>
            <a:off x="548640" y="329184"/>
            <a:ext cx="11064240" cy="237744"/>
          </a:xfrm>
          <a:prstGeom prst="rect">
            <a:avLst/>
          </a:prstGeom>
          <a:noFill/>
          <a:ln/>
        </p:spPr>
        <p:txBody>
          <a:bodyPr wrap="square" lIns="0" tIns="0" rIns="0" bIns="0" rtlCol="0" anchor="ctr"/>
          <a:lstStyle/>
          <a:p>
            <a:pPr indent="0" marL="0">
              <a:buNone/>
            </a:pPr>
            <a:r>
              <a:rPr lang="en-US" sz="1100" spc="140" kern="0" dirty="0">
                <a:solidFill>
                  <a:srgbClr val="9A681F"/>
                </a:solidFill>
                <a:latin typeface="Courier New" pitchFamily="34" charset="0"/>
                <a:ea typeface="Courier New" pitchFamily="34" charset="-122"/>
                <a:cs typeface="Courier New" pitchFamily="34" charset="-120"/>
              </a:rPr>
              <a:t>05 · VERIFICACIÓN</a:t>
            </a:r>
            <a:endParaRPr lang="en-US" sz="1100" dirty="0"/>
          </a:p>
        </p:txBody>
      </p:sp>
      <p:sp>
        <p:nvSpPr>
          <p:cNvPr id="3" name="Text 1"/>
          <p:cNvSpPr txBox="1"/>
          <p:nvPr/>
        </p:nvSpPr>
        <p:spPr>
          <a:xfrm>
            <a:off x="548640" y="585216"/>
            <a:ext cx="10515600" cy="658368"/>
          </a:xfrm>
          <a:prstGeom prst="rect">
            <a:avLst/>
          </a:prstGeom>
          <a:noFill/>
          <a:ln/>
        </p:spPr>
        <p:txBody>
          <a:bodyPr wrap="square" lIns="0" tIns="0" rIns="0" bIns="0" rtlCol="0" anchor="ctr"/>
          <a:lstStyle/>
          <a:p>
            <a:pPr indent="0" marL="0">
              <a:buNone/>
            </a:pPr>
            <a:r>
              <a:rPr lang="en-US" sz="3000" b="1" dirty="0">
                <a:solidFill>
                  <a:srgbClr val="23222A"/>
                </a:solidFill>
                <a:latin typeface="Calibri" pitchFamily="34" charset="0"/>
                <a:ea typeface="Calibri" pitchFamily="34" charset="-122"/>
                <a:cs typeface="Calibri" pitchFamily="34" charset="-120"/>
              </a:rPr>
              <a:t>Lo que se puede comprobar sin abrir el juego</a:t>
            </a:r>
            <a:endParaRPr lang="en-US" sz="3000" dirty="0"/>
          </a:p>
        </p:txBody>
      </p:sp>
      <p:sp>
        <p:nvSpPr>
          <p:cNvPr id="4" name="Text 2"/>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7A7787"/>
                </a:solidFill>
                <a:latin typeface="Courier New" pitchFamily="34" charset="0"/>
                <a:ea typeface="Courier New" pitchFamily="34" charset="-122"/>
                <a:cs typeface="Courier New" pitchFamily="34" charset="-120"/>
              </a:rPr>
              <a:t>12</a:t>
            </a:r>
            <a:endParaRPr lang="en-US" sz="1000" dirty="0"/>
          </a:p>
        </p:txBody>
      </p:sp>
      <p:sp>
        <p:nvSpPr>
          <p:cNvPr id="5" name="Text 3"/>
          <p:cNvSpPr txBox="1"/>
          <p:nvPr/>
        </p:nvSpPr>
        <p:spPr>
          <a:xfrm>
            <a:off x="548640" y="1417320"/>
            <a:ext cx="1463040" cy="777240"/>
          </a:xfrm>
          <a:prstGeom prst="rect">
            <a:avLst/>
          </a:prstGeom>
          <a:noFill/>
          <a:ln/>
        </p:spPr>
        <p:txBody>
          <a:bodyPr wrap="square" lIns="0" tIns="0" rIns="0" bIns="0" rtlCol="0" anchor="ctr"/>
          <a:lstStyle/>
          <a:p>
            <a:pPr indent="0" marL="0">
              <a:buNone/>
            </a:pPr>
            <a:r>
              <a:rPr lang="en-US" sz="4600" b="1" dirty="0">
                <a:solidFill>
                  <a:srgbClr val="9A681F"/>
                </a:solidFill>
                <a:latin typeface="Calibri" pitchFamily="34" charset="0"/>
                <a:ea typeface="Calibri" pitchFamily="34" charset="-122"/>
                <a:cs typeface="Calibri" pitchFamily="34" charset="-120"/>
              </a:rPr>
              <a:t>45</a:t>
            </a:r>
            <a:endParaRPr lang="en-US" sz="4600" dirty="0"/>
          </a:p>
        </p:txBody>
      </p:sp>
      <p:sp>
        <p:nvSpPr>
          <p:cNvPr id="6" name="Text 4"/>
          <p:cNvSpPr txBox="1"/>
          <p:nvPr/>
        </p:nvSpPr>
        <p:spPr>
          <a:xfrm>
            <a:off x="548640" y="2194560"/>
            <a:ext cx="1554480" cy="274320"/>
          </a:xfrm>
          <a:prstGeom prst="rect">
            <a:avLst/>
          </a:prstGeom>
          <a:noFill/>
          <a:ln/>
        </p:spPr>
        <p:txBody>
          <a:bodyPr wrap="square" lIns="0" tIns="0" rIns="0" bIns="0" rtlCol="0" anchor="ctr"/>
          <a:lstStyle/>
          <a:p>
            <a:pPr indent="0" marL="0">
              <a:buNone/>
            </a:pPr>
            <a:r>
              <a:rPr lang="en-US" sz="1000" dirty="0">
                <a:solidFill>
                  <a:srgbClr val="7A7787"/>
                </a:solidFill>
                <a:latin typeface="Courier New" pitchFamily="34" charset="0"/>
                <a:ea typeface="Courier New" pitchFamily="34" charset="-122"/>
                <a:cs typeface="Courier New" pitchFamily="34" charset="-120"/>
              </a:rPr>
              <a:t>casos EditMode</a:t>
            </a:r>
            <a:endParaRPr lang="en-US" sz="1000" dirty="0"/>
          </a:p>
        </p:txBody>
      </p:sp>
      <p:sp>
        <p:nvSpPr>
          <p:cNvPr id="7" name="Text 5"/>
          <p:cNvSpPr txBox="1"/>
          <p:nvPr/>
        </p:nvSpPr>
        <p:spPr>
          <a:xfrm>
            <a:off x="2148840" y="1417320"/>
            <a:ext cx="1463040" cy="777240"/>
          </a:xfrm>
          <a:prstGeom prst="rect">
            <a:avLst/>
          </a:prstGeom>
          <a:noFill/>
          <a:ln/>
        </p:spPr>
        <p:txBody>
          <a:bodyPr wrap="square" lIns="0" tIns="0" rIns="0" bIns="0" rtlCol="0" anchor="ctr"/>
          <a:lstStyle/>
          <a:p>
            <a:pPr indent="0" marL="0">
              <a:buNone/>
            </a:pPr>
            <a:r>
              <a:rPr lang="en-US" sz="4600" b="1" dirty="0">
                <a:solidFill>
                  <a:srgbClr val="9A681F"/>
                </a:solidFill>
                <a:latin typeface="Calibri" pitchFamily="34" charset="0"/>
                <a:ea typeface="Calibri" pitchFamily="34" charset="-122"/>
                <a:cs typeface="Calibri" pitchFamily="34" charset="-120"/>
              </a:rPr>
              <a:t>30</a:t>
            </a:r>
            <a:endParaRPr lang="en-US" sz="4600" dirty="0"/>
          </a:p>
        </p:txBody>
      </p:sp>
      <p:sp>
        <p:nvSpPr>
          <p:cNvPr id="8" name="Text 6"/>
          <p:cNvSpPr txBox="1"/>
          <p:nvPr/>
        </p:nvSpPr>
        <p:spPr>
          <a:xfrm>
            <a:off x="2148840" y="2194560"/>
            <a:ext cx="1554480" cy="274320"/>
          </a:xfrm>
          <a:prstGeom prst="rect">
            <a:avLst/>
          </a:prstGeom>
          <a:noFill/>
          <a:ln/>
        </p:spPr>
        <p:txBody>
          <a:bodyPr wrap="square" lIns="0" tIns="0" rIns="0" bIns="0" rtlCol="0" anchor="ctr"/>
          <a:lstStyle/>
          <a:p>
            <a:pPr indent="0" marL="0">
              <a:buNone/>
            </a:pPr>
            <a:r>
              <a:rPr lang="en-US" sz="1000" dirty="0">
                <a:solidFill>
                  <a:srgbClr val="7A7787"/>
                </a:solidFill>
                <a:latin typeface="Courier New" pitchFamily="34" charset="0"/>
                <a:ea typeface="Courier New" pitchFamily="34" charset="-122"/>
                <a:cs typeface="Courier New" pitchFamily="34" charset="-120"/>
              </a:rPr>
              <a:t>nuevos esta semana</a:t>
            </a:r>
            <a:endParaRPr lang="en-US" sz="1000" dirty="0"/>
          </a:p>
        </p:txBody>
      </p:sp>
      <p:sp>
        <p:nvSpPr>
          <p:cNvPr id="9" name="Text 7"/>
          <p:cNvSpPr txBox="1"/>
          <p:nvPr/>
        </p:nvSpPr>
        <p:spPr>
          <a:xfrm>
            <a:off x="3749040" y="1417320"/>
            <a:ext cx="1463040" cy="777240"/>
          </a:xfrm>
          <a:prstGeom prst="rect">
            <a:avLst/>
          </a:prstGeom>
          <a:noFill/>
          <a:ln/>
        </p:spPr>
        <p:txBody>
          <a:bodyPr wrap="square" lIns="0" tIns="0" rIns="0" bIns="0" rtlCol="0" anchor="ctr"/>
          <a:lstStyle/>
          <a:p>
            <a:pPr indent="0" marL="0">
              <a:buNone/>
            </a:pPr>
            <a:r>
              <a:rPr lang="en-US" sz="4600" b="1" dirty="0">
                <a:solidFill>
                  <a:srgbClr val="9A681F"/>
                </a:solidFill>
                <a:latin typeface="Calibri" pitchFamily="34" charset="0"/>
                <a:ea typeface="Calibri" pitchFamily="34" charset="-122"/>
                <a:cs typeface="Calibri" pitchFamily="34" charset="-120"/>
              </a:rPr>
              <a:t>7</a:t>
            </a:r>
            <a:endParaRPr lang="en-US" sz="4600" dirty="0"/>
          </a:p>
        </p:txBody>
      </p:sp>
      <p:sp>
        <p:nvSpPr>
          <p:cNvPr id="10" name="Text 8"/>
          <p:cNvSpPr txBox="1"/>
          <p:nvPr/>
        </p:nvSpPr>
        <p:spPr>
          <a:xfrm>
            <a:off x="3749040" y="2194560"/>
            <a:ext cx="1554480" cy="274320"/>
          </a:xfrm>
          <a:prstGeom prst="rect">
            <a:avLst/>
          </a:prstGeom>
          <a:noFill/>
          <a:ln/>
        </p:spPr>
        <p:txBody>
          <a:bodyPr wrap="square" lIns="0" tIns="0" rIns="0" bIns="0" rtlCol="0" anchor="ctr"/>
          <a:lstStyle/>
          <a:p>
            <a:pPr indent="0" marL="0">
              <a:buNone/>
            </a:pPr>
            <a:r>
              <a:rPr lang="en-US" sz="1000" dirty="0">
                <a:solidFill>
                  <a:srgbClr val="7A7787"/>
                </a:solidFill>
                <a:latin typeface="Courier New" pitchFamily="34" charset="0"/>
                <a:ea typeface="Courier New" pitchFamily="34" charset="-122"/>
                <a:cs typeface="Courier New" pitchFamily="34" charset="-120"/>
              </a:rPr>
              <a:t>capas de física</a:t>
            </a:r>
            <a:endParaRPr lang="en-US" sz="1000" dirty="0"/>
          </a:p>
        </p:txBody>
      </p:sp>
      <p:sp>
        <p:nvSpPr>
          <p:cNvPr id="11" name="Text 9"/>
          <p:cNvSpPr txBox="1"/>
          <p:nvPr/>
        </p:nvSpPr>
        <p:spPr>
          <a:xfrm>
            <a:off x="5349240" y="1417320"/>
            <a:ext cx="1463040" cy="777240"/>
          </a:xfrm>
          <a:prstGeom prst="rect">
            <a:avLst/>
          </a:prstGeom>
          <a:noFill/>
          <a:ln/>
        </p:spPr>
        <p:txBody>
          <a:bodyPr wrap="square" lIns="0" tIns="0" rIns="0" bIns="0" rtlCol="0" anchor="ctr"/>
          <a:lstStyle/>
          <a:p>
            <a:pPr indent="0" marL="0">
              <a:buNone/>
            </a:pPr>
            <a:r>
              <a:rPr lang="en-US" sz="4600" b="1" dirty="0">
                <a:solidFill>
                  <a:srgbClr val="9A681F"/>
                </a:solidFill>
                <a:latin typeface="Calibri" pitchFamily="34" charset="0"/>
                <a:ea typeface="Calibri" pitchFamily="34" charset="-122"/>
                <a:cs typeface="Calibri" pitchFamily="34" charset="-120"/>
              </a:rPr>
              <a:t>6</a:t>
            </a:r>
            <a:endParaRPr lang="en-US" sz="4600" dirty="0"/>
          </a:p>
        </p:txBody>
      </p:sp>
      <p:sp>
        <p:nvSpPr>
          <p:cNvPr id="12" name="Text 10"/>
          <p:cNvSpPr txBox="1"/>
          <p:nvPr/>
        </p:nvSpPr>
        <p:spPr>
          <a:xfrm>
            <a:off x="5349240" y="2194560"/>
            <a:ext cx="1554480" cy="274320"/>
          </a:xfrm>
          <a:prstGeom prst="rect">
            <a:avLst/>
          </a:prstGeom>
          <a:noFill/>
          <a:ln/>
        </p:spPr>
        <p:txBody>
          <a:bodyPr wrap="square" lIns="0" tIns="0" rIns="0" bIns="0" rtlCol="0" anchor="ctr"/>
          <a:lstStyle/>
          <a:p>
            <a:pPr indent="0" marL="0">
              <a:buNone/>
            </a:pPr>
            <a:r>
              <a:rPr lang="en-US" sz="1000" dirty="0">
                <a:solidFill>
                  <a:srgbClr val="7A7787"/>
                </a:solidFill>
                <a:latin typeface="Courier New" pitchFamily="34" charset="0"/>
                <a:ea typeface="Courier New" pitchFamily="34" charset="-122"/>
                <a:cs typeface="Courier New" pitchFamily="34" charset="-120"/>
              </a:rPr>
              <a:t>salas</a:t>
            </a:r>
            <a:endParaRPr lang="en-US" sz="1000" dirty="0"/>
          </a:p>
        </p:txBody>
      </p:sp>
      <p:sp>
        <p:nvSpPr>
          <p:cNvPr id="13" name="Shape 11"/>
          <p:cNvSpPr/>
          <p:nvPr/>
        </p:nvSpPr>
        <p:spPr>
          <a:xfrm>
            <a:off x="548640" y="2743200"/>
            <a:ext cx="5852160" cy="2377440"/>
          </a:xfrm>
          <a:prstGeom prst="roundRect">
            <a:avLst>
              <a:gd name="adj" fmla="val 2308"/>
            </a:avLst>
          </a:prstGeom>
          <a:solidFill>
            <a:srgbClr val="FFFFFF"/>
          </a:solidFill>
          <a:ln w="9525">
            <a:solidFill>
              <a:srgbClr val="D9D6E1"/>
            </a:solidFill>
            <a:prstDash val="solid"/>
          </a:ln>
        </p:spPr>
      </p:sp>
      <p:sp>
        <p:nvSpPr>
          <p:cNvPr id="14" name="Text 12"/>
          <p:cNvSpPr txBox="1"/>
          <p:nvPr/>
        </p:nvSpPr>
        <p:spPr>
          <a:xfrm>
            <a:off x="777240" y="2926080"/>
            <a:ext cx="5394960" cy="274320"/>
          </a:xfrm>
          <a:prstGeom prst="rect">
            <a:avLst/>
          </a:prstGeom>
          <a:noFill/>
          <a:ln/>
        </p:spPr>
        <p:txBody>
          <a:bodyPr wrap="square" lIns="0" tIns="0" rIns="0" bIns="0" rtlCol="0" anchor="ctr"/>
          <a:lstStyle/>
          <a:p>
            <a:pPr indent="0" marL="0">
              <a:buNone/>
            </a:pPr>
            <a:r>
              <a:rPr lang="en-US" sz="1500" b="1" dirty="0">
                <a:solidFill>
                  <a:srgbClr val="23222A"/>
                </a:solidFill>
                <a:latin typeface="Calibri" pitchFamily="34" charset="0"/>
                <a:ea typeface="Calibri" pitchFamily="34" charset="-122"/>
                <a:cs typeface="Calibri" pitchFamily="34" charset="-120"/>
              </a:rPr>
              <a:t>Cómo reproducir el avance</a:t>
            </a:r>
            <a:endParaRPr lang="en-US" sz="1500" dirty="0"/>
          </a:p>
        </p:txBody>
      </p:sp>
      <p:sp>
        <p:nvSpPr>
          <p:cNvPr id="15" name="Text 13"/>
          <p:cNvSpPr txBox="1"/>
          <p:nvPr/>
        </p:nvSpPr>
        <p:spPr>
          <a:xfrm>
            <a:off x="777240" y="3291840"/>
            <a:ext cx="5394960" cy="1645920"/>
          </a:xfrm>
          <a:prstGeom prst="rect">
            <a:avLst/>
          </a:prstGeom>
          <a:noFill/>
          <a:ln/>
        </p:spPr>
        <p:txBody>
          <a:bodyPr wrap="square" lIns="0" tIns="0" rIns="0" bIns="0" rtlCol="0" anchor="ctr"/>
          <a:lstStyle/>
          <a:p>
            <a:pPr indent="0" marL="0">
              <a:lnSpc>
                <a:spcPts val="2400"/>
              </a:lnSpc>
              <a:buNone/>
            </a:pPr>
            <a:r>
              <a:rPr lang="en-US" sz="1300" dirty="0">
                <a:solidFill>
                  <a:srgbClr val="4E4B59"/>
                </a:solidFill>
                <a:latin typeface="Calibri" pitchFamily="34" charset="0"/>
                <a:ea typeface="Calibri" pitchFamily="34" charset="-122"/>
                <a:cs typeface="Calibri" pitchFamily="34" charset="-120"/>
              </a:rPr>
              <a:t>1.  Abrir con Unity 6000.5.0b10</a:t>
            </a:r>
            <a:endParaRPr lang="en-US" sz="1300" dirty="0"/>
          </a:p>
          <a:p>
            <a:pPr indent="0" marL="0">
              <a:lnSpc>
                <a:spcPts val="2400"/>
              </a:lnSpc>
              <a:buNone/>
            </a:pPr>
            <a:r>
              <a:rPr lang="en-US" sz="1300" dirty="0">
                <a:solidFill>
                  <a:srgbClr val="4E4B59"/>
                </a:solidFill>
                <a:latin typeface="Calibri" pitchFamily="34" charset="0"/>
                <a:ea typeface="Calibri" pitchFamily="34" charset="-122"/>
                <a:cs typeface="Calibri" pitchFamily="34" charset="-120"/>
              </a:rPr>
              <a:t>2.  Menú DungeonPuzzle ▸ Semana 04 ▸ Construir todo</a:t>
            </a:r>
            <a:endParaRPr lang="en-US" sz="1300" dirty="0"/>
          </a:p>
          <a:p>
            <a:pPr indent="0" marL="0">
              <a:lnSpc>
                <a:spcPts val="2400"/>
              </a:lnSpc>
              <a:buNone/>
            </a:pPr>
            <a:r>
              <a:rPr lang="en-US" sz="1300" dirty="0">
                <a:solidFill>
                  <a:srgbClr val="4E4B59"/>
                </a:solidFill>
                <a:latin typeface="Calibri" pitchFamily="34" charset="0"/>
                <a:ea typeface="Calibri" pitchFamily="34" charset="-122"/>
                <a:cs typeface="Calibri" pitchFamily="34" charset="-120"/>
              </a:rPr>
              <a:t>3.  Test Runner ▸ EditMode ▸ Run All</a:t>
            </a:r>
            <a:endParaRPr lang="en-US" sz="1300" dirty="0"/>
          </a:p>
          <a:p>
            <a:pPr indent="0" marL="0">
              <a:lnSpc>
                <a:spcPts val="2400"/>
              </a:lnSpc>
              <a:buNone/>
            </a:pPr>
            <a:r>
              <a:rPr lang="en-US" sz="1300" dirty="0">
                <a:solidFill>
                  <a:srgbClr val="4E4B59"/>
                </a:solidFill>
                <a:latin typeface="Calibri" pitchFamily="34" charset="0"/>
                <a:ea typeface="Calibri" pitchFamily="34" charset="-122"/>
                <a:cs typeface="Calibri" pitchFamily="34" charset="-120"/>
              </a:rPr>
              <a:t>4.  Play desde Room_Demo, y F1 para el panel de estado</a:t>
            </a:r>
            <a:endParaRPr lang="en-US" sz="1300" dirty="0"/>
          </a:p>
        </p:txBody>
      </p:sp>
      <p:sp>
        <p:nvSpPr>
          <p:cNvPr id="16" name="Shape 14"/>
          <p:cNvSpPr/>
          <p:nvPr/>
        </p:nvSpPr>
        <p:spPr>
          <a:xfrm>
            <a:off x="548640" y="5303520"/>
            <a:ext cx="5852160" cy="777240"/>
          </a:xfrm>
          <a:prstGeom prst="roundRect">
            <a:avLst>
              <a:gd name="adj" fmla="val 7059"/>
            </a:avLst>
          </a:prstGeom>
          <a:solidFill>
            <a:srgbClr val="F6EEDE"/>
          </a:solidFill>
          <a:ln w="9525">
            <a:solidFill>
              <a:srgbClr val="E7A93F"/>
            </a:solidFill>
            <a:prstDash val="solid"/>
          </a:ln>
        </p:spPr>
      </p:sp>
      <p:sp>
        <p:nvSpPr>
          <p:cNvPr id="17" name="Text 15"/>
          <p:cNvSpPr txBox="1"/>
          <p:nvPr/>
        </p:nvSpPr>
        <p:spPr>
          <a:xfrm>
            <a:off x="777240" y="5532120"/>
            <a:ext cx="5394960" cy="365760"/>
          </a:xfrm>
          <a:prstGeom prst="rect">
            <a:avLst/>
          </a:prstGeom>
          <a:noFill/>
          <a:ln/>
        </p:spPr>
        <p:txBody>
          <a:bodyPr wrap="square" lIns="0" tIns="0" rIns="0" bIns="0" rtlCol="0" anchor="ctr"/>
          <a:lstStyle/>
          <a:p>
            <a:pPr indent="0" marL="0">
              <a:lnSpc>
                <a:spcPts val="2000"/>
              </a:lnSpc>
              <a:buNone/>
            </a:pPr>
            <a:r>
              <a:rPr lang="en-US" sz="1250" b="1" dirty="0">
                <a:solidFill>
                  <a:srgbClr val="9A681F"/>
                </a:solidFill>
                <a:latin typeface="Calibri" pitchFamily="34" charset="0"/>
                <a:ea typeface="Calibri" pitchFamily="34" charset="-122"/>
                <a:cs typeface="Calibri" pitchFamily="34" charset="-120"/>
              </a:rPr>
              <a:t>El paso 2 imprime un informe que comprueba capas, matriz de colisiones y gravedad.</a:t>
            </a:r>
            <a:endParaRPr lang="en-US" sz="1250" dirty="0"/>
          </a:p>
        </p:txBody>
      </p:sp>
      <p:pic>
        <p:nvPicPr>
          <p:cNvPr id="18" name="Image 0" descr="/home/user/DungeonPuzzle/docs/Semana04/capturas/06_tests_editmode.png">    </p:cNvPr>
          <p:cNvPicPr>
            <a:picLocks noChangeAspect="1"/>
          </p:cNvPicPr>
          <p:nvPr/>
        </p:nvPicPr>
        <p:blipFill>
          <a:blip r:embed="rId1"/>
          <a:stretch>
            <a:fillRect/>
          </a:stretch>
        </p:blipFill>
        <p:spPr>
          <a:xfrm>
            <a:off x="6675120" y="2743200"/>
            <a:ext cx="4937760" cy="1618488"/>
          </a:xfrm>
          <a:prstGeom prst="rect">
            <a:avLst/>
          </a:prstGeom>
        </p:spPr>
      </p:pic>
      <p:sp>
        <p:nvSpPr>
          <p:cNvPr id="19" name="Text 16"/>
          <p:cNvSpPr txBox="1"/>
          <p:nvPr/>
        </p:nvSpPr>
        <p:spPr>
          <a:xfrm>
            <a:off x="6675120" y="4480560"/>
            <a:ext cx="4937760" cy="457200"/>
          </a:xfrm>
          <a:prstGeom prst="rect">
            <a:avLst/>
          </a:prstGeom>
          <a:noFill/>
          <a:ln/>
        </p:spPr>
        <p:txBody>
          <a:bodyPr wrap="square" lIns="0" tIns="0" rIns="0" bIns="0" rtlCol="0" anchor="ctr"/>
          <a:lstStyle/>
          <a:p>
            <a:pPr indent="0" marL="0">
              <a:lnSpc>
                <a:spcPts val="1300"/>
              </a:lnSpc>
              <a:buNone/>
            </a:pPr>
            <a:r>
              <a:rPr lang="en-US" sz="950" dirty="0">
                <a:solidFill>
                  <a:srgbClr val="7A7787"/>
                </a:solidFill>
                <a:latin typeface="Courier New" pitchFamily="34" charset="0"/>
                <a:ea typeface="Courier New" pitchFamily="34" charset="-122"/>
                <a:cs typeface="Courier New" pitchFamily="34" charset="-120"/>
              </a:rPr>
              <a:t>Test Runner en EditMode. Tardan menos de un segundo y no hace falta entrar en Play Mode.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3222A"/>
        </a:solidFill>
      </p:bgPr>
    </p:bg>
    <p:spTree>
      <p:nvGrpSpPr>
        <p:cNvPr id="1" name=""/>
        <p:cNvGrpSpPr/>
        <p:nvPr/>
      </p:nvGrpSpPr>
      <p:grpSpPr>
        <a:xfrm>
          <a:off x="0" y="0"/>
          <a:ext cx="0" cy="0"/>
          <a:chOff x="0" y="0"/>
          <a:chExt cx="0" cy="0"/>
        </a:xfrm>
      </p:grpSpPr>
      <p:sp>
        <p:nvSpPr>
          <p:cNvPr id="2" name="Text 0"/>
          <p:cNvSpPr txBox="1"/>
          <p:nvPr/>
        </p:nvSpPr>
        <p:spPr>
          <a:xfrm>
            <a:off x="548640" y="329184"/>
            <a:ext cx="11064240" cy="237744"/>
          </a:xfrm>
          <a:prstGeom prst="rect">
            <a:avLst/>
          </a:prstGeom>
          <a:noFill/>
          <a:ln/>
        </p:spPr>
        <p:txBody>
          <a:bodyPr wrap="square" lIns="0" tIns="0" rIns="0" bIns="0" rtlCol="0" anchor="ctr"/>
          <a:lstStyle/>
          <a:p>
            <a:pPr indent="0" marL="0">
              <a:buNone/>
            </a:pPr>
            <a:r>
              <a:rPr lang="en-US" sz="1100" spc="140" kern="0" dirty="0">
                <a:solidFill>
                  <a:srgbClr val="E7A93F"/>
                </a:solidFill>
                <a:latin typeface="Courier New" pitchFamily="34" charset="0"/>
                <a:ea typeface="Courier New" pitchFamily="34" charset="-122"/>
                <a:cs typeface="Courier New" pitchFamily="34" charset="-120"/>
              </a:rPr>
              <a:t>DEMOSTRACIÓN EN VIVO</a:t>
            </a:r>
            <a:endParaRPr lang="en-US" sz="1100" dirty="0"/>
          </a:p>
        </p:txBody>
      </p:sp>
      <p:sp>
        <p:nvSpPr>
          <p:cNvPr id="3" name="Text 1"/>
          <p:cNvSpPr txBox="1"/>
          <p:nvPr/>
        </p:nvSpPr>
        <p:spPr>
          <a:xfrm>
            <a:off x="548640" y="585216"/>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Room_Demo: todo en una pantalla</a:t>
            </a:r>
            <a:endParaRPr lang="en-US" sz="3000" dirty="0"/>
          </a:p>
        </p:txBody>
      </p:sp>
      <p:sp>
        <p:nvSpPr>
          <p:cNvPr id="4" name="Text 2"/>
          <p:cNvSpPr txBox="1"/>
          <p:nvPr/>
        </p:nvSpPr>
        <p:spPr>
          <a:xfrm>
            <a:off x="11155680" y="6291072"/>
            <a:ext cx="457200" cy="256032"/>
          </a:xfrm>
          <a:prstGeom prst="rect">
            <a:avLst/>
          </a:prstGeom>
          <a:noFill/>
          <a:ln/>
        </p:spPr>
        <p:txBody>
          <a:bodyPr wrap="square" lIns="0" tIns="0" rIns="0" bIns="0" rtlCol="0" anchor="ctr"/>
          <a:lstStyle/>
          <a:p>
            <a:pPr algn="r" indent="0" marL="0">
              <a:buNone/>
            </a:pPr>
            <a:r>
              <a:rPr lang="en-US" sz="1000" dirty="0">
                <a:solidFill>
                  <a:srgbClr val="8C8A9C"/>
                </a:solidFill>
                <a:latin typeface="Courier New" pitchFamily="34" charset="0"/>
                <a:ea typeface="Courier New" pitchFamily="34" charset="-122"/>
                <a:cs typeface="Courier New" pitchFamily="34" charset="-120"/>
              </a:rPr>
              <a:t>13</a:t>
            </a:r>
            <a:endParaRPr lang="en-US" sz="1000" dirty="0"/>
          </a:p>
        </p:txBody>
      </p:sp>
      <p:sp>
        <p:nvSpPr>
          <p:cNvPr id="5" name="Text 3"/>
          <p:cNvSpPr txBox="1"/>
          <p:nvPr/>
        </p:nvSpPr>
        <p:spPr>
          <a:xfrm>
            <a:off x="548640" y="1481328"/>
            <a:ext cx="11064240" cy="640080"/>
          </a:xfrm>
          <a:prstGeom prst="rect">
            <a:avLst/>
          </a:prstGeom>
          <a:noFill/>
          <a:ln/>
        </p:spPr>
        <p:txBody>
          <a:bodyPr wrap="square" lIns="0" tIns="0" rIns="0" bIns="0" rtlCol="0" anchor="ctr"/>
          <a:lstStyle/>
          <a:p>
            <a:pPr indent="0" marL="0">
              <a:lnSpc>
                <a:spcPts val="1900"/>
              </a:lnSpc>
              <a:buNone/>
            </a:pPr>
            <a:r>
              <a:rPr lang="en-US" sz="1200" dirty="0">
                <a:solidFill>
                  <a:srgbClr val="E7A93F"/>
                </a:solidFill>
                <a:latin typeface="Courier New" pitchFamily="34" charset="0"/>
                <a:ea typeface="Courier New" pitchFamily="34" charset="-122"/>
                <a:cs typeface="Courier New" pitchFamily="34" charset="-120"/>
              </a:rPr>
              <a:t>spawn → bloque para deslizar → dos piedras → 3 trampas desfasadas</a:t>
            </a:r>
            <a:endParaRPr lang="en-US" sz="1200" dirty="0"/>
          </a:p>
          <a:p>
            <a:pPr indent="0" marL="0">
              <a:lnSpc>
                <a:spcPts val="1900"/>
              </a:lnSpc>
              <a:buNone/>
            </a:pPr>
            <a:r>
              <a:rPr lang="en-US" sz="1200" dirty="0">
                <a:solidFill>
                  <a:srgbClr val="E7A93F"/>
                </a:solidFill>
                <a:latin typeface="Courier New" pitchFamily="34" charset="0"/>
                <a:ea typeface="Courier New" pitchFamily="34" charset="-122"/>
                <a:cs typeface="Courier New" pitchFamily="34" charset="-120"/>
              </a:rPr>
              <a:t>      → placa + palanca → espalda del guardia → puerta → salida</a:t>
            </a:r>
            <a:endParaRPr lang="en-US" sz="1200" dirty="0"/>
          </a:p>
        </p:txBody>
      </p:sp>
      <p:sp>
        <p:nvSpPr>
          <p:cNvPr id="6" name="Shape 4"/>
          <p:cNvSpPr/>
          <p:nvPr/>
        </p:nvSpPr>
        <p:spPr>
          <a:xfrm>
            <a:off x="548640" y="2304288"/>
            <a:ext cx="274320" cy="274320"/>
          </a:xfrm>
          <a:prstGeom prst="ellipse">
            <a:avLst/>
          </a:prstGeom>
          <a:solidFill>
            <a:srgbClr val="E7A93F"/>
          </a:solidFill>
          <a:ln/>
        </p:spPr>
      </p:sp>
      <p:sp>
        <p:nvSpPr>
          <p:cNvPr id="7" name="Text 5"/>
          <p:cNvSpPr txBox="1"/>
          <p:nvPr/>
        </p:nvSpPr>
        <p:spPr>
          <a:xfrm>
            <a:off x="548640" y="2304288"/>
            <a:ext cx="274320" cy="274320"/>
          </a:xfrm>
          <a:prstGeom prst="rect">
            <a:avLst/>
          </a:prstGeom>
          <a:noFill/>
          <a:ln/>
        </p:spPr>
        <p:txBody>
          <a:bodyPr wrap="square" lIns="0" tIns="0" rIns="0" bIns="0" rtlCol="0" anchor="ctr"/>
          <a:lstStyle/>
          <a:p>
            <a:pPr algn="ctr" indent="0" marL="0">
              <a:buNone/>
            </a:pPr>
            <a:r>
              <a:rPr lang="en-US" sz="1100" b="1" dirty="0">
                <a:solidFill>
                  <a:srgbClr val="23222A"/>
                </a:solidFill>
                <a:latin typeface="Courier New" pitchFamily="34" charset="0"/>
                <a:ea typeface="Courier New" pitchFamily="34" charset="-122"/>
                <a:cs typeface="Courier New" pitchFamily="34" charset="-120"/>
              </a:rPr>
              <a:t>1</a:t>
            </a:r>
            <a:endParaRPr lang="en-US" sz="1100" dirty="0"/>
          </a:p>
        </p:txBody>
      </p:sp>
      <p:sp>
        <p:nvSpPr>
          <p:cNvPr id="8" name="Text 6"/>
          <p:cNvSpPr txBox="1"/>
          <p:nvPr/>
        </p:nvSpPr>
        <p:spPr>
          <a:xfrm>
            <a:off x="960120" y="2286000"/>
            <a:ext cx="6400800" cy="347472"/>
          </a:xfrm>
          <a:prstGeom prst="rect">
            <a:avLst/>
          </a:prstGeom>
          <a:noFill/>
          <a:ln/>
        </p:spPr>
        <p:txBody>
          <a:bodyPr wrap="square" lIns="0" tIns="0" rIns="0" bIns="0" rtlCol="0" anchor="ctr"/>
          <a:lstStyle/>
          <a:p>
            <a:pPr indent="0" marL="0">
              <a:buNone/>
            </a:pPr>
            <a:r>
              <a:rPr lang="en-US" sz="1250" dirty="0">
                <a:solidFill>
                  <a:srgbClr val="D8D5E0"/>
                </a:solidFill>
                <a:latin typeface="Calibri" pitchFamily="34" charset="0"/>
                <a:ea typeface="Calibri" pitchFamily="34" charset="-122"/>
                <a:cs typeface="Calibri" pitchFamily="34" charset="-120"/>
              </a:rPr>
              <a:t>El héroe desliza al rozar el bloque y la animación se detiene contra él</a:t>
            </a:r>
            <a:endParaRPr lang="en-US" sz="1250" dirty="0"/>
          </a:p>
        </p:txBody>
      </p:sp>
      <p:sp>
        <p:nvSpPr>
          <p:cNvPr id="9" name="Shape 7"/>
          <p:cNvSpPr/>
          <p:nvPr/>
        </p:nvSpPr>
        <p:spPr>
          <a:xfrm>
            <a:off x="548640" y="2706624"/>
            <a:ext cx="274320" cy="274320"/>
          </a:xfrm>
          <a:prstGeom prst="ellipse">
            <a:avLst/>
          </a:prstGeom>
          <a:solidFill>
            <a:srgbClr val="E7A93F"/>
          </a:solidFill>
          <a:ln/>
        </p:spPr>
      </p:sp>
      <p:sp>
        <p:nvSpPr>
          <p:cNvPr id="10" name="Text 8"/>
          <p:cNvSpPr txBox="1"/>
          <p:nvPr/>
        </p:nvSpPr>
        <p:spPr>
          <a:xfrm>
            <a:off x="548640" y="2706624"/>
            <a:ext cx="274320" cy="274320"/>
          </a:xfrm>
          <a:prstGeom prst="rect">
            <a:avLst/>
          </a:prstGeom>
          <a:noFill/>
          <a:ln/>
        </p:spPr>
        <p:txBody>
          <a:bodyPr wrap="square" lIns="0" tIns="0" rIns="0" bIns="0" rtlCol="0" anchor="ctr"/>
          <a:lstStyle/>
          <a:p>
            <a:pPr algn="ctr" indent="0" marL="0">
              <a:buNone/>
            </a:pPr>
            <a:r>
              <a:rPr lang="en-US" sz="1100" b="1" dirty="0">
                <a:solidFill>
                  <a:srgbClr val="23222A"/>
                </a:solidFill>
                <a:latin typeface="Courier New" pitchFamily="34" charset="0"/>
                <a:ea typeface="Courier New" pitchFamily="34" charset="-122"/>
                <a:cs typeface="Courier New" pitchFamily="34" charset="-120"/>
              </a:rPr>
              <a:t>2</a:t>
            </a:r>
            <a:endParaRPr lang="en-US" sz="1100" dirty="0"/>
          </a:p>
        </p:txBody>
      </p:sp>
      <p:sp>
        <p:nvSpPr>
          <p:cNvPr id="11" name="Text 9"/>
          <p:cNvSpPr txBox="1"/>
          <p:nvPr/>
        </p:nvSpPr>
        <p:spPr>
          <a:xfrm>
            <a:off x="960120" y="2688336"/>
            <a:ext cx="6400800" cy="347472"/>
          </a:xfrm>
          <a:prstGeom prst="rect">
            <a:avLst/>
          </a:prstGeom>
          <a:noFill/>
          <a:ln/>
        </p:spPr>
        <p:txBody>
          <a:bodyPr wrap="square" lIns="0" tIns="0" rIns="0" bIns="0" rtlCol="0" anchor="ctr"/>
          <a:lstStyle/>
          <a:p>
            <a:pPr indent="0" marL="0">
              <a:buNone/>
            </a:pPr>
            <a:r>
              <a:rPr lang="en-US" sz="1250" dirty="0">
                <a:solidFill>
                  <a:srgbClr val="D8D5E0"/>
                </a:solidFill>
                <a:latin typeface="Calibri" pitchFamily="34" charset="0"/>
                <a:ea typeface="Calibri" pitchFamily="34" charset="-122"/>
                <a:cs typeface="Calibri" pitchFamily="34" charset="-120"/>
              </a:rPr>
              <a:t>Una piedra al muro lejano hace ruido y el guardia gira. Otra a la puerta cerrada no la atraviesa</a:t>
            </a:r>
            <a:endParaRPr lang="en-US" sz="1250" dirty="0"/>
          </a:p>
        </p:txBody>
      </p:sp>
      <p:sp>
        <p:nvSpPr>
          <p:cNvPr id="12" name="Shape 10"/>
          <p:cNvSpPr/>
          <p:nvPr/>
        </p:nvSpPr>
        <p:spPr>
          <a:xfrm>
            <a:off x="548640" y="3108960"/>
            <a:ext cx="274320" cy="274320"/>
          </a:xfrm>
          <a:prstGeom prst="ellipse">
            <a:avLst/>
          </a:prstGeom>
          <a:solidFill>
            <a:srgbClr val="E7A93F"/>
          </a:solidFill>
          <a:ln/>
        </p:spPr>
      </p:sp>
      <p:sp>
        <p:nvSpPr>
          <p:cNvPr id="13" name="Text 11"/>
          <p:cNvSpPr txBox="1"/>
          <p:nvPr/>
        </p:nvSpPr>
        <p:spPr>
          <a:xfrm>
            <a:off x="548640" y="3108960"/>
            <a:ext cx="274320" cy="274320"/>
          </a:xfrm>
          <a:prstGeom prst="rect">
            <a:avLst/>
          </a:prstGeom>
          <a:noFill/>
          <a:ln/>
        </p:spPr>
        <p:txBody>
          <a:bodyPr wrap="square" lIns="0" tIns="0" rIns="0" bIns="0" rtlCol="0" anchor="ctr"/>
          <a:lstStyle/>
          <a:p>
            <a:pPr algn="ctr" indent="0" marL="0">
              <a:buNone/>
            </a:pPr>
            <a:r>
              <a:rPr lang="en-US" sz="1100" b="1" dirty="0">
                <a:solidFill>
                  <a:srgbClr val="23222A"/>
                </a:solidFill>
                <a:latin typeface="Courier New" pitchFamily="34" charset="0"/>
                <a:ea typeface="Courier New" pitchFamily="34" charset="-122"/>
                <a:cs typeface="Courier New" pitchFamily="34" charset="-120"/>
              </a:rPr>
              <a:t>3</a:t>
            </a:r>
            <a:endParaRPr lang="en-US" sz="1100" dirty="0"/>
          </a:p>
        </p:txBody>
      </p:sp>
      <p:sp>
        <p:nvSpPr>
          <p:cNvPr id="14" name="Text 12"/>
          <p:cNvSpPr txBox="1"/>
          <p:nvPr/>
        </p:nvSpPr>
        <p:spPr>
          <a:xfrm>
            <a:off x="960120" y="3090672"/>
            <a:ext cx="6400800" cy="347472"/>
          </a:xfrm>
          <a:prstGeom prst="rect">
            <a:avLst/>
          </a:prstGeom>
          <a:noFill/>
          <a:ln/>
        </p:spPr>
        <p:txBody>
          <a:bodyPr wrap="square" lIns="0" tIns="0" rIns="0" bIns="0" rtlCol="0" anchor="ctr"/>
          <a:lstStyle/>
          <a:p>
            <a:pPr indent="0" marL="0">
              <a:buNone/>
            </a:pPr>
            <a:r>
              <a:rPr lang="en-US" sz="1250" dirty="0">
                <a:solidFill>
                  <a:srgbClr val="D8D5E0"/>
                </a:solidFill>
                <a:latin typeface="Calibri" pitchFamily="34" charset="0"/>
                <a:ea typeface="Calibri" pitchFamily="34" charset="-122"/>
                <a:cs typeface="Calibri" pitchFamily="34" charset="-120"/>
              </a:rPr>
              <a:t>Tres trampas desfasadas; con F1 se lee la fase de cada una</a:t>
            </a:r>
            <a:endParaRPr lang="en-US" sz="1250" dirty="0"/>
          </a:p>
        </p:txBody>
      </p:sp>
      <p:sp>
        <p:nvSpPr>
          <p:cNvPr id="15" name="Shape 13"/>
          <p:cNvSpPr/>
          <p:nvPr/>
        </p:nvSpPr>
        <p:spPr>
          <a:xfrm>
            <a:off x="548640" y="3511296"/>
            <a:ext cx="274320" cy="274320"/>
          </a:xfrm>
          <a:prstGeom prst="ellipse">
            <a:avLst/>
          </a:prstGeom>
          <a:solidFill>
            <a:srgbClr val="E7A93F"/>
          </a:solidFill>
          <a:ln/>
        </p:spPr>
      </p:sp>
      <p:sp>
        <p:nvSpPr>
          <p:cNvPr id="16" name="Text 14"/>
          <p:cNvSpPr txBox="1"/>
          <p:nvPr/>
        </p:nvSpPr>
        <p:spPr>
          <a:xfrm>
            <a:off x="548640" y="3511296"/>
            <a:ext cx="274320" cy="274320"/>
          </a:xfrm>
          <a:prstGeom prst="rect">
            <a:avLst/>
          </a:prstGeom>
          <a:noFill/>
          <a:ln/>
        </p:spPr>
        <p:txBody>
          <a:bodyPr wrap="square" lIns="0" tIns="0" rIns="0" bIns="0" rtlCol="0" anchor="ctr"/>
          <a:lstStyle/>
          <a:p>
            <a:pPr algn="ctr" indent="0" marL="0">
              <a:buNone/>
            </a:pPr>
            <a:r>
              <a:rPr lang="en-US" sz="1100" b="1" dirty="0">
                <a:solidFill>
                  <a:srgbClr val="23222A"/>
                </a:solidFill>
                <a:latin typeface="Courier New" pitchFamily="34" charset="0"/>
                <a:ea typeface="Courier New" pitchFamily="34" charset="-122"/>
                <a:cs typeface="Courier New" pitchFamily="34" charset="-120"/>
              </a:rPr>
              <a:t>4</a:t>
            </a:r>
            <a:endParaRPr lang="en-US" sz="1100" dirty="0"/>
          </a:p>
        </p:txBody>
      </p:sp>
      <p:sp>
        <p:nvSpPr>
          <p:cNvPr id="17" name="Text 15"/>
          <p:cNvSpPr txBox="1"/>
          <p:nvPr/>
        </p:nvSpPr>
        <p:spPr>
          <a:xfrm>
            <a:off x="960120" y="3493008"/>
            <a:ext cx="6400800" cy="347472"/>
          </a:xfrm>
          <a:prstGeom prst="rect">
            <a:avLst/>
          </a:prstGeom>
          <a:noFill/>
          <a:ln/>
        </p:spPr>
        <p:txBody>
          <a:bodyPr wrap="square" lIns="0" tIns="0" rIns="0" bIns="0" rtlCol="0" anchor="ctr"/>
          <a:lstStyle/>
          <a:p>
            <a:pPr indent="0" marL="0">
              <a:buNone/>
            </a:pPr>
            <a:r>
              <a:rPr lang="en-US" sz="1250" dirty="0">
                <a:solidFill>
                  <a:srgbClr val="D8D5E0"/>
                </a:solidFill>
                <a:latin typeface="Calibri" pitchFamily="34" charset="0"/>
                <a:ea typeface="Calibri" pitchFamily="34" charset="-122"/>
                <a:cs typeface="Calibri" pitchFamily="34" charset="-120"/>
              </a:rPr>
              <a:t>Pisar la placa abre y salirse cierra; la palanca abre a mano</a:t>
            </a:r>
            <a:endParaRPr lang="en-US" sz="1250" dirty="0"/>
          </a:p>
        </p:txBody>
      </p:sp>
      <p:sp>
        <p:nvSpPr>
          <p:cNvPr id="18" name="Shape 16"/>
          <p:cNvSpPr/>
          <p:nvPr/>
        </p:nvSpPr>
        <p:spPr>
          <a:xfrm>
            <a:off x="548640" y="3913632"/>
            <a:ext cx="274320" cy="274320"/>
          </a:xfrm>
          <a:prstGeom prst="ellipse">
            <a:avLst/>
          </a:prstGeom>
          <a:solidFill>
            <a:srgbClr val="E7A93F"/>
          </a:solidFill>
          <a:ln/>
        </p:spPr>
      </p:sp>
      <p:sp>
        <p:nvSpPr>
          <p:cNvPr id="19" name="Text 17"/>
          <p:cNvSpPr txBox="1"/>
          <p:nvPr/>
        </p:nvSpPr>
        <p:spPr>
          <a:xfrm>
            <a:off x="548640" y="3913632"/>
            <a:ext cx="274320" cy="274320"/>
          </a:xfrm>
          <a:prstGeom prst="rect">
            <a:avLst/>
          </a:prstGeom>
          <a:noFill/>
          <a:ln/>
        </p:spPr>
        <p:txBody>
          <a:bodyPr wrap="square" lIns="0" tIns="0" rIns="0" bIns="0" rtlCol="0" anchor="ctr"/>
          <a:lstStyle/>
          <a:p>
            <a:pPr algn="ctr" indent="0" marL="0">
              <a:buNone/>
            </a:pPr>
            <a:r>
              <a:rPr lang="en-US" sz="1100" b="1" dirty="0">
                <a:solidFill>
                  <a:srgbClr val="23222A"/>
                </a:solidFill>
                <a:latin typeface="Courier New" pitchFamily="34" charset="0"/>
                <a:ea typeface="Courier New" pitchFamily="34" charset="-122"/>
                <a:cs typeface="Courier New" pitchFamily="34" charset="-120"/>
              </a:rPr>
              <a:t>5</a:t>
            </a:r>
            <a:endParaRPr lang="en-US" sz="1100" dirty="0"/>
          </a:p>
        </p:txBody>
      </p:sp>
      <p:sp>
        <p:nvSpPr>
          <p:cNvPr id="20" name="Text 18"/>
          <p:cNvSpPr txBox="1"/>
          <p:nvPr/>
        </p:nvSpPr>
        <p:spPr>
          <a:xfrm>
            <a:off x="960120" y="3895344"/>
            <a:ext cx="6400800" cy="347472"/>
          </a:xfrm>
          <a:prstGeom prst="rect">
            <a:avLst/>
          </a:prstGeom>
          <a:noFill/>
          <a:ln/>
        </p:spPr>
        <p:txBody>
          <a:bodyPr wrap="square" lIns="0" tIns="0" rIns="0" bIns="0" rtlCol="0" anchor="ctr"/>
          <a:lstStyle/>
          <a:p>
            <a:pPr indent="0" marL="0">
              <a:buNone/>
            </a:pPr>
            <a:r>
              <a:rPr lang="en-US" sz="1250" dirty="0">
                <a:solidFill>
                  <a:srgbClr val="D8D5E0"/>
                </a:solidFill>
                <a:latin typeface="Calibri" pitchFamily="34" charset="0"/>
                <a:ea typeface="Calibri" pitchFamily="34" charset="-122"/>
                <a:cs typeface="Calibri" pitchFamily="34" charset="-120"/>
              </a:rPr>
              <a:t>Acercarse por la espalda del guardia: el contacto te descubre</a:t>
            </a:r>
            <a:endParaRPr lang="en-US" sz="1250" dirty="0"/>
          </a:p>
        </p:txBody>
      </p:sp>
      <p:sp>
        <p:nvSpPr>
          <p:cNvPr id="21" name="Shape 19"/>
          <p:cNvSpPr/>
          <p:nvPr/>
        </p:nvSpPr>
        <p:spPr>
          <a:xfrm>
            <a:off x="548640" y="4315968"/>
            <a:ext cx="274320" cy="274320"/>
          </a:xfrm>
          <a:prstGeom prst="ellipse">
            <a:avLst/>
          </a:prstGeom>
          <a:solidFill>
            <a:srgbClr val="E7A93F"/>
          </a:solidFill>
          <a:ln/>
        </p:spPr>
      </p:sp>
      <p:sp>
        <p:nvSpPr>
          <p:cNvPr id="22" name="Text 20"/>
          <p:cNvSpPr txBox="1"/>
          <p:nvPr/>
        </p:nvSpPr>
        <p:spPr>
          <a:xfrm>
            <a:off x="548640" y="4315968"/>
            <a:ext cx="274320" cy="274320"/>
          </a:xfrm>
          <a:prstGeom prst="rect">
            <a:avLst/>
          </a:prstGeom>
          <a:noFill/>
          <a:ln/>
        </p:spPr>
        <p:txBody>
          <a:bodyPr wrap="square" lIns="0" tIns="0" rIns="0" bIns="0" rtlCol="0" anchor="ctr"/>
          <a:lstStyle/>
          <a:p>
            <a:pPr algn="ctr" indent="0" marL="0">
              <a:buNone/>
            </a:pPr>
            <a:r>
              <a:rPr lang="en-US" sz="1100" b="1" dirty="0">
                <a:solidFill>
                  <a:srgbClr val="23222A"/>
                </a:solidFill>
                <a:latin typeface="Courier New" pitchFamily="34" charset="0"/>
                <a:ea typeface="Courier New" pitchFamily="34" charset="-122"/>
                <a:cs typeface="Courier New" pitchFamily="34" charset="-120"/>
              </a:rPr>
              <a:t>6</a:t>
            </a:r>
            <a:endParaRPr lang="en-US" sz="1100" dirty="0"/>
          </a:p>
        </p:txBody>
      </p:sp>
      <p:sp>
        <p:nvSpPr>
          <p:cNvPr id="23" name="Text 21"/>
          <p:cNvSpPr txBox="1"/>
          <p:nvPr/>
        </p:nvSpPr>
        <p:spPr>
          <a:xfrm>
            <a:off x="960120" y="4297680"/>
            <a:ext cx="6400800" cy="347472"/>
          </a:xfrm>
          <a:prstGeom prst="rect">
            <a:avLst/>
          </a:prstGeom>
          <a:noFill/>
          <a:ln/>
        </p:spPr>
        <p:txBody>
          <a:bodyPr wrap="square" lIns="0" tIns="0" rIns="0" bIns="0" rtlCol="0" anchor="ctr"/>
          <a:lstStyle/>
          <a:p>
            <a:pPr indent="0" marL="0">
              <a:buNone/>
            </a:pPr>
            <a:r>
              <a:rPr lang="en-US" sz="1250" dirty="0">
                <a:solidFill>
                  <a:srgbClr val="D8D5E0"/>
                </a:solidFill>
                <a:latin typeface="Calibri" pitchFamily="34" charset="0"/>
                <a:ea typeface="Calibri" pitchFamily="34" charset="-122"/>
                <a:cs typeface="Calibri" pitchFamily="34" charset="-120"/>
              </a:rPr>
              <a:t>Cruzar la puerta termina en victoria</a:t>
            </a:r>
            <a:endParaRPr lang="en-US" sz="1250" dirty="0"/>
          </a:p>
        </p:txBody>
      </p:sp>
      <p:sp>
        <p:nvSpPr>
          <p:cNvPr id="24" name="Shape 22"/>
          <p:cNvSpPr/>
          <p:nvPr/>
        </p:nvSpPr>
        <p:spPr>
          <a:xfrm>
            <a:off x="7498080" y="2286000"/>
            <a:ext cx="4114800" cy="1371600"/>
          </a:xfrm>
          <a:prstGeom prst="roundRect">
            <a:avLst>
              <a:gd name="adj" fmla="val 4000"/>
            </a:avLst>
          </a:prstGeom>
          <a:solidFill>
            <a:srgbClr val="3A3842"/>
          </a:solidFill>
          <a:ln w="9525">
            <a:solidFill>
              <a:srgbClr val="605E6E"/>
            </a:solidFill>
            <a:prstDash val="solid"/>
          </a:ln>
        </p:spPr>
      </p:sp>
      <p:sp>
        <p:nvSpPr>
          <p:cNvPr id="25" name="Text 23"/>
          <p:cNvSpPr txBox="1"/>
          <p:nvPr/>
        </p:nvSpPr>
        <p:spPr>
          <a:xfrm>
            <a:off x="7726680" y="2468880"/>
            <a:ext cx="640080" cy="320040"/>
          </a:xfrm>
          <a:prstGeom prst="rect">
            <a:avLst/>
          </a:prstGeom>
          <a:noFill/>
          <a:ln/>
        </p:spPr>
        <p:txBody>
          <a:bodyPr wrap="square" lIns="0" tIns="0" rIns="0" bIns="0" rtlCol="0" anchor="ctr"/>
          <a:lstStyle/>
          <a:p>
            <a:pPr indent="0" marL="0">
              <a:buNone/>
            </a:pPr>
            <a:r>
              <a:rPr lang="en-US" sz="1600" b="1" dirty="0">
                <a:solidFill>
                  <a:srgbClr val="E7A93F"/>
                </a:solidFill>
                <a:latin typeface="Courier New" pitchFamily="34" charset="0"/>
                <a:ea typeface="Courier New" pitchFamily="34" charset="-122"/>
                <a:cs typeface="Courier New" pitchFamily="34" charset="-120"/>
              </a:rPr>
              <a:t>F1</a:t>
            </a:r>
            <a:endParaRPr lang="en-US" sz="1600" dirty="0"/>
          </a:p>
        </p:txBody>
      </p:sp>
      <p:sp>
        <p:nvSpPr>
          <p:cNvPr id="26" name="Text 24"/>
          <p:cNvSpPr txBox="1"/>
          <p:nvPr/>
        </p:nvSpPr>
        <p:spPr>
          <a:xfrm>
            <a:off x="7726680" y="2834640"/>
            <a:ext cx="3657600" cy="731520"/>
          </a:xfrm>
          <a:prstGeom prst="rect">
            <a:avLst/>
          </a:prstGeom>
          <a:noFill/>
          <a:ln/>
        </p:spPr>
        <p:txBody>
          <a:bodyPr wrap="square" lIns="0" tIns="0" rIns="0" bIns="0" rtlCol="0" anchor="ctr"/>
          <a:lstStyle/>
          <a:p>
            <a:pPr indent="0" marL="0">
              <a:buNone/>
            </a:pPr>
            <a:r>
              <a:rPr lang="en-US" sz="1200" dirty="0">
                <a:solidFill>
                  <a:srgbClr val="D8D5E0"/>
                </a:solidFill>
                <a:latin typeface="Calibri" pitchFamily="34" charset="0"/>
                <a:ea typeface="Calibri" pitchFamily="34" charset="-122"/>
                <a:cs typeface="Calibri" pitchFamily="34" charset="-120"/>
              </a:rPr>
              <a:t>Muestra en vivo la velocidad real del héroe, el estado de cada guardia, la fase de cada trampa y cuántos colliders hay sobre la placa.</a:t>
            </a:r>
            <a:endParaRPr lang="en-US" sz="1200" dirty="0"/>
          </a:p>
        </p:txBody>
      </p:sp>
      <p:sp>
        <p:nvSpPr>
          <p:cNvPr id="27" name="Text 25"/>
          <p:cNvSpPr txBox="1"/>
          <p:nvPr/>
        </p:nvSpPr>
        <p:spPr>
          <a:xfrm>
            <a:off x="7498080" y="3931920"/>
            <a:ext cx="411480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 que sigue</a:t>
            </a:r>
            <a:endParaRPr lang="en-US" sz="1500" dirty="0"/>
          </a:p>
        </p:txBody>
      </p:sp>
      <p:sp>
        <p:nvSpPr>
          <p:cNvPr id="28" name="Text 26"/>
          <p:cNvSpPr txBox="1"/>
          <p:nvPr/>
        </p:nvSpPr>
        <p:spPr>
          <a:xfrm>
            <a:off x="7635240" y="4297680"/>
            <a:ext cx="3977640" cy="10972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D8D5E0"/>
                </a:solidFill>
                <a:latin typeface="Calibri" pitchFamily="34" charset="0"/>
                <a:ea typeface="Calibri" pitchFamily="34" charset="-122"/>
                <a:cs typeface="Calibri" pitchFamily="34" charset="-120"/>
              </a:rPr>
              <a:t>Un guardia que persigue: subclase de GuardBase</a:t>
            </a:r>
            <a:endParaRPr lang="en-US" sz="1200" dirty="0"/>
          </a:p>
          <a:p>
            <a:pPr marL="342900" indent="-342900">
              <a:spcAft>
                <a:spcPts val="600"/>
              </a:spcAft>
              <a:buSzPct val="100000"/>
              <a:buChar char="•"/>
            </a:pPr>
            <a:r>
              <a:rPr lang="en-US" sz="1200" dirty="0">
                <a:solidFill>
                  <a:srgbClr val="D8D5E0"/>
                </a:solidFill>
                <a:latin typeface="Calibri" pitchFamily="34" charset="0"/>
                <a:ea typeface="Calibri" pitchFamily="34" charset="-122"/>
                <a:cs typeface="Calibri" pitchFamily="34" charset="-120"/>
              </a:rPr>
              <a:t>Una puerta con dos placas: componer PressurePlate</a:t>
            </a:r>
            <a:endParaRPr lang="en-US" sz="1200" dirty="0"/>
          </a:p>
          <a:p>
            <a:pPr marL="342900" indent="-342900">
              <a:spcAft>
                <a:spcPts val="600"/>
              </a:spcAft>
              <a:buSzPct val="100000"/>
              <a:buChar char="•"/>
            </a:pPr>
            <a:r>
              <a:rPr lang="en-US" sz="1200" dirty="0">
                <a:solidFill>
                  <a:srgbClr val="D8D5E0"/>
                </a:solidFill>
                <a:latin typeface="Calibri" pitchFamily="34" charset="0"/>
                <a:ea typeface="Calibri" pitchFamily="34" charset="-122"/>
                <a:cs typeface="Calibri" pitchFamily="34" charset="-120"/>
              </a:rPr>
              <a:t>Una trampa cuyo ritmo dependa del ruido</a:t>
            </a:r>
            <a:endParaRPr lang="en-US" sz="1200" dirty="0"/>
          </a:p>
        </p:txBody>
      </p:sp>
      <p:sp>
        <p:nvSpPr>
          <p:cNvPr id="29" name="Text 27"/>
          <p:cNvSpPr txBox="1"/>
          <p:nvPr/>
        </p:nvSpPr>
        <p:spPr>
          <a:xfrm>
            <a:off x="7498080" y="5440680"/>
            <a:ext cx="4114800" cy="457200"/>
          </a:xfrm>
          <a:prstGeom prst="rect">
            <a:avLst/>
          </a:prstGeom>
          <a:noFill/>
          <a:ln/>
        </p:spPr>
        <p:txBody>
          <a:bodyPr wrap="square" lIns="0" tIns="0" rIns="0" bIns="0" rtlCol="0" anchor="ctr"/>
          <a:lstStyle/>
          <a:p>
            <a:pPr indent="0" marL="0">
              <a:buNone/>
            </a:pPr>
            <a:r>
              <a:rPr lang="en-US" sz="1200" i="1" dirty="0">
                <a:solidFill>
                  <a:srgbClr val="E7A93F"/>
                </a:solidFill>
                <a:latin typeface="Calibri" pitchFamily="34" charset="0"/>
                <a:ea typeface="Calibri" pitchFamily="34" charset="-122"/>
                <a:cs typeface="Calibri" pitchFamily="34" charset="-120"/>
              </a:rPr>
              <a:t>Ninguno obliga a tocar el jugador ni la configuración de física.</a:t>
            </a:r>
            <a:endParaRPr lang="en-US" sz="1200" dirty="0"/>
          </a:p>
        </p:txBody>
      </p:sp>
      <p:sp>
        <p:nvSpPr>
          <p:cNvPr id="30" name="Text 28"/>
          <p:cNvSpPr txBox="1"/>
          <p:nvPr/>
        </p:nvSpPr>
        <p:spPr>
          <a:xfrm>
            <a:off x="548640" y="5394960"/>
            <a:ext cx="64008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¿Preguntas?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DungeonPuzzle · Semana 04</dc:title>
  <dc:subject>PptxGenJS Presentation</dc:subject>
  <dc:creator>Equipo DungeonPuzzle</dc:creator>
  <cp:lastModifiedBy>Equipo DungeonPuzzle</cp:lastModifiedBy>
  <cp:revision>1</cp:revision>
  <dcterms:created xsi:type="dcterms:W3CDTF">2026-09-07T04:47:57Z</dcterms:created>
  <dcterms:modified xsi:type="dcterms:W3CDTF">2026-09-07T04:47:57Z</dcterms:modified>
</cp:coreProperties>
</file>