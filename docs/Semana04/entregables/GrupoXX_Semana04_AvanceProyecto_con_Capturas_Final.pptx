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eb5dd2299046c1" /><Relationship Type="http://schemas.openxmlformats.org/officeDocument/2006/relationships/extended-properties" Target="/docProps/app.xml" Id="R28fe462226ec421f" /><Relationship Type="http://schemas.openxmlformats.org/officeDocument/2006/relationships/officeDocument" Target="/ppt/presentation.xml" Id="R989bb99578ae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d9e6fa6955457d"/>
  </p:sldMasterIdLst>
  <p:notesMasterIdLst>
    <p:notesMasterId xmlns:r="http://schemas.openxmlformats.org/officeDocument/2006/relationships" r:id="R39d07c7b19374cd3"/>
  </p:notesMasterIdLst>
  <p:sldIdLst>
    <p:sldId xmlns:r="http://schemas.openxmlformats.org/officeDocument/2006/relationships" id="256" r:id="Rdb80b87ff052451e"/>
    <p:sldId xmlns:r="http://schemas.openxmlformats.org/officeDocument/2006/relationships" id="257" r:id="R15998b00b8dd4cb2"/>
    <p:sldId xmlns:r="http://schemas.openxmlformats.org/officeDocument/2006/relationships" id="258" r:id="R1d3d2444eff54c46"/>
    <p:sldId xmlns:r="http://schemas.openxmlformats.org/officeDocument/2006/relationships" id="259" r:id="R763a0817a8f14076"/>
    <p:sldId xmlns:r="http://schemas.openxmlformats.org/officeDocument/2006/relationships" id="260" r:id="Rc9bce9789e1e4566"/>
    <p:sldId xmlns:r="http://schemas.openxmlformats.org/officeDocument/2006/relationships" id="261" r:id="R795f1aeae80e4b17"/>
    <p:sldId xmlns:r="http://schemas.openxmlformats.org/officeDocument/2006/relationships" id="262" r:id="R00668b5e85b649b6"/>
    <p:sldId xmlns:r="http://schemas.openxmlformats.org/officeDocument/2006/relationships" id="263" r:id="R13a3032eaf86446e"/>
    <p:sldId xmlns:r="http://schemas.openxmlformats.org/officeDocument/2006/relationships" id="264" r:id="R639248ae6ff34eac"/>
    <p:sldId xmlns:r="http://schemas.openxmlformats.org/officeDocument/2006/relationships" id="265" r:id="R4c76c6e58f1442b7"/>
    <p:sldId xmlns:r="http://schemas.openxmlformats.org/officeDocument/2006/relationships" id="266" r:id="R0cad5190972848c8"/>
    <p:sldId xmlns:r="http://schemas.openxmlformats.org/officeDocument/2006/relationships" id="267" r:id="R9f650b95715e4d75"/>
    <p:sldId xmlns:r="http://schemas.openxmlformats.org/officeDocument/2006/relationships" id="268" r:id="R68f0f6c7a7bc4505"/>
    <p:sldId xmlns:r="http://schemas.openxmlformats.org/officeDocument/2006/relationships" id="269" r:id="R702cdf1b0a5348ec"/>
    <p:sldId xmlns:r="http://schemas.openxmlformats.org/officeDocument/2006/relationships" id="270" r:id="Rdd59269b6a2b45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f37e0b579a4910" /><Relationship Type="http://schemas.openxmlformats.org/officeDocument/2006/relationships/slideMaster" Target="/ppt/slideMasters/slideMaster1.xml" Id="Ra8d9e6fa6955457d" /><Relationship Type="http://schemas.openxmlformats.org/officeDocument/2006/relationships/notesMaster" Target="/ppt/notesMasters/notesMaster1.xml" Id="R39d07c7b19374cd3" /><Relationship Type="http://schemas.openxmlformats.org/officeDocument/2006/relationships/presProps" Target="/ppt/presProps.xml" Id="Ref33f3d9c7f542b6" /><Relationship Type="http://schemas.openxmlformats.org/officeDocument/2006/relationships/tableStyles" Target="/ppt/tableStyles.xml" Id="R745bc82660b543d6" /><Relationship Type="http://schemas.openxmlformats.org/officeDocument/2006/relationships/slide" Target="/ppt/slides/slide1.xml" Id="Rdb80b87ff052451e" /><Relationship Type="http://schemas.openxmlformats.org/officeDocument/2006/relationships/slide" Target="/ppt/slides/slide2.xml" Id="R15998b00b8dd4cb2" /><Relationship Type="http://schemas.openxmlformats.org/officeDocument/2006/relationships/slide" Target="/ppt/slides/slide3.xml" Id="R1d3d2444eff54c46" /><Relationship Type="http://schemas.openxmlformats.org/officeDocument/2006/relationships/slide" Target="/ppt/slides/slide4.xml" Id="R763a0817a8f14076" /><Relationship Type="http://schemas.openxmlformats.org/officeDocument/2006/relationships/slide" Target="/ppt/slides/slide5.xml" Id="Rc9bce9789e1e4566" /><Relationship Type="http://schemas.openxmlformats.org/officeDocument/2006/relationships/slide" Target="/ppt/slides/slide6.xml" Id="R795f1aeae80e4b17" /><Relationship Type="http://schemas.openxmlformats.org/officeDocument/2006/relationships/slide" Target="/ppt/slides/slide7.xml" Id="R00668b5e85b649b6" /><Relationship Type="http://schemas.openxmlformats.org/officeDocument/2006/relationships/slide" Target="/ppt/slides/slide8.xml" Id="R13a3032eaf86446e" /><Relationship Type="http://schemas.openxmlformats.org/officeDocument/2006/relationships/slide" Target="/ppt/slides/slide9.xml" Id="R639248ae6ff34eac" /><Relationship Type="http://schemas.openxmlformats.org/officeDocument/2006/relationships/slide" Target="/ppt/slides/slide10.xml" Id="R4c76c6e58f1442b7" /><Relationship Type="http://schemas.openxmlformats.org/officeDocument/2006/relationships/slide" Target="/ppt/slides/slide11.xml" Id="R0cad5190972848c8" /><Relationship Type="http://schemas.openxmlformats.org/officeDocument/2006/relationships/slide" Target="/ppt/slides/slide12.xml" Id="R9f650b95715e4d75" /><Relationship Type="http://schemas.openxmlformats.org/officeDocument/2006/relationships/slide" Target="/ppt/slides/slide13.xml" Id="R68f0f6c7a7bc4505" /><Relationship Type="http://schemas.openxmlformats.org/officeDocument/2006/relationships/slide" Target="/ppt/slides/slide14.xml" Id="R702cdf1b0a5348ec" /><Relationship Type="http://schemas.openxmlformats.org/officeDocument/2006/relationships/slide" Target="/ppt/slides/slide15.xml" Id="Rdd59269b6a2b45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48692f058d41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c0a8ae2b7a4683" /><Relationship Type="http://schemas.openxmlformats.org/officeDocument/2006/relationships/notesMaster" Target="/ppt/notesMasters/notesMaster1.xml" Id="Rc2c701eabeff48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8a89184b684be1" /><Relationship Type="http://schemas.openxmlformats.org/officeDocument/2006/relationships/notesMaster" Target="/ppt/notesMasters/notesMaster1.xml" Id="Rc572fb54eb2c42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e6224fc25f422f" /><Relationship Type="http://schemas.openxmlformats.org/officeDocument/2006/relationships/notesMaster" Target="/ppt/notesMasters/notesMaster1.xml" Id="R665616f8d90b4a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e70784a57e42c3" /><Relationship Type="http://schemas.openxmlformats.org/officeDocument/2006/relationships/notesMaster" Target="/ppt/notesMasters/notesMaster1.xml" Id="Rfb57c1bd68e347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0865abff94946" /><Relationship Type="http://schemas.openxmlformats.org/officeDocument/2006/relationships/notesMaster" Target="/ppt/notesMasters/notesMaster1.xml" Id="R7980d2b2c2514a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8a5d8f5ff1409e" /><Relationship Type="http://schemas.openxmlformats.org/officeDocument/2006/relationships/notesMaster" Target="/ppt/notesMasters/notesMaster1.xml" Id="Rf78aff0277fd4d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e2ace4ea814685" /><Relationship Type="http://schemas.openxmlformats.org/officeDocument/2006/relationships/notesMaster" Target="/ppt/notesMasters/notesMaster1.xml" Id="Rfefcfad2583f4b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6d462dd5da4f70" /><Relationship Type="http://schemas.openxmlformats.org/officeDocument/2006/relationships/notesMaster" Target="/ppt/notesMasters/notesMaster1.xml" Id="Rf8dcf7c46cf249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2e562ce4734d9c" /><Relationship Type="http://schemas.openxmlformats.org/officeDocument/2006/relationships/notesMaster" Target="/ppt/notesMasters/notesMaster1.xml" Id="Rd77e2caa237249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4c1e5e7aa7425a" /><Relationship Type="http://schemas.openxmlformats.org/officeDocument/2006/relationships/notesMaster" Target="/ppt/notesMasters/notesMaster1.xml" Id="Rdd6256e652df44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639c1ffa9b4e3c" /><Relationship Type="http://schemas.openxmlformats.org/officeDocument/2006/relationships/notesMaster" Target="/ppt/notesMasters/notesMaster1.xml" Id="Rc7afc5bd3a644d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9eafdfb7224bd7" /><Relationship Type="http://schemas.openxmlformats.org/officeDocument/2006/relationships/notesMaster" Target="/ppt/notesMasters/notesMaster1.xml" Id="Redf3f61cee9f42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23fd8cb8ce4de7" /><Relationship Type="http://schemas.openxmlformats.org/officeDocument/2006/relationships/notesMaster" Target="/ppt/notesMasters/notesMaster1.xml" Id="Rc26cea9555614a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e87c6322674756" /><Relationship Type="http://schemas.openxmlformats.org/officeDocument/2006/relationships/notesMaster" Target="/ppt/notesMasters/notesMaster1.xml" Id="R8d0957deda9f4e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41ae7a2b94426c" /><Relationship Type="http://schemas.openxmlformats.org/officeDocument/2006/relationships/notesMaster" Target="/ppt/notesMasters/notesMaster1.xml" Id="R220388df9ec648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equipo y encuadrar en una frase: este avance organiza el proyecto, mejora cómo se resuelven las colisiones y añade elementos accionados por contacto.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brevemente la sala inicial. Señalar la llave, el personaje, el guardia y la puerta; después pasar a cómo se organiza y comporta 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 los cinco puntos que pide la consigna. Cada uno queda cubierto por evidencia técnica y una demostración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leer el árbol entero. Señalar Core/Player/Guard/World y que Tests prueba lógica pura. El Editor puede usar Runtime, nunca al revés. GameManager se autocrea y cualquier sala se puede ejecutar sola.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guardia no es una clase gigante: es cuerpo físico + cono + visual + una política de movimiento. Cambiar la política no toca detección ni animación.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matriz estaba completamente abierta. Detenerse en Player ✘ Projectile, Guard ✘ Guard y Projectile ✔ Interactable. La puerta abierta apaga su collider, por eso la piedra la cruza.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Detección es el barrido. Respuesta es el rebote o deslizamiento. Antes MovePosition teletransportaba; ahora linearVelocity deja actuar al solver. El rebote refleja la velocidad sobre la normal con pérdida de energía y maxLifetime evita piedras indefinidas.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sensor reemplaza una consulta ciega por eventos que el motor ya calcula. Un cuerpo cinemático no reporta contactos salvo que se pida useFullKinematicContacts; GuardBase cierra el punto ciego a la espalda.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vías son tecla sobre candidato, mensaje entre objetos y colisión pura. Una placa con Enter/Exit y bool falla con dos cuerpos. El héroe aporta dos colliders y un guardia puede pisarla; por eso usa un conjunto de ocupantes.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primera versión afirmaba que se podía lanzar una piedra sobre la placa. Al revisar la física se corrigió: la piedra no reposa. El modo latching evita que un mecanismo cierre lo que abrió otro.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Ciclo de 3 s. El desfase es serializado en un solo prefab. El collider se apaga, no se consulta. Al armarse, Collider2D.Overlap revisa quién ya estaba dentro porque un cuerpo quieto no vuelve a emitir 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Elegir dos o tres decisiones, no leer la tabla entera. Las más fuertes son CollisionLayers y la lógica pura separada. GuardStatic y GuardPatrol ya tienen cono de visión y reacción al ruido; la trampa complementa al enemigo.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tests EditMode tardan menos de un segundo. Construir todo crea los prefabs, coloca las piezas, construye Room_Demo e imprime el informe de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palanca junto a la placa es el rescate: si algo se tuerce, abre la puerta a mano y la demostración sigue.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con el criterio de la consigna: decisiones de arquitectura que faciliten el crecimiento. Estos ejemplos muestran que las decisiones funcionan.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a9b13885b4a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fefb6f1864b4e" /><Relationship Type="http://schemas.openxmlformats.org/officeDocument/2006/relationships/slideLayout" Target="/ppt/slideLayouts/slideLayout1.xml" Id="Ree41156c247444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1156c2474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e29b5bf304f33" /><Relationship Type="http://schemas.openxmlformats.org/officeDocument/2006/relationships/image" Target="/ppt/media/image.png" Id="Rb7bf6499e92f48d5" /><Relationship Type="http://schemas.openxmlformats.org/officeDocument/2006/relationships/image" Target="/ppt/media/image2.png" Id="Rcbdeda4754a449f4" /><Relationship Type="http://schemas.openxmlformats.org/officeDocument/2006/relationships/image" Target="/ppt/media/image3.png" Id="R6c42b592d1114244" /><Relationship Type="http://schemas.openxmlformats.org/officeDocument/2006/relationships/notesSlide" Target="/ppt/notesSlides/notesSlide1.xml" Id="R23a97c3e811f46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dba9264954924" /><Relationship Type="http://schemas.openxmlformats.org/officeDocument/2006/relationships/image" Target="/ppt/media/image4.png" Id="R4139565a6fae4078" /><Relationship Type="http://schemas.openxmlformats.org/officeDocument/2006/relationships/notesSlide" Target="/ppt/notesSlides/notesSlide2.xml" Id="R8c51a48f27ff4e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8e79dd5bd403e" /><Relationship Type="http://schemas.openxmlformats.org/officeDocument/2006/relationships/notesSlide" Target="/ppt/notesSlides/notesSlide3.xml" Id="R891b8bf58b5042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c2ecb10e54461" /><Relationship Type="http://schemas.openxmlformats.org/officeDocument/2006/relationships/image" Target="/ppt/media/image5.png" Id="Rd542c864374a48ae" /><Relationship Type="http://schemas.openxmlformats.org/officeDocument/2006/relationships/notesSlide" Target="/ppt/notesSlides/notesSlide4.xml" Id="R96746f445c9b41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0e0b052ca4599" /><Relationship Type="http://schemas.openxmlformats.org/officeDocument/2006/relationships/image" Target="/ppt/media/image6.png" Id="Rb215afa833eb4602" /><Relationship Type="http://schemas.openxmlformats.org/officeDocument/2006/relationships/image" Target="/ppt/media/image7.png" Id="Re85a231e8e9348e6" /><Relationship Type="http://schemas.openxmlformats.org/officeDocument/2006/relationships/image" Target="/ppt/media/image8.png" Id="R67b5ed03dd7f4e12" /><Relationship Type="http://schemas.openxmlformats.org/officeDocument/2006/relationships/notesSlide" Target="/ppt/notesSlides/notesSlide5.xml" Id="Rc80bb948d8374d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87d3a68d44a36" /><Relationship Type="http://schemas.openxmlformats.org/officeDocument/2006/relationships/notesSlide" Target="/ppt/notesSlides/notesSlide6.xml" Id="R6add5974671b4a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638fdd8384791" /><Relationship Type="http://schemas.openxmlformats.org/officeDocument/2006/relationships/image" Target="/ppt/media/image9.png" Id="R87340c33ac7f45f6" /><Relationship Type="http://schemas.openxmlformats.org/officeDocument/2006/relationships/notesSlide" Target="/ppt/notesSlides/notesSlide7.xml" Id="Rf5d02bdd437747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383ca41414d29" /><Relationship Type="http://schemas.openxmlformats.org/officeDocument/2006/relationships/image" Target="/ppt/media/image10.png" Id="R54f84fc4f10d4392" /><Relationship Type="http://schemas.openxmlformats.org/officeDocument/2006/relationships/notesSlide" Target="/ppt/notesSlides/notesSlide8.xml" Id="R6d98869902c04c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fb344e4f14c29" /><Relationship Type="http://schemas.openxmlformats.org/officeDocument/2006/relationships/notesSlide" Target="/ppt/notesSlides/notesSlide9.xml" Id="Reb311e6cc5924c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f39af2676404d" /><Relationship Type="http://schemas.openxmlformats.org/officeDocument/2006/relationships/image" Target="/ppt/media/image11.png" Id="R96bac4e8ae9d4319" /><Relationship Type="http://schemas.openxmlformats.org/officeDocument/2006/relationships/image" Target="/ppt/media/image12.png" Id="Rd60bdfeffec0459d" /><Relationship Type="http://schemas.openxmlformats.org/officeDocument/2006/relationships/notesSlide" Target="/ppt/notesSlides/notesSlide10.xml" Id="Ra103bcf756de4e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d9390b9fc4052" /><Relationship Type="http://schemas.openxmlformats.org/officeDocument/2006/relationships/image" Target="/ppt/media/image13.png" Id="Rd18c32811baf44df" /><Relationship Type="http://schemas.openxmlformats.org/officeDocument/2006/relationships/notesSlide" Target="/ppt/notesSlides/notesSlide11.xml" Id="Re124d71679fb4a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245a5155c4ae9" /><Relationship Type="http://schemas.openxmlformats.org/officeDocument/2006/relationships/notesSlide" Target="/ppt/notesSlides/notesSlide12.xml" Id="Rc84f1fffc2a447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c071258f24b0b" /><Relationship Type="http://schemas.openxmlformats.org/officeDocument/2006/relationships/image" Target="/ppt/media/image14.png" Id="R956560fc6f324364" /><Relationship Type="http://schemas.openxmlformats.org/officeDocument/2006/relationships/notesSlide" Target="/ppt/notesSlides/notesSlide13.xml" Id="R54c4746bed954e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315582f1b416a" /><Relationship Type="http://schemas.openxmlformats.org/officeDocument/2006/relationships/notesSlide" Target="/ppt/notesSlides/notesSlide14.xml" Id="R49486890b9b34c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c2b6b1bfb466d" /><Relationship Type="http://schemas.openxmlformats.org/officeDocument/2006/relationships/image" Target="/ppt/media/image15.png" Id="Rfc0e662464544457" /><Relationship Type="http://schemas.openxmlformats.org/officeDocument/2006/relationships/notesSlide" Target="/ppt/notesSlides/notesSlide15.xml" Id="Rfac23784427847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348FBC-B512-4C45-AF63-E82A7D6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5D4EE-DEDD-4999-B8F6-918A7550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0F39D-779B-4E5C-82AC-99EC2EA4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37400-5F69-41AE-82CC-B91FA19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76B64-20F8-4A82-8163-4D79FA75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EAC1-04E1-4C76-A073-EB39927E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7C7E2-472A-44C3-8186-2BF5961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6E5BE-40BF-427A-8087-DDA4DC0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3F0E3-C58C-442D-BBE6-5FA28230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346A2-AFEE-4A51-936B-F56951F9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8B08F-9D6D-48A5-8675-FD32C516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40AFD-2045-4D40-9F55-3D837043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6ABCA-875C-48B6-BD57-27D446D4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3DD71-7962-4F55-B634-05B723B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34957-BE10-4263-93AB-4315967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36335-C471-4EBC-B6D6-0AFE7EE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C5ECA-3C74-44CE-A9C6-E47A3DEF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3B594-070F-45E1-A72C-12034D4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EDE15-58A5-4535-AAF0-F8CF3471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CE648-44C8-467F-91FF-F1BD6EA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3A81D-A48E-463A-A3C8-8FDDD773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D9D09-AE9B-49CC-9E10-3916C4FB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7B829-9EF3-4437-9AF4-9109AF5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2EB62-162E-4FD4-B020-8E79AA7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B5B1F-C9A5-408C-8049-2137E61A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DDC625-5CE9-4611-B04F-F3EEB9AA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54A54-DFAB-4858-8A38-27360A4F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3ABFE-8151-4DFB-A925-CB293BE8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DD043D-32D8-40C3-91BA-DEEBA58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1F853-A01E-425D-8218-7423322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6D6858-0C39-4B0F-BBD3-D6CB7307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F490AA-D646-4B26-956E-77C74957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12EA5-33F0-4B7B-8919-36CD9505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A5F37-4CB2-41B4-998F-D6BD6EB1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9606A5-7753-4EBA-8E7D-ACCEA704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D7988E-1A51-49CF-A2EB-5F6FC28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E03EE3-E0A5-44D9-BE7D-AC152C9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666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196BF9-C6E4-4A8E-8354-661B1C91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38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BBAD9D-CBF8-4107-AB88-339E024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4098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19704C-45E0-40E0-A186-69D035E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C74508-BB94-4861-BA94-715AF2AA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SEMANA 04 · AVANCE DE PROYECTO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8ACC00-6C0B-4384-AC0F-E79A8277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50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DungeonPuzzle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47C608-935A-49A8-952A-94C0E9A7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5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Arquitectura, objetos y enemigos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35E11F-6DAA-45D5-83F0-97EE86E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Colisiones 2D · interacción · trampa de pinchos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A2981F-F746-4790-8117-E0D58BBA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AF4199-3F4A-4F56-9A89-385B0BE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Unity 6000.5.0b10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14226B-3BD2-40A6-8F2D-F63AE043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D75757-C471-477B-8E7B-5D7D5F92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URP 2D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B528DA-C96E-4A68-B6A6-C70C477F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A4202C-8E70-455C-A951-F9603410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Input System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70DE32-D7B3-45B3-AACD-E2A4784B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385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CE0DB0-D4AA-46DA-A671-C3385DE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45 pruebas EditMode</a:t>
            </a:r>
          </a:p>
        </p:txBody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f6499e92f48d5"/>
          <a:stretch xmlns:a="http://schemas.openxmlformats.org/drawingml/2006/main"/>
        </p:blipFill>
        <p:spPr>
          <a:xfrm xmlns:a="http://schemas.openxmlformats.org/drawingml/2006/main">
            <a:off x="8191500" y="223837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eda4754a449f4"/>
          <a:stretch xmlns:a="http://schemas.openxmlformats.org/drawingml/2006/main"/>
        </p:blipFill>
        <p:spPr>
          <a:xfrm xmlns:a="http://schemas.openxmlformats.org/drawingml/2006/main">
            <a:off x="9810750" y="2143125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2b592d1114244"/>
          <a:stretch xmlns:a="http://schemas.openxmlformats.org/drawingml/2006/main"/>
        </p:blipFill>
        <p:spPr>
          <a:xfrm xmlns:a="http://schemas.openxmlformats.org/drawingml/2006/main">
            <a:off x="9082088" y="39052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601F42-B51C-4BF5-B500-AF6B3523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Sustentación grupal · Semana 4</a:t>
            </a:r>
          </a:p>
        </p:txBody>
      </p:sp>
    </p:spTree>
    <p:extLst>
      <p:ext uri="{BB962C8B-B14F-4D97-AF65-F5344CB8AC3E}">
        <p14:creationId xmlns:p14="http://schemas.microsoft.com/office/powerpoint/2010/main" val="1772991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accent">
            <a:extLst xmlns:a="http://schemas.openxmlformats.org/drawingml/2006/main">
              <a:ext uri="{FF2B5EF4-FFF2-40B4-BE49-F238E27FC236}">
                <a16:creationId xmlns:a16="http://schemas.microsoft.com/office/drawing/2014/main" id="{B16D8A82-F674-4D89-A029-AEFE7F11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2C94C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71949BE-6E46-420E-A6B7-885102E4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C9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2C94C"/>
                </a:solidFill>
                <a:latin typeface="JetBrains Mono"/>
                <a:ea typeface="JetBrains Mono"/>
                <a:cs typeface="JetBrains Mono"/>
              </a:rPr>
              <a:t>DUNGEONPUZZLE · ROOM_01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ED29BA-DB73-4313-90C1-0524A2B3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4F0DE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3150" b="1">
                <a:solidFill>
                  <a:srgbClr val="F4F0DE"/>
                </a:solidFill>
                <a:latin typeface="Bricolage Grotesque"/>
                <a:ea typeface="Bricolage Grotesque"/>
                <a:cs typeface="Bricolage Grotesque"/>
              </a:rPr>
              <a:t>Así se ve el juego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7960844-F365-4227-B10E-678D9505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DB7A8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BDB7A8"/>
                </a:solidFill>
                <a:latin typeface="Public Sans"/>
                <a:ea typeface="Public Sans"/>
                <a:cs typeface="Public Sans"/>
              </a:rPr>
              <a:t>Llave, personaje, guardia y puerta en la sala inicial.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84EC95D-9773-4A81-B6FB-F229193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4394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24212B"/>
          </a:solidFill>
          <a:ln xmlns:a="http://schemas.openxmlformats.org/drawingml/2006/main" w="19050">
            <a:solidFill>
              <a:srgbClr val="F2C94C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9565a6fae4078"/>
          <a:stretch xmlns:a="http://schemas.openxmlformats.org/drawingml/2006/main"/>
        </p:blipFill>
        <p:spPr>
          <a:xfrm xmlns:a="http://schemas.openxmlformats.org/drawingml/2006/main">
            <a:off x="2564377" y="1880612"/>
            <a:ext cx="7063247" cy="3973076"/>
          </a:xfrm>
          <a:prstGeom xmlns:a="http://schemas.openxmlformats.org/drawingml/2006/main" prst="roundRect">
            <a:avLst/>
          </a:prstGeom>
        </p:spPr>
      </p:pic>
      <p:sp>
        <p:nvSpPr>
          <p:cNvPr id="7" name="bottom-band">
            <a:extLst xmlns:a="http://schemas.openxmlformats.org/drawingml/2006/main">
              <a:ext uri="{FF2B5EF4-FFF2-40B4-BE49-F238E27FC236}">
                <a16:creationId xmlns:a16="http://schemas.microsoft.com/office/drawing/2014/main" id="{FD7A4B0A-F5B2-4BE8-A663-D41BCD0A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C10"/>
          </a:solidFill>
          <a:ln xmlns:a="http://schemas.openxmlformats.org/drawingml/2006/main" w="0">
            <a:solidFill>
              <a:srgbClr val="0D0C10"/>
            </a:solidFill>
            <a:prstDash val="solid"/>
          </a:ln>
        </p:spPr>
      </p:sp>
      <p:sp>
        <p:nvSpPr>
          <p:cNvPr id="8" name="stone-top-0">
            <a:extLst xmlns:a="http://schemas.openxmlformats.org/drawingml/2006/main">
              <a:ext uri="{FF2B5EF4-FFF2-40B4-BE49-F238E27FC236}">
                <a16:creationId xmlns:a16="http://schemas.microsoft.com/office/drawing/2014/main" id="{30DE48D9-9FFE-4A0E-ACEA-4B2EE601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9" name="stone-bottom-0">
            <a:extLst xmlns:a="http://schemas.openxmlformats.org/drawingml/2006/main">
              <a:ext uri="{FF2B5EF4-FFF2-40B4-BE49-F238E27FC236}">
                <a16:creationId xmlns:a16="http://schemas.microsoft.com/office/drawing/2014/main" id="{35B93F9E-F75B-496A-BF03-C6286B1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0" name="stone-top-1">
            <a:extLst xmlns:a="http://schemas.openxmlformats.org/drawingml/2006/main">
              <a:ext uri="{FF2B5EF4-FFF2-40B4-BE49-F238E27FC236}">
                <a16:creationId xmlns:a16="http://schemas.microsoft.com/office/drawing/2014/main" id="{8C361E26-EC21-48FB-83BC-1E443D4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1" name="stone-bottom-1">
            <a:extLst xmlns:a="http://schemas.openxmlformats.org/drawingml/2006/main">
              <a:ext uri="{FF2B5EF4-FFF2-40B4-BE49-F238E27FC236}">
                <a16:creationId xmlns:a16="http://schemas.microsoft.com/office/drawing/2014/main" id="{81EA02AB-8A2A-402F-B65C-8386B3A5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2" name="stone-top-2">
            <a:extLst xmlns:a="http://schemas.openxmlformats.org/drawingml/2006/main">
              <a:ext uri="{FF2B5EF4-FFF2-40B4-BE49-F238E27FC236}">
                <a16:creationId xmlns:a16="http://schemas.microsoft.com/office/drawing/2014/main" id="{590CD8F3-6F30-4980-95AF-AC88D53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3" name="stone-bottom-2">
            <a:extLst xmlns:a="http://schemas.openxmlformats.org/drawingml/2006/main">
              <a:ext uri="{FF2B5EF4-FFF2-40B4-BE49-F238E27FC236}">
                <a16:creationId xmlns:a16="http://schemas.microsoft.com/office/drawing/2014/main" id="{9C2553B7-4379-4E47-9668-F8923DD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4" name="stone-top-3">
            <a:extLst xmlns:a="http://schemas.openxmlformats.org/drawingml/2006/main">
              <a:ext uri="{FF2B5EF4-FFF2-40B4-BE49-F238E27FC236}">
                <a16:creationId xmlns:a16="http://schemas.microsoft.com/office/drawing/2014/main" id="{04F78E3A-8970-4E34-A155-B51D70E5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5" name="stone-bottom-3">
            <a:extLst xmlns:a="http://schemas.openxmlformats.org/drawingml/2006/main">
              <a:ext uri="{FF2B5EF4-FFF2-40B4-BE49-F238E27FC236}">
                <a16:creationId xmlns:a16="http://schemas.microsoft.com/office/drawing/2014/main" id="{4F47CF15-87C2-43A2-AFFC-8E7C5DA9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6" name="stone-top-4">
            <a:extLst xmlns:a="http://schemas.openxmlformats.org/drawingml/2006/main">
              <a:ext uri="{FF2B5EF4-FFF2-40B4-BE49-F238E27FC236}">
                <a16:creationId xmlns:a16="http://schemas.microsoft.com/office/drawing/2014/main" id="{91537266-3716-49B4-A688-D126F4D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7" name="stone-bottom-4">
            <a:extLst xmlns:a="http://schemas.openxmlformats.org/drawingml/2006/main">
              <a:ext uri="{FF2B5EF4-FFF2-40B4-BE49-F238E27FC236}">
                <a16:creationId xmlns:a16="http://schemas.microsoft.com/office/drawing/2014/main" id="{0F6E079F-9C7F-48C2-9A0D-6976333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8" name="stone-top-5">
            <a:extLst xmlns:a="http://schemas.openxmlformats.org/drawingml/2006/main">
              <a:ext uri="{FF2B5EF4-FFF2-40B4-BE49-F238E27FC236}">
                <a16:creationId xmlns:a16="http://schemas.microsoft.com/office/drawing/2014/main" id="{7EEAF1AB-8D2C-4873-BD48-D5971F59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19" name="stone-bottom-5">
            <a:extLst xmlns:a="http://schemas.openxmlformats.org/drawingml/2006/main">
              <a:ext uri="{FF2B5EF4-FFF2-40B4-BE49-F238E27FC236}">
                <a16:creationId xmlns:a16="http://schemas.microsoft.com/office/drawing/2014/main" id="{A3CC4209-D85A-44F7-A9EE-6A627F65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0" name="stone-top-6">
            <a:extLst xmlns:a="http://schemas.openxmlformats.org/drawingml/2006/main">
              <a:ext uri="{FF2B5EF4-FFF2-40B4-BE49-F238E27FC236}">
                <a16:creationId xmlns:a16="http://schemas.microsoft.com/office/drawing/2014/main" id="{AEBEEFD2-5569-4FF6-BC71-B7B63E0D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1" name="stone-bottom-6">
            <a:extLst xmlns:a="http://schemas.openxmlformats.org/drawingml/2006/main">
              <a:ext uri="{FF2B5EF4-FFF2-40B4-BE49-F238E27FC236}">
                <a16:creationId xmlns:a16="http://schemas.microsoft.com/office/drawing/2014/main" id="{9708DD5D-E1BE-495E-BA02-2784320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2" name="stone-top-7">
            <a:extLst xmlns:a="http://schemas.openxmlformats.org/drawingml/2006/main">
              <a:ext uri="{FF2B5EF4-FFF2-40B4-BE49-F238E27FC236}">
                <a16:creationId xmlns:a16="http://schemas.microsoft.com/office/drawing/2014/main" id="{7FD6F12B-2F86-4066-B189-6FD9419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3" name="stone-bottom-7">
            <a:extLst xmlns:a="http://schemas.openxmlformats.org/drawingml/2006/main">
              <a:ext uri="{FF2B5EF4-FFF2-40B4-BE49-F238E27FC236}">
                <a16:creationId xmlns:a16="http://schemas.microsoft.com/office/drawing/2014/main" id="{199C8781-2513-4F49-B824-3F61B0E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4" name="stone-top-8">
            <a:extLst xmlns:a="http://schemas.openxmlformats.org/drawingml/2006/main">
              <a:ext uri="{FF2B5EF4-FFF2-40B4-BE49-F238E27FC236}">
                <a16:creationId xmlns:a16="http://schemas.microsoft.com/office/drawing/2014/main" id="{735F900A-A620-4E13-AC0E-96A2E09D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5" name="stone-bottom-8">
            <a:extLst xmlns:a="http://schemas.openxmlformats.org/drawingml/2006/main">
              <a:ext uri="{FF2B5EF4-FFF2-40B4-BE49-F238E27FC236}">
                <a16:creationId xmlns:a16="http://schemas.microsoft.com/office/drawing/2014/main" id="{DF6EAB8A-5DB6-4054-9649-843CCF52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6" name="stone-top-9">
            <a:extLst xmlns:a="http://schemas.openxmlformats.org/drawingml/2006/main">
              <a:ext uri="{FF2B5EF4-FFF2-40B4-BE49-F238E27FC236}">
                <a16:creationId xmlns:a16="http://schemas.microsoft.com/office/drawing/2014/main" id="{A0436216-597A-4028-90AC-8CEA3E51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7" name="stone-bottom-9">
            <a:extLst xmlns:a="http://schemas.openxmlformats.org/drawingml/2006/main">
              <a:ext uri="{FF2B5EF4-FFF2-40B4-BE49-F238E27FC236}">
                <a16:creationId xmlns:a16="http://schemas.microsoft.com/office/drawing/2014/main" id="{E6D90CCC-D15A-4C8D-A0AA-9DB4B0A7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8" name="stone-top-10">
            <a:extLst xmlns:a="http://schemas.openxmlformats.org/drawingml/2006/main">
              <a:ext uri="{FF2B5EF4-FFF2-40B4-BE49-F238E27FC236}">
                <a16:creationId xmlns:a16="http://schemas.microsoft.com/office/drawing/2014/main" id="{B10AA773-3A3F-4741-91C8-FAC607DB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29" name="stone-bottom-10">
            <a:extLst xmlns:a="http://schemas.openxmlformats.org/drawingml/2006/main">
              <a:ext uri="{FF2B5EF4-FFF2-40B4-BE49-F238E27FC236}">
                <a16:creationId xmlns:a16="http://schemas.microsoft.com/office/drawing/2014/main" id="{CDE3125F-9408-41C2-BE28-DD6B98A4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0" name="stone-top-11">
            <a:extLst xmlns:a="http://schemas.openxmlformats.org/drawingml/2006/main">
              <a:ext uri="{FF2B5EF4-FFF2-40B4-BE49-F238E27FC236}">
                <a16:creationId xmlns:a16="http://schemas.microsoft.com/office/drawing/2014/main" id="{A959FFCF-ADCD-49B6-839F-11DAA9E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1" name="stone-bottom-11">
            <a:extLst xmlns:a="http://schemas.openxmlformats.org/drawingml/2006/main">
              <a:ext uri="{FF2B5EF4-FFF2-40B4-BE49-F238E27FC236}">
                <a16:creationId xmlns:a16="http://schemas.microsoft.com/office/drawing/2014/main" id="{39388CEB-2DF1-40B5-812A-59DDA9C1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2" name="stone-top-12">
            <a:extLst xmlns:a="http://schemas.openxmlformats.org/drawingml/2006/main">
              <a:ext uri="{FF2B5EF4-FFF2-40B4-BE49-F238E27FC236}">
                <a16:creationId xmlns:a16="http://schemas.microsoft.com/office/drawing/2014/main" id="{11D4D6A4-7ED1-4AB0-86B0-E4625EC5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3" name="stone-bottom-12">
            <a:extLst xmlns:a="http://schemas.openxmlformats.org/drawingml/2006/main">
              <a:ext uri="{FF2B5EF4-FFF2-40B4-BE49-F238E27FC236}">
                <a16:creationId xmlns:a16="http://schemas.microsoft.com/office/drawing/2014/main" id="{FEDAF25C-E8DD-43D8-B6BA-7886D2A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4" name="stone-top-13">
            <a:extLst xmlns:a="http://schemas.openxmlformats.org/drawingml/2006/main">
              <a:ext uri="{FF2B5EF4-FFF2-40B4-BE49-F238E27FC236}">
                <a16:creationId xmlns:a16="http://schemas.microsoft.com/office/drawing/2014/main" id="{454144A8-7A36-4C06-BDB1-D4B9FDF7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5" name="stone-bottom-13">
            <a:extLst xmlns:a="http://schemas.openxmlformats.org/drawingml/2006/main">
              <a:ext uri="{FF2B5EF4-FFF2-40B4-BE49-F238E27FC236}">
                <a16:creationId xmlns:a16="http://schemas.microsoft.com/office/drawing/2014/main" id="{B917E6B8-81B9-41AC-A3BA-F5F7AC23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6" name="stone-top-14">
            <a:extLst xmlns:a="http://schemas.openxmlformats.org/drawingml/2006/main">
              <a:ext uri="{FF2B5EF4-FFF2-40B4-BE49-F238E27FC236}">
                <a16:creationId xmlns:a16="http://schemas.microsoft.com/office/drawing/2014/main" id="{BA46D430-4EEA-439D-9D38-1D3D0E24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7" name="stone-bottom-14">
            <a:extLst xmlns:a="http://schemas.openxmlformats.org/drawingml/2006/main">
              <a:ext uri="{FF2B5EF4-FFF2-40B4-BE49-F238E27FC236}">
                <a16:creationId xmlns:a16="http://schemas.microsoft.com/office/drawing/2014/main" id="{E20C79D5-81CC-4660-A965-ABC7F9C4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8" name="stone-top-15">
            <a:extLst xmlns:a="http://schemas.openxmlformats.org/drawingml/2006/main">
              <a:ext uri="{FF2B5EF4-FFF2-40B4-BE49-F238E27FC236}">
                <a16:creationId xmlns:a16="http://schemas.microsoft.com/office/drawing/2014/main" id="{E0561DAA-6AE6-457E-81DD-517A65F9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39" name="stone-bottom-15">
            <a:extLst xmlns:a="http://schemas.openxmlformats.org/drawingml/2006/main">
              <a:ext uri="{FF2B5EF4-FFF2-40B4-BE49-F238E27FC236}">
                <a16:creationId xmlns:a16="http://schemas.microsoft.com/office/drawing/2014/main" id="{0F41D46A-A31E-47F3-9F0C-F300B802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0" name="stone-top-16">
            <a:extLst xmlns:a="http://schemas.openxmlformats.org/drawingml/2006/main">
              <a:ext uri="{FF2B5EF4-FFF2-40B4-BE49-F238E27FC236}">
                <a16:creationId xmlns:a16="http://schemas.microsoft.com/office/drawing/2014/main" id="{1D98322A-3930-4898-B458-E2D3915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1" name="stone-bottom-16">
            <a:extLst xmlns:a="http://schemas.openxmlformats.org/drawingml/2006/main">
              <a:ext uri="{FF2B5EF4-FFF2-40B4-BE49-F238E27FC236}">
                <a16:creationId xmlns:a16="http://schemas.microsoft.com/office/drawing/2014/main" id="{4A5F6E46-789B-4019-84B5-835BCB7C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2" name="stone-top-17">
            <a:extLst xmlns:a="http://schemas.openxmlformats.org/drawingml/2006/main">
              <a:ext uri="{FF2B5EF4-FFF2-40B4-BE49-F238E27FC236}">
                <a16:creationId xmlns:a16="http://schemas.microsoft.com/office/drawing/2014/main" id="{2919EB77-05BC-48F7-9610-6423AE1C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3" name="stone-bottom-17">
            <a:extLst xmlns:a="http://schemas.openxmlformats.org/drawingml/2006/main">
              <a:ext uri="{FF2B5EF4-FFF2-40B4-BE49-F238E27FC236}">
                <a16:creationId xmlns:a16="http://schemas.microsoft.com/office/drawing/2014/main" id="{322957A5-F8A5-4305-A044-2568AF9D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4" name="stone-top-18">
            <a:extLst xmlns:a="http://schemas.openxmlformats.org/drawingml/2006/main">
              <a:ext uri="{FF2B5EF4-FFF2-40B4-BE49-F238E27FC236}">
                <a16:creationId xmlns:a16="http://schemas.microsoft.com/office/drawing/2014/main" id="{BD985421-84BF-419C-B4F9-BBB04C4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6252A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5" name="stone-bottom-18">
            <a:extLst xmlns:a="http://schemas.openxmlformats.org/drawingml/2006/main">
              <a:ext uri="{FF2B5EF4-FFF2-40B4-BE49-F238E27FC236}">
                <a16:creationId xmlns:a16="http://schemas.microsoft.com/office/drawing/2014/main" id="{08DCBBA9-9802-4888-930F-1C0B72F4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1B20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6" name="stone-top-19">
            <a:extLst xmlns:a="http://schemas.openxmlformats.org/drawingml/2006/main">
              <a:ext uri="{FF2B5EF4-FFF2-40B4-BE49-F238E27FC236}">
                <a16:creationId xmlns:a16="http://schemas.microsoft.com/office/drawing/2014/main" id="{24A23631-2E2A-41B3-A3AF-406CB314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571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02026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7" name="stone-bottom-19">
            <a:extLst xmlns:a="http://schemas.openxmlformats.org/drawingml/2006/main">
              <a:ext uri="{FF2B5EF4-FFF2-40B4-BE49-F238E27FC236}">
                <a16:creationId xmlns:a16="http://schemas.microsoft.com/office/drawing/2014/main" id="{818DC522-39C8-4D0F-AC30-600A191E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629400"/>
            <a:ext cx="571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2329"/>
          </a:solidFill>
          <a:ln xmlns:a="http://schemas.openxmlformats.org/drawingml/2006/main" w="9525">
            <a:solidFill>
              <a:srgbClr val="35323B"/>
            </a:solidFill>
            <a:prstDash val="solid"/>
          </a:ln>
        </p:spPr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900CAC-1F71-455B-8BFF-9370749D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096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BDB7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BDB7A8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7026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B639AE-FBEA-4A8E-B7B4-6B8C97F0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C8FE2-1960-4B85-9BC0-4600D26F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8F823-90AD-4FAF-B706-5B422AF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D0C4E-9A0B-4A28-B797-3C66544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D6157-4535-4123-B68C-389EADC6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AE732-08E1-476E-9766-D66BD01B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937EF-231B-4DF9-BBE7-E3ABABD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05501-11FF-4313-B2B4-91EBA9CA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30CF2-D40D-43A1-B417-724DEF6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DC675-A355-417B-BEFE-647357E6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27A37-5C45-4336-A9B2-AE13A27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A960F-6A4A-4C67-B27F-4A3D69E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FE82E-986F-4695-AEA6-BEC46E1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D0519-2AA0-4565-8D00-DF30895A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C3864-1E6A-4A96-B7C6-EBECAD1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0AA8D-A34E-4100-A71E-33166689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AB8B1-113D-4157-BF04-E95D9BBD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B2045-1A2B-4301-96DE-99914BD8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03B5A-9AB5-4275-A504-D9566C0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D384D-9C20-4B58-A56E-F409F39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589EE-BA57-4768-9086-7EED042E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OBJETIVO DE LA SEMANA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68E79-2E33-4CC7-B014-A5C6999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Cinco objetivos, una demostración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9A109-B513-481E-A4E5-C25A243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9A06E-5301-4419-9D4E-7F68259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5DFBA-6155-4B28-A766-67FC07F6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85485-653A-48B5-BC79-C17C1AC9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3FDA6-64B4-49A8-9CAC-D3827CC1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01C36-EA7A-48C3-8B1E-44121370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9D122-B582-4365-A22E-22B9F93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49331-4A43-4611-981F-36C6993F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95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D5E59-8B28-427D-B63B-20759B5E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859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Organización de escenas, objetos, componentes y scripts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9DBAA-4046-4A31-8242-9EA8D991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53B712-9A75-429D-9F14-5474D0D1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9EF598-0363-42A6-BD29-4BF1376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384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B2F27B-B5EC-4B21-8FD3-8A6C9C37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2887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Detección y respuesta de colisiones 2D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841468-58B7-4476-9145-60B89044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D9A62A-2D76-4341-877E-A62C986A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46ED6E-8CEC-4F11-985B-05A43B5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BD0B56-1A6F-4ABB-9E18-4854B7B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718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Comportamientos básicos de objetos interactivos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289AB0-5B3F-4F9B-A614-91CD626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BECBF7-5BF1-49C8-996D-CD2CF0A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D6CBBD-C5B9-42D1-A374-6621963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B84AE9-2493-49DF-9DBC-F8EB3A29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1477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Obstáculo con animación y comportamiento propio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5367E0-5F52-44FF-8398-9F1AF95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F34EF7-D16B-4728-85ED-AB83238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76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F8E6E5-9A64-482B-AF14-4D5D3BBC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52C6AF-C0D4-4459-BE32-1C8929CE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75" b="0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Decisiones de arquitectura para crecer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9CDF5A-032F-4FAF-B8A2-D0331629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Entregables: explicación visual del proyecto, demostración de colisiones y componentes relevantes.</a:t>
            </a:r>
          </a:p>
        </p:txBody>
      </p:sp>
    </p:spTree>
    <p:extLst>
      <p:ext uri="{BB962C8B-B14F-4D97-AF65-F5344CB8AC3E}">
        <p14:creationId xmlns:p14="http://schemas.microsoft.com/office/powerpoint/2010/main" val="752643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24C500-3A60-4D6A-9A38-D7034A8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99CAD-A36C-4CC4-917F-735617A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23287-9424-4D3D-9FDA-7E35A551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DE788-0E4A-430A-8F00-7909F19E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D9B2F-0F0F-4AA4-835F-C4D4DA62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5800E-6007-4972-8715-196BC001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EC99C-287E-4F91-B26F-4F627F58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436D4-01A6-4C42-8AB3-55854C39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B3B81-D93C-45B5-AD88-8F10AF6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7BA4C-4857-4813-8725-915F4473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C62A3-6969-493C-85FD-8BEF48D4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5AECB-A42E-4CE7-936F-72098228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47990-A07B-4D14-A129-E6AFA1B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EEC4E-16CA-4F83-8371-1075F1F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CF1E8-1F58-4FE4-9F08-C1DE8BF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AB00F-86B1-4103-BDA3-1846BC2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EFF9E-4E68-4CC0-8299-766E3A8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E36ED-18CB-478C-B86B-17908D74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C96AE-A132-4F6C-9933-69601C4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79191-519A-49B3-9593-5B373E85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794AA-9439-48D0-83A2-97838C57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ORGANIZACIÓN DEL PROYECTO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F909D-05CE-45F8-B509-0D34081A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Estructura y flujo del proyecto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DF8BF-2C57-44AE-BFCD-D94165A6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9411A-B033-4F5D-ABF3-02AFF81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29D4B-8400-40D7-8270-73FF641F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10D1A-862C-4658-9473-185E458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BA0C7-1780-45C2-845A-0964F955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570C8-225D-45C5-A080-50B74D7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572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D20BA-D4F7-4C8D-8A16-3E6D7257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78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ASSETS/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3579D-440F-4714-A428-D66CD95F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4000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30D56-DF36-4271-A184-3CD2B39B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59436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11F29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449A19-3E29-4C53-A29E-9AA9D417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478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TRES ASSEMBLIES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57A614-3E4E-43E2-995C-41C2A41F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Runtime entra al build · Editor y Tests no.</a:t>
            </a:r>
          </a:p>
          <a:p xmlns:a="http://schemas.openxmlformats.org/drawingml/2006/main">
            <a:pPr>
              <a:buNone/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El Editor puede usar Runtime, nunca al revés.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73F8D-1B06-4F1F-A761-F45EBA07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70E024-D64C-4C52-910B-F545A6F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MainMenu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444EB-44D5-4ED8-B14E-E71837FA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37D5CA-D7C4-44DF-9BFE-6AE8E7AE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5B909E-B14A-4857-A7DF-13DCC468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018D9F-824D-4962-812C-7A22E77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1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D6E2FF-C8B8-4A38-BF06-F768BF7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5757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BDC874-EAB7-401E-B713-91C6B44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57575"/>
            <a:ext cx="2095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2B3FE5-507B-41DA-8604-C595A4B0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ExitTrigger continúa Room_01 → Room_05; WinGame() → GameOver.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69FE7E-8368-4413-8E12-B277C78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72000"/>
            <a:ext cx="5943600" cy="9144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F31DD1-57C7-4464-AADB-2D3D77FB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24400"/>
            <a:ext cx="560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ECEBF4-ECCA-4D99-BA68-F0D33C9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00625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/>
            </a:r>
          </a:p>
        </p:txBody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2c864374a48ae"/>
          <a:srcRect xmlns:a="http://schemas.openxmlformats.org/drawingml/2006/main" l="0" t="23251" r="0" b="23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952625"/>
            <a:ext cx="4305300" cy="2857500"/>
          </a:xfrm>
          <a:prstGeom xmlns:a="http://schemas.openxmlformats.org/drawingml/2006/main" prst="roundRect">
            <a:avLst>
              <a:gd name="adj" fmla="val 667"/>
            </a:avLst>
          </a:prstGeom>
        </p:spPr>
      </p:pic>
    </p:spTree>
    <p:extLst>
      <p:ext uri="{BB962C8B-B14F-4D97-AF65-F5344CB8AC3E}">
        <p14:creationId xmlns:p14="http://schemas.microsoft.com/office/powerpoint/2010/main" val="562925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AA842C-1F1B-402A-8FD0-02BC43B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94D75-6E90-4303-9D70-8678416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F86B2-2BB1-4701-BA94-F475164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D2985-5BFB-4912-B80C-D846E237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82E32-803C-4AEE-89F2-979A70A0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2BA78-3476-4CA5-8421-5830037E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08D1D-7A45-44AF-BEB0-930C22C7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34603-53AB-48D5-B814-802352E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9423B-A491-4F57-97A9-FD98D557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68D78-1256-48A6-B39D-D995148D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02E3E-34FD-4FA7-B442-6FF5EEA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72580-77CE-4F7A-8FA5-B2D5D241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1701C-3636-462B-8ACF-AE8F1AC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C6D6F-2D5A-446B-936A-4D3E820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02530-8BA2-48BB-A4A5-7B0C6545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92F34-3442-4EF1-9784-DF7072F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0FF2F-BF95-49E4-AC8C-192ABA1C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8FC50-EC02-4D0D-90C6-20A5C900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1F544-3687-4C21-BD2C-AE704C2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2C8C4-0BCE-42E8-A4DD-4060A12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C06CA-1C1B-4BDC-BAC4-36509FB1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01 · COMPONENTES RELEVANTES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32082-38C0-4152-8A74-86F84C7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Player y Guard: composición sobre herencia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617BE-74DB-4CC6-A764-5FD146C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D0F9E-4B3C-4DA6-8899-6C63BB5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853D5-FEE1-4C3A-9802-173DC165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07F4E-0B8D-48EC-8CDB-E5810C54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C82EB-B830-4921-AC0F-2904F22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CAAF2-A856-4958-8C18-4DF604D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00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3450B-29C2-4711-8A6E-8780CACE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PLAYER · CAPA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003FE-141B-4029-9546-F72E5FB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429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Rigidbody2D dinámico, rotación congelada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CircleCollider2D sólido r = 0.4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CircleCollider2D trigger r = 1.0: sensor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Movement · Interaction · Inventory · Sensor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Visual: SpriteRenderer + Animator de 4 direcciones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5afa833eb4602"/>
          <a:stretch xmlns:a="http://schemas.openxmlformats.org/drawingml/2006/main"/>
        </p:blipFill>
        <p:spPr>
          <a:xfrm xmlns:a="http://schemas.openxmlformats.org/drawingml/2006/main">
            <a:off x="3581400" y="33337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8A312-DCFD-46AD-AE9A-44AFFDBB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85900"/>
            <a:ext cx="30765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396BA3-896C-42DF-BAFB-6B4E5ECB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240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GUARD_* · CAPA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D67AF-F113-4A22-BA2E-929B8621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Rigidbody2D cinemático con contactos completos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GuardBase → GuardStatic o GuardPatrol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VisionCone: malla por raycasts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Visual contra-rota para verse de pie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a231e8e9348e6"/>
          <a:stretch xmlns:a="http://schemas.openxmlformats.org/drawingml/2006/main"/>
        </p:blipFill>
        <p:spPr>
          <a:xfrm xmlns:a="http://schemas.openxmlformats.org/drawingml/2006/main">
            <a:off x="6953250" y="32385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F7A74-00E1-453B-AACC-D0C4633A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28750"/>
            <a:ext cx="3324225" cy="44767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D0AE2A-CA54-4139-834A-8D5D2F3C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575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4FE3C1-1AC7-4495-8AFE-D54E20FE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1175"/>
            <a:ext cx="575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EB740B-7A8A-4A40-85A0-1743415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Cambiar la política de movimiento no toca detección ni animación.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5ed03dd7f4e12"/>
          <a:stretch xmlns:a="http://schemas.openxmlformats.org/drawingml/2006/main"/>
        </p:blipFill>
        <p:spPr>
          <a:xfrm xmlns:a="http://schemas.openxmlformats.org/drawingml/2006/main">
            <a:off x="8607182" y="1524000"/>
            <a:ext cx="2397611" cy="4286250"/>
          </a:xfrm>
          <a:prstGeom xmlns:a="http://schemas.openxmlformats.org/drawingml/2006/main" prst="roundRect">
            <a:avLst>
              <a:gd name="adj" fmla="val 608"/>
            </a:avLst>
          </a:prstGeom>
        </p:spPr>
      </p:pic>
    </p:spTree>
    <p:extLst>
      <p:ext uri="{BB962C8B-B14F-4D97-AF65-F5344CB8AC3E}">
        <p14:creationId xmlns:p14="http://schemas.microsoft.com/office/powerpoint/2010/main" val="267296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A88E00-DC47-4F3D-B1F4-81E989E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89603-6B27-4B0C-88ED-A5C31E95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36A5E-6BFD-4C42-83F6-FBB501B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BAA40-7BCB-4B41-AF70-8AE8611F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6168E-61B9-4630-8264-7FF78C2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58C61-7C98-4498-9C39-4AFB1936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93659-83B3-4CA1-A2AD-4D2EA66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1D04A-4EE4-455A-B67A-7A664A4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CE4D3-87DB-4CD8-ABA9-A3B0C303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9FBFB-AFA3-47C9-98B7-744DF7D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FC62C-ECDB-407C-8075-26281B4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36D4E-ECC3-479E-AE63-BE407B6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DFF57-D76C-49B1-A3B9-FD9A21B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86CBB-E6F7-4BC3-9798-C726BFB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9F501-A00C-4538-B0D3-99407C4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04F24-0D6F-4472-9E23-29FB0AC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E9790-B49A-4BE0-B51A-08F82D3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693AF-DB5F-4D8D-ABD0-6B49C34E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8C8D1-17FA-4C38-BB5A-8DE022E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CC83F-94F0-47FE-98CD-EFA83FD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9D161-D435-4D98-A829-0E97EE67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6FF71-D870-4E82-8914-9908DD4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matriz explícita evita bugs reales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0554D-C5B8-4CC4-BF1F-47B3AF96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888DF-8EBF-4C6A-98D4-A008FA2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9FC18-01CC-4EED-98B8-E1DDD77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26497-E6AF-4020-92F1-21F8BF9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784E0-433A-4D96-B957-1F5F9B3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0FE79-53F4-4A7A-8693-F84253E4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Antes: todo chocaba contra todo. Ahora: nuevas capas Projectile (11) y Hazard (12), gravedad global (0, 0).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71562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04950"/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23975"/>
              </a:tblGrid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Guard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Walls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Interact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Projectile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F6F5F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Hazard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Guard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Walls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Interactable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0BD6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382B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Projectile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357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 b="1">
                          <a:solidFill>
                            <a:srgbClr val="D1CDD9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Hazard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6CE084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✔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A39EA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✘</a:t>
                      </a:r>
                    </a:p>
                  </a:txBody>
                  <a:tcPr marL="91440" marR="91440" marT="45720" marB="45720">
                    <a:solidFill>
                      <a:srgbClr val="24212B"/>
                    </a:solidFill>
                  </a:tcPr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3F0DD-32C0-4EFD-88D4-A592121B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572000" cy="809625"/>
          </a:xfrm>
          <a:prstGeom xmlns:a="http://schemas.openxmlformats.org/drawingml/2006/main" prst="roundRect">
            <a:avLst>
              <a:gd name="adj" fmla="val 941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B62FC-E11F-4AD5-AF69-EF64D974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8DF36-C895-49EE-A8FE-E56E810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4229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C939BF-55E0-4F0C-89C9-556C9ED3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1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Player ✘ Projectile: la piedra no empuja al héroe. Guard ✘ Guard: sin contactos inútiles. Projectile ✔ Interactable: choca con puerta cerrada.</a:t>
            </a:r>
          </a:p>
        </p:txBody>
      </p:sp>
    </p:spTree>
    <p:extLst>
      <p:ext uri="{BB962C8B-B14F-4D97-AF65-F5344CB8AC3E}">
        <p14:creationId xmlns:p14="http://schemas.microsoft.com/office/powerpoint/2010/main" val="1195760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4A838F-799C-40A7-B848-0F72800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24457-D18D-40AF-9339-7BC6052A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41281-4D13-45E3-8249-40ABFD60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5164A-51D5-4503-B730-B5AF79B3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636E6-2049-40AF-9557-35AB9E85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036FB-FA7F-45B9-86EB-B4613FBF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66984-E352-47F9-971B-7BA7EAEA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A764D-B069-4A76-AF5C-F6AF49C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AD626-DFEF-413B-B3DE-03DEDF23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0BEA9-CC21-4A20-ABB3-5AA1F83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93442-2811-458B-9F78-E62CB14E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6E6E2-8DF9-4660-AE9A-6D92543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BAE88-99E8-409F-8687-BD40A1D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37996-8DA5-44CA-A3AF-B0ED15F2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B60D9-98C4-401F-B9B9-7C558FFC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D404E-AEBB-49E5-9EE6-4D72961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9F1B1-68BF-4E13-BEB9-4CA7491A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4FA5A-4971-4CC5-8445-3F030193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7BDCF-02E6-4D3D-BC58-01A6A9B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DCF4E-9EAC-4D51-BC56-1648FCE5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CC81A-21F7-4BBE-BDB4-7FAF48C6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 · COLISIONES 2D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AC366-AE28-4598-8776-D6728ADD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Detectar el impacto y responder bien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22185-1121-475D-856B-EE00E46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BF2DE-07EA-48F9-A950-B356D1BA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8691E-F5C4-4CE8-BD6E-F97ACC1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6E3CC-94DA-4925-83F8-14B2B19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A5DCEA-4B09-4EC1-BE9B-824C9479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E04ED-FA9D-4188-BC3A-017C8301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000625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8A6A1-8B5E-4B4D-82FE-D831E6F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24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DISCRETA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47630A-5C6E-401D-A055-AC87C6FA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rPr>
              <a:t>○ · · · · · · · ▓ · · · · 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530DD-C517-4D3F-A718-53A57F4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07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r = 0.1 a 8 u/s: 0.16 u por paso. Puede aparecer al otro lado.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E913BF-FC33-45AC-AD72-C2564D2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54483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985D0-FB59-46CD-BF12-1E54083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24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CONTINUA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4F901-64EE-4238-B883-7DD6DEF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05025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0">
                <a:solidFill>
                  <a:srgbClr val="F6F5F9"/>
                </a:solidFill>
                <a:latin typeface="JetBrains Mono"/>
                <a:ea typeface="JetBrains Mono"/>
                <a:cs typeface="JetBrains Mono"/>
              </a:rPr>
              <a:t>○━━━━━━━━━━━━━━━━●▓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5B8A9-A675-4A1D-B8FE-6607852E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Awake() fuerza Continuous + interpolación: el motor barre el trayecto.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B7CCE2-3AD1-43BA-80B3-0D571EB9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000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BCFBCC-CADD-4D23-BA84-B4767DF5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ANTES · MOVEPOSITION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561753-C73F-4AFE-ACD4-DAAF8DEE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Se solapa con el muro y el solver corrige a empujones: tirón visible y esquinas pegajosas.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925502-A0F8-4788-AADA-2ADCF12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19500"/>
            <a:ext cx="5448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B3927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C61B89-419A-4477-8621-004F8340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AHORA · LINEARVELOCITY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521773-5EE1-4BCA-A451-7184048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El solver resuelve el contacto y el héroe desliza. El Animator recibe la velocidad real.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7FCE9D-0409-4785-9044-A36AF619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30C7CF-41E3-4E27-BDB2-E4182ED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461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F8AB64-943B-474C-B4BF-3EF2514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/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40c33ac7f45f6"/>
          <a:srcRect xmlns:a="http://schemas.openxmlformats.org/drawingml/2006/main" l="0" t="37052" r="0" b="37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5372100"/>
            <a:ext cx="4838700" cy="70485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</p:spTree>
    <p:extLst>
      <p:ext uri="{BB962C8B-B14F-4D97-AF65-F5344CB8AC3E}">
        <p14:creationId xmlns:p14="http://schemas.microsoft.com/office/powerpoint/2010/main" val="855677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B86054-5E4A-4E6D-BD44-1B73C5EB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90079-74FB-44B2-A759-38DB9419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08ECA-2C27-4EC3-9CE0-B509D228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BB071-CFEE-4CF5-B985-97DE25B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0A788-6BE3-430E-83B9-C654F02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EFA94-EEFB-4F13-B694-9881A6E6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65713-FF63-4280-83A7-929B33F8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21C9E-5733-4816-802A-EFF872C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379DB-8898-4BCF-9DC3-5E995446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0B114-776C-4751-8E02-3961162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D36F2-6952-4A3F-99EF-D7FD962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B5EDF-BEFF-4F0E-AC8E-427271B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745E4-DCAC-42D4-8A03-DE16F1E9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2683D-351E-483D-A0D6-1021BD7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30135-9F87-439C-89D7-A18331F4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5899E-6B7A-48ED-9400-5AD8ACA4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257B1-FF50-46D0-ACE1-496337B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38943-3EEC-4AF9-9BCF-25F74083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5CE23-3EAD-484B-9F53-95740643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B7F3B-A93B-4CA4-953E-EF1FB977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3C361-BD87-49E7-A540-C3C57F2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02–03 · INTERACCIÓN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6DADB-7F88-4401-BD36-C4EAA5A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El sensor escucha al motor y el guardia ya no tiene punto ciego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25B11-82DE-414A-9F79-6703F274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4AB7D-5415-4A18-BAD0-696FCCD4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7C966-510D-4277-AC2A-7F7B5DF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CDCBB-2F2D-4FCD-B906-3FB05EE7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DDC55-7EAA-48E0-B25C-88FD9E69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00CF5-51AF-497F-9D88-69B032F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6926F9-C3A4-49A3-883A-5123D11B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INTERACTIONSENSOR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5C5ED-941E-4423-80DE-676D7344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286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Antes: Physics2D.OverlapCircle al pulsar E, una consulta ciega.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Ahora: OnTriggerEnter2D / OnTriggerExit2D mantiene candidatos.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Se elige el más cercano y el HUD puede avisar antes de pulsar.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Dos colliders duplicaban eventos: ExitTrigger y SpikeTrap usan pestillo de un solo uso.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B1305-2CAC-4B98-8DA8-1B7F8EEC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53911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E057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C5702-FBF0-4196-928C-ED7F6780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E0574B"/>
                </a:solidFill>
                <a:latin typeface="JetBrains Mono"/>
                <a:ea typeface="JetBrains Mono"/>
                <a:cs typeface="JetBrains Mono"/>
              </a:rPr>
              <a:t>CONTACTO DEL GUARDIA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1760F-5D53-4742-BA0A-915BA6E9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Rb.useFullKinematicContacts = true;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886366-835A-4D4B-88F4-18CAFF9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6F5F9"/>
                </a:solidFill>
                <a:latin typeface="Public Sans"/>
                <a:ea typeface="Public Sans"/>
                <a:cs typeface="Public Sans"/>
              </a:rPr>
              <a:t>GuardBase añade OnCollisionEnter2D: chocar con el guardia descubre al héroe aunque el cono mire al otro lado.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583132-2253-450D-8C16-8D702FAD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Antes, pegarse a su espalda era impunidad total.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84fc4f10d4392"/>
          <a:stretch xmlns:a="http://schemas.openxmlformats.org/drawingml/2006/main"/>
        </p:blipFill>
        <p:spPr>
          <a:xfrm xmlns:a="http://schemas.openxmlformats.org/drawingml/2006/main">
            <a:off x="10429875" y="2905125"/>
            <a:ext cx="685800" cy="68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50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81C8DA-8E8C-4E96-B256-0C26C08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1E0FF-6E55-4EA1-A8E1-F29DA7BB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5204-510E-4716-827C-57FA7F05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5351D-2AE8-4CD1-A155-8F38F793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8C0A1-25A9-43E2-A8AE-B4D820F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87D42-5F15-409E-96E1-C999AFB1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6526A-20BD-4888-9FFA-B87B041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D6012-5EBC-4CAD-9FD5-6D31D3F7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130ED-E51F-4723-B2FA-ABD191D5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39483-519E-42D1-9338-74BD80AB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BD2F5-C634-43D0-B668-521D1B5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D012F-F03B-4787-960F-C7BBF65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83252-56D3-4E87-93EC-38F99CA1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A5D41-526F-42D0-AA22-28E7A68C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B02D3-6C0F-4ACF-A5B9-96660C1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BEB54-5C1D-46D5-B5CC-20B49DDA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C58BD-43B7-49B4-A6F1-B5B2FD4E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88258-37A6-472B-8F05-BEE23C4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96550-6313-404C-8F5F-695E727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F70BA-07AC-412A-800E-BF21969C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93445-6A65-41D7-A2D9-7B7A19B3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9BCF3-7B4C-485A-B48D-AC3EDEFD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Seis objetos, tres formas de activarse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F4C68-2750-454E-B05D-F2F61AC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C1659-DCDD-4216-83A9-9B528C9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1CC5B-82BB-416B-AF91-D32F292F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1385F-071B-4352-83D8-1739A12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83200-9F2E-4E00-BED1-8499345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3" name="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  <a:gridCol w="2857500"/>
              </a:tblGrid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Objeto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Se activa por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Respuesta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Key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trigger + 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Abre su puerta; se consume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Lever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trigger + E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Conmuta su puerta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Stone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 recoger · F lanzar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Genera un proyectil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Door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mensaje de otro objeto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Anima escala y apaga collider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ExitTrigger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solo colisión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Siguiente sala o victoria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490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PressurePlate ★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solo colisión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Mantiene puerta abierta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84333C-FBC5-4752-BED7-421D9732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086100" cy="3143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6991A-AC2B-483F-A3C7-8AFD836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1450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POR QUÉ NO UN BOOL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DBB34-4C77-45F1-B4E6-58FED1D7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Héroe entra: true</a:t>
            </a:r>
          </a:p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Otro cuerpo entra: true</a:t>
            </a:r>
          </a:p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Otro cuerpo sale: false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7FE83-CF7F-45DB-8F81-B584B4D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670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0574B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E0574B"/>
                </a:solidFill>
                <a:latin typeface="Public Sans"/>
                <a:ea typeface="Public Sans"/>
                <a:cs typeface="Public Sans"/>
              </a:rPr>
              <a:t>La puerta se cerraría con el héroe aún encima.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BE050-29F0-489D-9E89-326B8F5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338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La placa usa un conjunto de ocupantes y solo se suelta vacío.</a:t>
            </a:r>
          </a:p>
        </p:txBody>
      </p:sp>
    </p:spTree>
    <p:extLst>
      <p:ext uri="{BB962C8B-B14F-4D97-AF65-F5344CB8AC3E}">
        <p14:creationId xmlns:p14="http://schemas.microsoft.com/office/powerpoint/2010/main" val="1428450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DB87A2-6123-42C3-9419-52924FC4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A9E11-0BD5-4820-A75E-5580BAC6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29F1F-6245-4113-9EC7-EFDB1823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1BD41-5D1C-459C-B5BE-98CBFF4A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85626-C90F-4217-B069-5422EEC1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AACC3-7932-4A0B-A936-5721817E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32DF-E13D-4FF1-91E2-A8FD81C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01ECC-5F28-4F4C-B2E4-44616995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C651-B4DE-48B3-8AD2-B308CC1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096C2-1AB7-43CA-B0EC-235BE012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0F937-ED5F-4058-A627-609084B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3DDD6-1A8E-4886-B7D0-76B2EBC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5B2CD-DF52-4934-8572-F2B6E7A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42481-B0D2-4F9A-8F08-F792E034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69979-AA22-4513-AEF2-EBCC7B0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0C444-E0DF-4CFB-83DF-70E25D82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6E5AA-61A0-47F5-8036-412FA29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ED981-3572-4248-AD2A-677F4EDD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BAEF1-45A4-4AD5-93EE-4AB2BE14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FDDC1-95E2-4381-9FAC-20689B3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5B57D-8D90-44BF-9EAC-A531E93D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03 · OBJETOS INTERACTIVOS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53CAD-CAB9-40BB-835D-E537D6E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Dos reglas para la placa de presión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8A65B-6576-45E9-A214-956357E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709A3-9CBA-4651-9860-447A51B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8AC1C-BA07-441C-8143-AEEF16F6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3AF26-4E14-47D6-9AE3-EE3DAE2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4A5E7-E792-4B53-8AC6-EDAF1E0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88ACC-0DAC-4A3F-81C0-B4CE342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0537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7DCBF-5A71-4DD8-81A4-1E7C639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piedra no puede pesar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3C1AC-EF82-4EE7-BC4B-74874B07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Un trigger no frena a un cuerpo dinámico. La piedra lanzada produce Enter y Exit en el mismo instante: solo haría parpadear la puerta.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0D56B-50D7-4DD3-9078-ED145E9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350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Cuenta solo cuerpos que pueden reposar: héroe y guardias.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ac4e8ae9d4319"/>
          <a:stretch xmlns:a="http://schemas.openxmlformats.org/drawingml/2006/main"/>
        </p:blipFill>
        <p:spPr>
          <a:xfrm xmlns:a="http://schemas.openxmlformats.org/drawingml/2006/main">
            <a:off x="4476750" y="3524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C1A49-F047-480D-906C-74C7388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490537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1AC37-E6A3-43F9-88BD-697D1EFF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7167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87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Evitar dos dueños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DD3F2-DBBE-40A5-885B-BACFB07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908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Si una palanca o llave abrió una puerta, salir de la placa no puede cerrarla.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01F730-4DCF-4088-A399-0EDEF118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Modo latching: en esas salas la placa solo abre.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bdfeffec0459d"/>
          <a:stretch xmlns:a="http://schemas.openxmlformats.org/drawingml/2006/main"/>
        </p:blipFill>
        <p:spPr>
          <a:xfrm xmlns:a="http://schemas.openxmlformats.org/drawingml/2006/main">
            <a:off x="10267950" y="3619500"/>
            <a:ext cx="66675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0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25E073-1864-43BD-BB91-B103E61D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C0DDC-36AE-4DB9-B78F-99BBD33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F4DB6-C0D5-4E2A-965F-CD20AA2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CDEFC-91FB-49AE-9780-875BB198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F7AE2-0377-4371-9E5B-758553E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E43B6-65BD-4379-8806-917CF6A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F7B44-4909-4CDC-A65D-2F83EA2E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37081-7D24-48BF-B280-AFF18043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67DC7-CFBA-4358-9C30-AF9E1E4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12C29-9AFB-4FB9-A596-B93BB9B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9CE34-1A53-4B1F-B5C7-F47C0D8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603E7-5E9F-468E-AF32-0FDED855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CC44A-7266-4741-B917-35F0D51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299D0-A9EF-4D30-962E-310E5EC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3B90D-70FF-4D02-9D50-F5DCB84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89A3D-4F8D-46D0-A2DE-C3C8A3B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2CF60-DD4C-4ED5-A699-C0BBA24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6B974-2C85-4852-87C1-D0C9AA0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7F8B2-C125-431A-B0AA-63B4A510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53950-AAD0-4E4B-B4A0-6CC49F6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2208B-EBAB-4885-AAE3-0A56589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04 · OBSTÁCULO ANIMADO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402CF-8C28-4F94-9EDC-254F4CC5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SpikeTrap: fases, collider y ritmo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3913D-57E0-481B-A3DB-3E6B652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28632-6065-4F34-8F38-87C50D62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5328C-C01C-443F-AA3C-4C1934D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B0E09-4341-4FC5-993E-4866B69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73DCA-223B-4D9B-9CD6-F6BE8B26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00B08-86B5-4DD0-84F4-DF55559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4FD29-64A5-4D7A-9014-296A1633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Oculta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11237-3A83-4D95-8B9A-CB54B8EE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0.25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9862F-9983-41D6-9C2B-B4006FFF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F378AA-24ED-48AC-9351-2B84384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1C9338-F5C3-4C8E-BE75-4AE82C2B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Subiendo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8C923-3E35-4362-95D0-C1EA8483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1.6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7166D-62E8-457C-8237-5B836BE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92D5F9-2203-495B-ACAD-9F781563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0970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3201F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C18EE-7727-446F-8280-843C111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859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Clavada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4EF92-5D68-4839-BC23-1E12135B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43075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0.25 s · collider activo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6DC94-D159-4033-94B8-BE817FD4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1925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3667C0-1FBF-40BE-906F-1FA5EF63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1666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0D01B2-206F-4200-AFCA-AE18B59B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8590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4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Bajando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5F188C-AFBB-4BE4-9E2A-07B5102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4307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0.9 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38E57D-A929-4E01-A78E-43A8B83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42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Solo Clavada mata. Tres sprites se conmutan por código para que fase visual y lógica no se desincronicen.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9F486C-CEA0-4D4F-A8AA-B0E8EB7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30E7F9-8951-4052-A485-17F8B842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0 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131856-E78E-4A04-A7A8-A9FA72A5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D706BF-10DD-43D5-836B-BC25BE9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752FB4-4BA1-4B66-8539-0AFF69B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02FAC8-F423-48C5-8FAF-57065156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2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2FA05A-EE43-4F39-A466-3291B163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67050"/>
            <a:ext cx="952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5F207E-773F-4747-A364-89471DA5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815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3 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460C38-D259-4FCA-BD46-D6CAFC16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5E2F86-0267-481F-8B7D-241ACF7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3850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BDD5B0-503F-49F1-9477-B97781D8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F25404-8F16-4B96-AFBD-D48AED98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5285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3D2714-B444-4FEB-BD54-F63AED4E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Trampa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DA80C9-19D4-4CD8-AF51-1E85805E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685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4D4A57-35E7-4B6F-877B-27A1A201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38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D0CA15-C95D-4519-86B1-46C3E4D0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52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01D798-AFEA-4D88-85D6-98129150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CC22DE-D554-4FDE-B78C-090B72F7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672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A0C940-E37B-4886-9C15-AC9FF49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720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CE084"/>
                </a:solidFill>
                <a:latin typeface="Public Sans"/>
                <a:ea typeface="Public Sans"/>
                <a:cs typeface="Public Sans"/>
              </a:defRPr>
            </a:pPr>
            <a:r>
              <a:rPr sz="1275" b="1">
                <a:solidFill>
                  <a:srgbClr val="6CE084"/>
                </a:solidFill>
                <a:latin typeface="Public Sans"/>
                <a:ea typeface="Public Sans"/>
                <a:cs typeface="Public Sans"/>
              </a:rPr>
              <a:t>Ventanas rojas: letales. Nunca se solapan; los huecos de 0.10 s dejan paso.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8A18E5-BA92-45FE-8277-A6EB2F4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2609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C87B8B-018C-4297-ADFF-0BB994A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387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E90099-68D4-42A5-8770-76A6216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14925"/>
            <a:ext cx="2266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/>
            </a:r>
          </a:p>
        </p:txBody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c32811baf44df"/>
          <a:srcRect xmlns:a="http://schemas.openxmlformats.org/drawingml/2006/main" l="13376" t="0" r="13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4743450"/>
            <a:ext cx="2495550" cy="885825"/>
          </a:xfrm>
          <a:prstGeom xmlns:a="http://schemas.openxmlformats.org/drawingml/2006/main" prst="roundRect">
            <a:avLst>
              <a:gd name="adj" fmla="val 2151"/>
            </a:avLst>
          </a:prstGeom>
        </p:spPr>
      </p:pic>
    </p:spTree>
    <p:extLst>
      <p:ext uri="{BB962C8B-B14F-4D97-AF65-F5344CB8AC3E}">
        <p14:creationId xmlns:p14="http://schemas.microsoft.com/office/powerpoint/2010/main" val="635397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822A2-BD94-4350-B985-2AC6FDDA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1F682-5853-40BF-B14D-E935A36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64821-8F87-4CAE-8B06-C90CB29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7256A-184A-464D-853C-098342B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BE9FF-3951-4C27-AD79-3494283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7DEFA-4BE0-404E-8BC7-FB83F26A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133A1-9DE0-429C-AA32-30047565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BE395-3F56-4FB4-9AC8-FB752A8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6887D-87AA-4FF1-80BE-94E31DE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21E60-41BA-4BDF-A10D-CDC0DB7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F90D3-9C91-4A81-9ED3-7D7855FD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1CCAB-DD84-4442-918E-4EA167B9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B99E6-3EFE-4BE3-881B-D5DFB420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E9CDE-4E00-4036-8842-C0514DA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022B7-C206-45D2-9DED-893A66FC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C12AD-747C-443B-91DC-A217A17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82F6E-F051-4B8F-8F34-7F7DF226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9C97C-BB1F-4834-81F1-46F76AC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0DD28-070C-4208-8637-5819049D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CF0E4-2496-41BA-8A77-6F46896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8FE73-08F1-43E3-A22F-9AA3834F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05 · ARQUITECTURA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F3890-C821-47A4-BD1F-379751D3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Decisiones que facilitan crecer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A083E-46E0-4FE2-BA31-E819090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863A7-1D47-4900-943C-F1234888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1FCBF-B01F-40BB-BBF6-BCB3B0C7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FD468-665A-4295-9E8B-78087D13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B2C0A-9280-419D-A26E-DC166855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0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06755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Qué permite o evita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CollisionLayers, fuente única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Máscaras por intención; ningún prefab rompe la detección dejando un campo vacío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GuardBase + subclases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ciclo se conserva; cambia solo cómo se mueve el guardia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IInteractable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El jugador pide un contrato, no conoce Lever ni Door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Lógica pura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PhaseAt, ShouldBePressed, Bounce y SnapFacing se prueban sin escena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Contenido generado y validador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Avance reproducible; comprueba capas, matriz y gravedad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E2486-4EDD-4FF7-8E16-2232999A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782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AEDB3-0190-4205-BF1A-9CFD03EA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425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La trampa castiga dónde pisas. El guardia castiga que te vean. Juntos hacen leer la sala en dos ejes.</a:t>
            </a:r>
          </a:p>
        </p:txBody>
      </p:sp>
    </p:spTree>
    <p:extLst>
      <p:ext uri="{BB962C8B-B14F-4D97-AF65-F5344CB8AC3E}">
        <p14:creationId xmlns:p14="http://schemas.microsoft.com/office/powerpoint/2010/main" val="187806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A3D2C8-7A66-41ED-BBC6-E191D132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35D8B-09D8-4B60-9472-E0A3A4F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B4E82-FBC0-4FCB-9AEB-9310422B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DD1B9-2AD1-4C31-9E3D-22D017F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FCDE1-130C-4248-92C8-2767E492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8EFF7-AC3B-4255-8F9D-E2C6D670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3B2B6-7209-4DD0-ACC8-B31F41CD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72134-190F-48E7-82ED-DD042127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F4711-C259-4D72-A122-0D223BE5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BB94C-E529-4E8A-A787-C73FC6BE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C6222-ADA6-48A6-B95C-76A38D3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0C45D-87DF-4F1A-AC3D-5058DC61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6002C-CB0E-4FEC-BD99-26EEBDE8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973A3-AE06-4BED-8008-FE61A53D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1C0FC-B1B3-45F2-9565-28F86EE7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29003-35BB-4622-AB7C-31B5095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26DF2-5E5F-484C-92EF-350AADF1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2880F-33F0-4ED1-B167-2FF7234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CCC3C-7C13-421C-8B46-E9F5790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FB144-71DA-4846-BD79-FD09E4E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3B722-25E3-412B-9145-50D50E0C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EVIDENCIA TÉCNICA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9AA3D-BAF1-41C9-8CA0-E3368EC2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Lo que se puede comprobar sin abrir el juego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8EED3-4CB1-4396-8E8D-DD2FAA15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83380-A11D-4213-93AB-3C4381F4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4CD74-D1AF-4FCE-98B0-C61BE3B6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1FF6C-104D-475F-9B1A-5080657E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BE8A-37AE-4189-80B5-8E67C4C8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64D19-09F5-44A4-BD06-74351843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BC4D6-8D53-40DE-B806-9E96AC5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A25175-BCA3-46B3-A8A5-3211A414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casos EditMode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CC55E-E9E6-4508-BE28-5FCB8186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00D32E-B4C6-4BAB-BFA3-84545708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1B324-D93D-48DF-B855-F10AA61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nuevos esta semana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76BB3E-6910-4CB6-8886-32DAF8B2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7A936B-4266-44AE-B278-D937A3F5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B50C95-FD0D-42B4-BAC3-7565A304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capas de física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14691D-199C-4A0B-8E53-13AE74D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28750"/>
            <a:ext cx="2400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5396D-C760-48D9-88FC-65444B1E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81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0BD63"/>
                </a:solidFill>
                <a:latin typeface="Bricolage Grotesque"/>
                <a:ea typeface="Bricolage Grotesque"/>
                <a:cs typeface="Bricolage Grotesque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FA4999-FFD0-48AC-A532-D7667057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811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salas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9A5CBF-D48F-4A88-B4DF-CBD6438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5341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7693EE-7881-4AA4-A606-90C57D6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7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Cómo reproducir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B5D0B5-6482-4228-A1EE-0D5F9F4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1. Unity 6000.5.0b10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2445DB-58C1-45DD-ACB3-0F99702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2. DungeonPuzzle ▸ Semana 04 ▸ Construir todo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223C45-1683-40E7-9C28-E66334A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3. Test Runner ▸ EditMode ▸ Run 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165DA7-393B-44D9-BE54-B5759CC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4. Play desde Room_Demo · F1 abre el panel de estado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D7E3D4-9159-470B-91B8-F878A6C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38481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14288">
            <a:solidFill>
              <a:srgbClr val="8C8A9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92FFC8-79BF-4B0B-BD42-1858307E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67025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D0585E-BC03-47CA-9FF0-FACA7A0D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3505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0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/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560fc6f324364"/>
          <a:stretch xmlns:a="http://schemas.openxmlformats.org/drawingml/2006/main"/>
        </p:blipFill>
        <p:spPr>
          <a:xfrm xmlns:a="http://schemas.openxmlformats.org/drawingml/2006/main">
            <a:off x="7677150" y="3388237"/>
            <a:ext cx="3733800" cy="1224526"/>
          </a:xfrm>
          <a:prstGeom xmlns:a="http://schemas.openxmlformats.org/drawingml/2006/main" prst="roundRect">
            <a:avLst>
              <a:gd name="adj" fmla="val 775"/>
            </a:avLst>
          </a:prstGeom>
        </p:spPr>
      </p:pic>
    </p:spTree>
    <p:extLst>
      <p:ext uri="{BB962C8B-B14F-4D97-AF65-F5344CB8AC3E}">
        <p14:creationId xmlns:p14="http://schemas.microsoft.com/office/powerpoint/2010/main" val="1009877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FFEE7C-18D4-427A-B272-2A2FAA47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6C522-3763-44E9-8DF6-ACCA1D95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8C2AB-946D-4216-8F73-8C9B309B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2A852-BD61-49C6-B6E7-A51DD495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4BBD-426C-402C-B73B-2BB8BD5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0EF73-92EB-455F-BE38-E4D9365D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276FE-4F95-4143-88C0-315C416D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79479-E94C-42F1-9AB1-932DBEA9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70016-137E-4328-ABD7-2A702FE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48920-7515-45C0-BF03-D25DF73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08278-7E79-4A93-B4D5-D2F4A12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0252A-1A7D-4DA6-859F-28143715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31769-1716-424C-8F30-17A569D4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54902-933D-4E2B-8A3C-2CD8A3A3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C1DA0-F397-4E94-B9E9-024FAAE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1223F-25E1-460A-9C44-8068E79B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8670E-DA09-4691-BA63-B0FE061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F1995-0B31-4349-8AD2-49C31DC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96DA8-5FD9-486E-8910-BC6F7B6C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7A805-FBC8-4557-8897-5F43DCD6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C9A7D-A0CE-496B-83E8-62AB0587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DEMOSTRACIÓN EN VIVO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5ECC2-22CF-43C5-B393-9F8AAF2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Room_Demo: todas las mecánicas en una pantalla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6D011-681E-4E1A-8A2A-ED883B5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CA427-452B-4749-8C08-69DFEFC2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6A1E5-65A1-4818-B866-EAE21EBF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6BDB3-60D7-4438-9321-9652D42E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29E29-63F8-452A-9000-F67A8FDC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F084B-3CDA-41D7-905E-FBE687B3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782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EE20B-C32C-4B4C-A88C-415A0E0C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spawn  →  bloque para deslizar  →  piedras  →  trampas  →  placa + palanca  →  guardia  →  puerta  →  salida</a:t>
            </a:r>
          </a:p>
        </p:txBody>
      </p:sp>
      <p:graphicFrame>
        <p:nvGraphicFramePr>
          <p:cNvPr id="66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6934200"/>
              </a:tblGrid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5F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Qué se demuestra</a:t>
                      </a:r>
                    </a:p>
                  </a:txBody>
                  <a:tcPr marL="91440" marR="91440" marT="45720" marB="45720">
                    <a:solidFill>
                      <a:srgbClr val="8C8A9C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Deslizamiento contra el bloque y animación con velocidad real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Piedra al muro: ruido; piedra a puerta cerrada: no atraviesa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Tres trampas desfasadas y F1 muestra la fase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Placa abre y cierra; palanca abre a mano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Contacto por espalda del guardia descubre al héroe</a:t>
                      </a:r>
                    </a:p>
                  </a:txBody>
                  <a:tcPr marL="91440" marR="91440" marT="45720" marB="45720">
                    <a:solidFill>
                      <a:srgbClr val="211F29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D1CDD9"/>
                          </a:solidFill>
                          <a:latin typeface="Public Sans"/>
                          <a:ea typeface="Public Sans"/>
                          <a:cs typeface="Public Sans"/>
                        </a:rPr>
                        <a:t>Cruzar la puerta termina en victoria</a:t>
                      </a:r>
                    </a:p>
                  </a:txBody>
                  <a:tcPr marL="91440" marR="91440" marT="45720" marB="45720">
                    <a:solidFill>
                      <a:srgbClr val="2A2733"/>
                    </a:solidFill>
                  </a:tcPr>
                </a:tc>
              </a:tr>
            </a:tbl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EC2EE-1264-4CAE-8C86-166745B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800350" cy="28575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6CE08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F9008-7B89-44F4-9ACC-81750D8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6CE084"/>
                </a:solidFill>
                <a:latin typeface="JetBrains Mono"/>
                <a:ea typeface="JetBrains Mono"/>
                <a:cs typeface="JetBrains Mono"/>
              </a:rPr>
              <a:t>F1 · PANEL DE ESTADO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D2C7D-0836-4448-99E6-A9CEBC2D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velocidad real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estado de guardias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fase de trampas</a:t>
            </a:r>
          </a:p>
          <a:p xmlns:a="http://schemas.openxmlformats.org/drawingml/2006/main">
            <a:pPr marL="266700" indent="-127000">
              <a:spcAft>
                <a:spcPts val="700"/>
              </a:spcAft>
              <a:buChar char="•"/>
              <a:def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275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colliders en placa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0960C-E024-42E5-B75C-0661AB8F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3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~90 segundos. La palanca es el rescate si algo se tuerce en vivo.</a:t>
            </a:r>
          </a:p>
        </p:txBody>
      </p:sp>
    </p:spTree>
    <p:extLst>
      <p:ext uri="{BB962C8B-B14F-4D97-AF65-F5344CB8AC3E}">
        <p14:creationId xmlns:p14="http://schemas.microsoft.com/office/powerpoint/2010/main" val="1599673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EA92A-B00E-4CCA-9B21-319916F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819C0-C98D-4317-898D-11495818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B1B82-3AE5-4D35-A70D-F7EE5E2A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4FC9E-394E-4A0F-B613-AA1453F3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E7A67-F69A-40A4-BEB9-570CF22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3CC25-4FBF-4CAB-896A-5EEB91B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0B81E-0561-4623-825F-905D37D6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1A4B4-F6EC-4075-9EF3-357C340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FE30D-8CDB-4C52-89AB-E8220EE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F3AFD-DD9F-43B2-B4D3-5F2D4BC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26BEB-B856-4D7E-A1AE-9CC8396F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E2089-0E01-475C-94B4-16093435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20A83-5E9F-4FE7-864E-87E97920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EA2DE-3FFD-4DB1-AD17-FCC393F2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6EF5D-0109-42F9-A691-8C70ACA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34815-5046-4903-975A-2662DFB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EF7F8-CBA8-40CB-B0BB-596809E9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07F05-082C-4767-92DC-24812D8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C16DE-A301-47EA-8057-3FB1E59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E5D22-8B6C-45B1-A281-9D8A22E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7700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12379-BCBD-4ABE-8565-17455010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B07A2C"/>
                </a:solidFill>
                <a:latin typeface="JetBrains Mono"/>
                <a:ea typeface="JetBrains Mono"/>
                <a:cs typeface="JetBrains Mono"/>
              </a:rPr>
              <a:t>CIERRE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CF6AE-7D1E-4EE9-B157-937C80B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8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Una base que permite seguir creciendo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C2B69-A5E9-48A8-B2BD-12C5A4D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A39EAE"/>
                </a:solidFill>
                <a:latin typeface="JetBrains Mono"/>
                <a:ea typeface="JetBrains Mono"/>
                <a:cs typeface="JetBrains Mono"/>
              </a:rPr>
              <a:t>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126EC-707A-4C13-9BA4-3D69890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8C27E-C1A4-42AA-8C63-F161FE22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33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47202-BA7E-4AA2-B90C-D8334C3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B2295-5DCE-4BA0-B158-BB81BCE0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66525-A68D-43CD-B8EB-CE1FF530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1CDD9"/>
                </a:solidFill>
                <a:latin typeface="Public Sans"/>
                <a:ea typeface="Public Sans"/>
                <a:cs typeface="Public Sans"/>
              </a:defRPr>
            </a:pPr>
            <a:r>
              <a:rPr sz="1650" b="0">
                <a:solidFill>
                  <a:srgbClr val="D1CDD9"/>
                </a:solidFill>
                <a:latin typeface="Public Sans"/>
                <a:ea typeface="Public Sans"/>
                <a:cs typeface="Public Sans"/>
              </a:rPr>
              <a:t>Con GuardBase e IInteractable ya conectados, lo siguiente no obliga a tocar jugador ni física: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E6C46-B4EF-4A2D-B1FF-623ACCEE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13D09C-E16E-4D8E-A118-D69EAAC9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Guardia que persigue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DA4B9-ED20-43E5-A314-375F5F9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subclase de GuardBase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4308E-9E77-45A6-9862-4D4D174F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5E59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3F0E3-A236-4AB2-AF79-99680985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Puerta con dos placas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6A21DB-5860-46A1-B2D1-3543476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D1CDD9"/>
                </a:solidFill>
                <a:latin typeface="JetBrains Mono"/>
                <a:ea typeface="JetBrains Mono"/>
                <a:cs typeface="JetBrains Mono"/>
              </a:rPr>
              <a:t>composición de PressurePlate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409E09-0600-4E1C-976A-163CAF3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2733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7044E6-9DBC-4FC3-9444-FC85A84E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1937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1650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Trampa sensible al ruido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2F8472-C964-4B10-8640-496D424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F0BD6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F0BD63"/>
                </a:solidFill>
                <a:latin typeface="JetBrains Mono"/>
                <a:ea typeface="JetBrains Mono"/>
                <a:cs typeface="JetBrains Mono"/>
              </a:rPr>
              <a:t>ritmo dependiente de la sala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F1DDBC-8FE5-4596-B5B3-7DAEB21E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022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82B19"/>
          </a:solidFill>
          <a:ln xmlns:a="http://schemas.openxmlformats.org/drawingml/2006/main" w="9525">
            <a:solidFill>
              <a:srgbClr val="B07A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B5EDF-9968-4121-A18B-20A6F35C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0BD63"/>
                </a:solidFill>
                <a:latin typeface="Public Sans"/>
                <a:ea typeface="Public Sans"/>
                <a:cs typeface="Public Sans"/>
              </a:defRPr>
            </a:pPr>
            <a:r>
              <a:rPr sz="1500" b="1">
                <a:solidFill>
                  <a:srgbClr val="F0BD63"/>
                </a:solidFill>
                <a:latin typeface="Public Sans"/>
                <a:ea typeface="Public Sans"/>
                <a:cs typeface="Public Sans"/>
              </a:rPr>
              <a:t>Organización clara + colisiones controladas + objetos y obstáculos componibles.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30DD7D-902D-442F-9277-5932B90A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625" b="1">
                <a:solidFill>
                  <a:srgbClr val="F6F5F9"/>
                </a:solidFill>
                <a:latin typeface="Bricolage Grotesque"/>
                <a:ea typeface="Bricolage Grotesque"/>
                <a:cs typeface="Bricolage Grotesque"/>
              </a:rPr>
              <a:t>¿Preguntas?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e662464544457"/>
          <a:stretch xmlns:a="http://schemas.openxmlformats.org/drawingml/2006/main"/>
        </p:blipFill>
        <p:spPr>
          <a:xfrm xmlns:a="http://schemas.openxmlformats.org/drawingml/2006/main">
            <a:off x="10048875" y="5334000"/>
            <a:ext cx="285750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19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2026-09-07T04:14:07.7860000Z</dcterms:created>
  <dcterms:modified xsi:type="dcterms:W3CDTF">2026-09-07T04:14:07.7860000Z</dcterms:modified>
</coreProperties>
</file>