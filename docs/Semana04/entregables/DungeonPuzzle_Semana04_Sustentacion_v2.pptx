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bc6a6ae912492d" /><Relationship Type="http://schemas.openxmlformats.org/officeDocument/2006/relationships/extended-properties" Target="/docProps/app.xml" Id="R5c57e36acdc94702" /><Relationship Type="http://schemas.openxmlformats.org/officeDocument/2006/relationships/officeDocument" Target="/ppt/presentation.xml" Id="Ra435902f1d24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f4cd9ea6cf48a2"/>
  </p:sldMasterIdLst>
  <p:notesMasterIdLst>
    <p:notesMasterId xmlns:r="http://schemas.openxmlformats.org/officeDocument/2006/relationships" r:id="Rd2c911e5e55e4c49"/>
  </p:notesMasterIdLst>
  <p:sldIdLst>
    <p:sldId xmlns:r="http://schemas.openxmlformats.org/officeDocument/2006/relationships" id="256" r:id="Rcb08d8c84f144eda"/>
    <p:sldId xmlns:r="http://schemas.openxmlformats.org/officeDocument/2006/relationships" id="257" r:id="R79db48ed115b4920"/>
    <p:sldId xmlns:r="http://schemas.openxmlformats.org/officeDocument/2006/relationships" id="258" r:id="Rd83c985e22314f12"/>
    <p:sldId xmlns:r="http://schemas.openxmlformats.org/officeDocument/2006/relationships" id="259" r:id="R2ef168f759b14483"/>
    <p:sldId xmlns:r="http://schemas.openxmlformats.org/officeDocument/2006/relationships" id="260" r:id="Ra0222bacdfb74c3a"/>
    <p:sldId xmlns:r="http://schemas.openxmlformats.org/officeDocument/2006/relationships" id="261" r:id="Rd13c314ceca0402f"/>
    <p:sldId xmlns:r="http://schemas.openxmlformats.org/officeDocument/2006/relationships" id="262" r:id="R49594e3b4240497b"/>
    <p:sldId xmlns:r="http://schemas.openxmlformats.org/officeDocument/2006/relationships" id="263" r:id="Rb883b2c051f449b6"/>
    <p:sldId xmlns:r="http://schemas.openxmlformats.org/officeDocument/2006/relationships" id="264" r:id="R58eb89d4dda144df"/>
    <p:sldId xmlns:r="http://schemas.openxmlformats.org/officeDocument/2006/relationships" id="265" r:id="R933f52aa98d44135"/>
    <p:sldId xmlns:r="http://schemas.openxmlformats.org/officeDocument/2006/relationships" id="266" r:id="R4623171d09eb4f5f"/>
    <p:sldId xmlns:r="http://schemas.openxmlformats.org/officeDocument/2006/relationships" id="267" r:id="R11c6de1c75d64011"/>
    <p:sldId xmlns:r="http://schemas.openxmlformats.org/officeDocument/2006/relationships" id="268" r:id="Ra9f4836ed4084a5f"/>
    <p:sldId xmlns:r="http://schemas.openxmlformats.org/officeDocument/2006/relationships" id="269" r:id="R2415f0d614c0436a"/>
    <p:sldId xmlns:r="http://schemas.openxmlformats.org/officeDocument/2006/relationships" id="270" r:id="Ra9603b795d504879"/>
    <p:sldId xmlns:r="http://schemas.openxmlformats.org/officeDocument/2006/relationships" id="271" r:id="R1a8835795de8436e"/>
    <p:sldId xmlns:r="http://schemas.openxmlformats.org/officeDocument/2006/relationships" id="272" r:id="R9d7ac147cf9d4ea5"/>
    <p:sldId xmlns:r="http://schemas.openxmlformats.org/officeDocument/2006/relationships" id="273" r:id="Rb42ad36aa86c40fe"/>
    <p:sldId xmlns:r="http://schemas.openxmlformats.org/officeDocument/2006/relationships" id="274" r:id="Rd6d17a1d50914578"/>
    <p:sldId xmlns:r="http://schemas.openxmlformats.org/officeDocument/2006/relationships" id="275" r:id="Rcf3622b1b0724d1d"/>
    <p:sldId xmlns:r="http://schemas.openxmlformats.org/officeDocument/2006/relationships" id="276" r:id="Re4781d6c84004e2e"/>
    <p:sldId xmlns:r="http://schemas.openxmlformats.org/officeDocument/2006/relationships" id="277" r:id="R393547d9865d42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fb27344cc24a47" /><Relationship Type="http://schemas.openxmlformats.org/officeDocument/2006/relationships/slideMaster" Target="/ppt/slideMasters/slideMaster1.xml" Id="R44f4cd9ea6cf48a2" /><Relationship Type="http://schemas.openxmlformats.org/officeDocument/2006/relationships/notesMaster" Target="/ppt/notesMasters/notesMaster1.xml" Id="Rd2c911e5e55e4c49" /><Relationship Type="http://schemas.openxmlformats.org/officeDocument/2006/relationships/presProps" Target="/ppt/presProps.xml" Id="Raf33882ff6d24b40" /><Relationship Type="http://schemas.openxmlformats.org/officeDocument/2006/relationships/tableStyles" Target="/ppt/tableStyles.xml" Id="R4eec0e10bcb14f74" /><Relationship Type="http://schemas.openxmlformats.org/officeDocument/2006/relationships/slide" Target="/ppt/slides/slide1.xml" Id="Rcb08d8c84f144eda" /><Relationship Type="http://schemas.openxmlformats.org/officeDocument/2006/relationships/slide" Target="/ppt/slides/slide2.xml" Id="R79db48ed115b4920" /><Relationship Type="http://schemas.openxmlformats.org/officeDocument/2006/relationships/slide" Target="/ppt/slides/slide3.xml" Id="Rd83c985e22314f12" /><Relationship Type="http://schemas.openxmlformats.org/officeDocument/2006/relationships/slide" Target="/ppt/slides/slide4.xml" Id="R2ef168f759b14483" /><Relationship Type="http://schemas.openxmlformats.org/officeDocument/2006/relationships/slide" Target="/ppt/slides/slide5.xml" Id="Ra0222bacdfb74c3a" /><Relationship Type="http://schemas.openxmlformats.org/officeDocument/2006/relationships/slide" Target="/ppt/slides/slide6.xml" Id="Rd13c314ceca0402f" /><Relationship Type="http://schemas.openxmlformats.org/officeDocument/2006/relationships/slide" Target="/ppt/slides/slide7.xml" Id="R49594e3b4240497b" /><Relationship Type="http://schemas.openxmlformats.org/officeDocument/2006/relationships/slide" Target="/ppt/slides/slide8.xml" Id="Rb883b2c051f449b6" /><Relationship Type="http://schemas.openxmlformats.org/officeDocument/2006/relationships/slide" Target="/ppt/slides/slide9.xml" Id="R58eb89d4dda144df" /><Relationship Type="http://schemas.openxmlformats.org/officeDocument/2006/relationships/slide" Target="/ppt/slides/slide10.xml" Id="R933f52aa98d44135" /><Relationship Type="http://schemas.openxmlformats.org/officeDocument/2006/relationships/slide" Target="/ppt/slides/slide11.xml" Id="R4623171d09eb4f5f" /><Relationship Type="http://schemas.openxmlformats.org/officeDocument/2006/relationships/slide" Target="/ppt/slides/slide12.xml" Id="R11c6de1c75d64011" /><Relationship Type="http://schemas.openxmlformats.org/officeDocument/2006/relationships/slide" Target="/ppt/slides/slide13.xml" Id="Ra9f4836ed4084a5f" /><Relationship Type="http://schemas.openxmlformats.org/officeDocument/2006/relationships/slide" Target="/ppt/slides/slide14.xml" Id="R2415f0d614c0436a" /><Relationship Type="http://schemas.openxmlformats.org/officeDocument/2006/relationships/slide" Target="/ppt/slides/slide15.xml" Id="Ra9603b795d504879" /><Relationship Type="http://schemas.openxmlformats.org/officeDocument/2006/relationships/slide" Target="/ppt/slides/slide16.xml" Id="R1a8835795de8436e" /><Relationship Type="http://schemas.openxmlformats.org/officeDocument/2006/relationships/slide" Target="/ppt/slides/slide17.xml" Id="R9d7ac147cf9d4ea5" /><Relationship Type="http://schemas.openxmlformats.org/officeDocument/2006/relationships/slide" Target="/ppt/slides/slide18.xml" Id="Rb42ad36aa86c40fe" /><Relationship Type="http://schemas.openxmlformats.org/officeDocument/2006/relationships/slide" Target="/ppt/slides/slide19.xml" Id="Rd6d17a1d50914578" /><Relationship Type="http://schemas.openxmlformats.org/officeDocument/2006/relationships/slide" Target="/ppt/slides/slide20.xml" Id="Rcf3622b1b0724d1d" /><Relationship Type="http://schemas.openxmlformats.org/officeDocument/2006/relationships/slide" Target="/ppt/slides/slide21.xml" Id="Re4781d6c84004e2e" /><Relationship Type="http://schemas.openxmlformats.org/officeDocument/2006/relationships/slide" Target="/ppt/slides/slide22.xml" Id="R393547d9865d42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d8fe11e10848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f4596098e941d3" /><Relationship Type="http://schemas.openxmlformats.org/officeDocument/2006/relationships/notesMaster" Target="/ppt/notesMasters/notesMaster1.xml" Id="Rf51f3ce8e66347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2b63fe9e834304" /><Relationship Type="http://schemas.openxmlformats.org/officeDocument/2006/relationships/notesMaster" Target="/ppt/notesMasters/notesMaster1.xml" Id="Rba3291dd286d45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178155c0c146f4" /><Relationship Type="http://schemas.openxmlformats.org/officeDocument/2006/relationships/notesMaster" Target="/ppt/notesMasters/notesMaster1.xml" Id="R92a6dbdcd4864a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75cbee4f2e40f7" /><Relationship Type="http://schemas.openxmlformats.org/officeDocument/2006/relationships/notesMaster" Target="/ppt/notesMasters/notesMaster1.xml" Id="R09f7a1879c96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a4fb44b99345b6" /><Relationship Type="http://schemas.openxmlformats.org/officeDocument/2006/relationships/notesMaster" Target="/ppt/notesMasters/notesMaster1.xml" Id="R60d4a7a8f8bf47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05b599d85e4719" /><Relationship Type="http://schemas.openxmlformats.org/officeDocument/2006/relationships/notesMaster" Target="/ppt/notesMasters/notesMaster1.xml" Id="R5cc8006669494f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14e166a8674500" /><Relationship Type="http://schemas.openxmlformats.org/officeDocument/2006/relationships/notesMaster" Target="/ppt/notesMasters/notesMaster1.xml" Id="R20a83522409141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faa89df58b4049" /><Relationship Type="http://schemas.openxmlformats.org/officeDocument/2006/relationships/notesMaster" Target="/ppt/notesMasters/notesMaster1.xml" Id="Ra18ffb92ee5444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179ac0279641f1" /><Relationship Type="http://schemas.openxmlformats.org/officeDocument/2006/relationships/notesMaster" Target="/ppt/notesMasters/notesMaster1.xml" Id="Re6c724a3749c40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652bf351a240da" /><Relationship Type="http://schemas.openxmlformats.org/officeDocument/2006/relationships/notesMaster" Target="/ppt/notesMasters/notesMaster1.xml" Id="Rb3b572f867d442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e7f0dd44944f3b" /><Relationship Type="http://schemas.openxmlformats.org/officeDocument/2006/relationships/notesMaster" Target="/ppt/notesMasters/notesMaster1.xml" Id="R8a6befd02c2d43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640829c92c404a" /><Relationship Type="http://schemas.openxmlformats.org/officeDocument/2006/relationships/notesMaster" Target="/ppt/notesMasters/notesMaster1.xml" Id="R599a6094b3fb44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df72c93e44412e" /><Relationship Type="http://schemas.openxmlformats.org/officeDocument/2006/relationships/notesMaster" Target="/ppt/notesMasters/notesMaster1.xml" Id="Rbd4ff3be98b543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99526d1d0b4e38" /><Relationship Type="http://schemas.openxmlformats.org/officeDocument/2006/relationships/notesMaster" Target="/ppt/notesMasters/notesMaster1.xml" Id="R701a0d93680e41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2a5bf6c57745c7" /><Relationship Type="http://schemas.openxmlformats.org/officeDocument/2006/relationships/notesMaster" Target="/ppt/notesMasters/notesMaster1.xml" Id="R0937d22f7d1c41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41c66f8feb4313" /><Relationship Type="http://schemas.openxmlformats.org/officeDocument/2006/relationships/notesMaster" Target="/ppt/notesMasters/notesMaster1.xml" Id="R515d45af5aaa4f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018118a2cd4f71" /><Relationship Type="http://schemas.openxmlformats.org/officeDocument/2006/relationships/notesMaster" Target="/ppt/notesMasters/notesMaster1.xml" Id="R46af7c208d9648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2088b48da94764" /><Relationship Type="http://schemas.openxmlformats.org/officeDocument/2006/relationships/notesMaster" Target="/ppt/notesMasters/notesMaster1.xml" Id="R8b01406d0f4741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2649ea3d7b4966" /><Relationship Type="http://schemas.openxmlformats.org/officeDocument/2006/relationships/notesMaster" Target="/ppt/notesMasters/notesMaster1.xml" Id="R55e384f7a23941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448588777e4fc8" /><Relationship Type="http://schemas.openxmlformats.org/officeDocument/2006/relationships/notesMaster" Target="/ppt/notesMasters/notesMaster1.xml" Id="Re62e6cd3995f491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376bae3d194fe7" /><Relationship Type="http://schemas.openxmlformats.org/officeDocument/2006/relationships/notesMaster" Target="/ppt/notesMasters/notesMaster1.xml" Id="Rac400bf944e14d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6b680a0039477c" /><Relationship Type="http://schemas.openxmlformats.org/officeDocument/2006/relationships/notesMaster" Target="/ppt/notesMasters/notesMaster1.xml" Id="Rde10f3cbf4a84e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equipo y encuadrar en una frase: este avance no añade contenido nuevo de nivel, arregla y amplía cómo el juego resuelve las colisiones, y añade dos elementos accionados por contacto.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 los cinco puntos que pide la consigna. Cada uno tiene al menos una lámina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leer el árbol entero. Señalar la separación Core/Player/Guard/World y decir que Tests está dentro de Scripts porque prueba lógica pura.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la primera decisión de arquitectura y la más barata de explicar.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único objeto que sobrevive a los cambios de escena es GameManager. GameProgress persiste desbloqueos y mejores tiempos entre sesiones.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mensaje es que un guardia no es una clase gigante: es un GameObject que suma cuerpo + cono + visual + una política de movimiento. Cambiar la política no toca ni la detección ni la animación.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lámina que justifica todo el trabajo de la semana. No son mejoras cosméticas: son seis fallos concretos, cuatro de ellos visibles al jugar.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Detenerse en las tres casillas en negrita: Player ✘ Projectile — la piedra ya no empuja a quien la lanza. Guard ✘ Guard — dos cinemáticos solapados generaban contactos inútiles. Projectile ✔ Interactable — la piedra choca contra una puerta cerrada y hace ruido ahí; con la puerta abierta la cruza porque Door.Open() apaga su collider.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el ejemplo más didáctico de detección frente a respuesta: detectar el impacto es el barrido; responder al impacto es el rebote.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Aquí conviene enseñarlo en vivo si da tiempo: caminar en diagonal contra la pared. Es la mejora más visible de todas.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es un buen momento para reconocer que una mejora introdujo un riesgo nuevo y que se detectó y se cerró. Eso vale más que fingir que salió a la primera.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Rigidbody2D cinemático no reporta contactos salvo que se le pida. Rb.useFullKinematicContacts = true; GuardBase añade OnCollisionEnter2D: chocar de frente con un guardia te descubre al instante, aunque su cono de visión mire al otro lado. Antes, pegarse a su espalda era impunidad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tres formas son: tecla sobre un candidato detectado por trigger, mensaje entre objetos, y colisión pura sin intervención del jugador.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regla vive en una función pura, ShouldBePressed(ocupantes, latching, yaFijada), cubierta por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Decirlo abiertamente: la primera versión del documento afirmaba que se podía lanzar la piedra sobre la placa. Al revisar el código se vio que la física no lo permite y se corrigió. Reconocer el error de análisis suma.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solo prefab. El desfase es un campo serializado, no una copia del objeto. Esta tabla se muestra como tres barras horizontales desplazadas.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tercera es el fallo clásico: entré cuando estaba desarmada y nunca me mató. Es el detalle que demuestra que se entendió el ciclo de eventos. El juego ya tenía GuardStatic y GuardPatrol con animación de 4 direcciones, cono de visión por raycasts y reacción al ruido.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Elegir dos o tres y desarrollarlas; no leer la tabla entera. Las más fuertes son CollisionLayers y la lógica pura separada.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era un fallo de esta semana, pero salió al recorrer la demo de punta a punta. Buen argumento para defender por qué vale la pena montar una sala de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Lanzar los tests en vivo: tardan menos de un segundo y no hace falta entrar en Play Mode. Es la prueba más rápida de que la lógica está cubierta.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~90 segundos. La palanca junto a la placa es el rescate: si algo se tuerce en vivo, abre la puerta a mano y la demostración sigue.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con el criterio de la consigna: decisiones de arquitectura que faciliten el crecimiento del videojuego. Estos tres ejemplos son la prueba de que las decisiones funcionan.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f54b6a64045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29bf7f4fb249ea" /><Relationship Type="http://schemas.openxmlformats.org/officeDocument/2006/relationships/slideLayout" Target="/ppt/slideLayouts/slideLayout1.xml" Id="R42f76f89a9c64a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76f89a9c64a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4e2653355493d" /><Relationship Type="http://schemas.openxmlformats.org/officeDocument/2006/relationships/image" Target="/ppt/media/image.png" Id="Rfa17d577e9984634" /><Relationship Type="http://schemas.openxmlformats.org/officeDocument/2006/relationships/image" Target="/ppt/media/image2.png" Id="R72895cb863f84eaf" /><Relationship Type="http://schemas.openxmlformats.org/officeDocument/2006/relationships/image" Target="/ppt/media/image3.png" Id="R36a6838650b743f4" /><Relationship Type="http://schemas.openxmlformats.org/officeDocument/2006/relationships/notesSlide" Target="/ppt/notesSlides/notesSlide1.xml" Id="R77c18b96785b46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798395f0e4ef5" /><Relationship Type="http://schemas.openxmlformats.org/officeDocument/2006/relationships/notesSlide" Target="/ppt/notesSlides/notesSlide2.xml" Id="R9a32c79d74ed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76b88f8eb4a7c" /><Relationship Type="http://schemas.openxmlformats.org/officeDocument/2006/relationships/notesSlide" Target="/ppt/notesSlides/notesSlide3.xml" Id="Rc3cbbcfc149944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dfa171e234ade" /><Relationship Type="http://schemas.openxmlformats.org/officeDocument/2006/relationships/notesSlide" Target="/ppt/notesSlides/notesSlide4.xml" Id="Rcc243349450547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8eecec12749bb" /><Relationship Type="http://schemas.openxmlformats.org/officeDocument/2006/relationships/notesSlide" Target="/ppt/notesSlides/notesSlide5.xml" Id="R17d6ca95eedb40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bb165755b49ac" /><Relationship Type="http://schemas.openxmlformats.org/officeDocument/2006/relationships/image" Target="/ppt/media/image4.png" Id="R03e3856ba7cb4a33" /><Relationship Type="http://schemas.openxmlformats.org/officeDocument/2006/relationships/image" Target="/ppt/media/image5.png" Id="Rfeb7e6e2f8c24793" /><Relationship Type="http://schemas.openxmlformats.org/officeDocument/2006/relationships/notesSlide" Target="/ppt/notesSlides/notesSlide6.xml" Id="R40a4e776a55042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66c6cb73049b6" /><Relationship Type="http://schemas.openxmlformats.org/officeDocument/2006/relationships/notesSlide" Target="/ppt/notesSlides/notesSlide7.xml" Id="Rcca1a57c33a64f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9245406c0473d" /><Relationship Type="http://schemas.openxmlformats.org/officeDocument/2006/relationships/notesSlide" Target="/ppt/notesSlides/notesSlide8.xml" Id="Rd6871d9de67b44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2185431bb4ef2" /><Relationship Type="http://schemas.openxmlformats.org/officeDocument/2006/relationships/notesSlide" Target="/ppt/notesSlides/notesSlide9.xml" Id="R2133299810a944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cc448c46145bb" /><Relationship Type="http://schemas.openxmlformats.org/officeDocument/2006/relationships/notesSlide" Target="/ppt/notesSlides/notesSlide10.xml" Id="Rcd8dd6b846b346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993ba7d6d4f44" /><Relationship Type="http://schemas.openxmlformats.org/officeDocument/2006/relationships/notesSlide" Target="/ppt/notesSlides/notesSlide11.xml" Id="R94b6b857d49f44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dba8af65e4212" /><Relationship Type="http://schemas.openxmlformats.org/officeDocument/2006/relationships/image" Target="/ppt/media/image6.png" Id="R6d1e5e44fb4d4714" /><Relationship Type="http://schemas.openxmlformats.org/officeDocument/2006/relationships/notesSlide" Target="/ppt/notesSlides/notesSlide12.xml" Id="R874e30f558904a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49d5f800c4a89" /><Relationship Type="http://schemas.openxmlformats.org/officeDocument/2006/relationships/notesSlide" Target="/ppt/notesSlides/notesSlide13.xml" Id="Ra2e52fb457b543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b754e5b9d4edf" /><Relationship Type="http://schemas.openxmlformats.org/officeDocument/2006/relationships/notesSlide" Target="/ppt/notesSlides/notesSlide14.xml" Id="R383659a3686c46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90abb533a457b" /><Relationship Type="http://schemas.openxmlformats.org/officeDocument/2006/relationships/notesSlide" Target="/ppt/notesSlides/notesSlide15.xml" Id="R1ab6ccee3c5645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aafa984a34024" /><Relationship Type="http://schemas.openxmlformats.org/officeDocument/2006/relationships/notesSlide" Target="/ppt/notesSlides/notesSlide16.xml" Id="R8e1b64a5af7744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a539841734c62" /><Relationship Type="http://schemas.openxmlformats.org/officeDocument/2006/relationships/notesSlide" Target="/ppt/notesSlides/notesSlide17.xml" Id="Rbc4285db15a84f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6483efe6c4b2c" /><Relationship Type="http://schemas.openxmlformats.org/officeDocument/2006/relationships/notesSlide" Target="/ppt/notesSlides/notesSlide18.xml" Id="R3db7a42205f14d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ad232353740c3" /><Relationship Type="http://schemas.openxmlformats.org/officeDocument/2006/relationships/notesSlide" Target="/ppt/notesSlides/notesSlide19.xml" Id="R47ae503f70f64c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af9b58c954796" /><Relationship Type="http://schemas.openxmlformats.org/officeDocument/2006/relationships/notesSlide" Target="/ppt/notesSlides/notesSlide20.xml" Id="Rc400e63a17294e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821b461df43d2" /><Relationship Type="http://schemas.openxmlformats.org/officeDocument/2006/relationships/notesSlide" Target="/ppt/notesSlides/notesSlide21.xml" Id="R1f8e246a3b3648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d14f44d5746ca" /><Relationship Type="http://schemas.openxmlformats.org/officeDocument/2006/relationships/image" Target="/ppt/media/image7.png" Id="R6e872b5342e0427d" /><Relationship Type="http://schemas.openxmlformats.org/officeDocument/2006/relationships/notesSlide" Target="/ppt/notesSlides/notesSlide22.xml" Id="R9f1091fa644242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2A5538-EB77-4D38-9B58-BACEFABF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ACA5B-73F5-44C2-9DD8-714E6DF5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SEMANA 04 · SUSTENTACIÓN GRUPAL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79210-9F1E-456C-B294-9F8AD55F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3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Colisiones, objetos</a:t>
            </a:r>
          </a:p>
          <a:p xmlns:a="http://schemas.openxmlformats.org/drawingml/2006/main">
            <a:pPr>
              <a:defRPr sz="43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3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interactivos y trampas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4B13F-FBEE-43B4-927D-9C79A430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rPr>
              <a:t>DungeonPuzzle · Avance de la Semana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51610-071E-4F10-8FB5-112F24C4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7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Juego de sigilo y puzles top-down en 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6094B-90F0-4D8A-ACD2-70229B10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C7A39-ED18-472B-B09C-442287E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Unity 6000.5.0b10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A543A-8A18-4D30-9FFC-200C4227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8620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88397-5961-4991-AE4D-F693F6D1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814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URP 2D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9B828-2B19-44F1-B9AD-C81B53C8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9D340-E06E-4C7C-B835-63810CB6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814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Input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80173-51ED-46F5-B547-A456B7EA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8620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91077-5C1D-43B9-9D1C-B33E3525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814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45 pruebas EditMode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8DAB7-7333-4CD2-9A73-E487B70C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66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BBFE4-F89C-4DAE-860F-2C0C10EB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86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18796-F071-414D-BCAD-866109EF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DC2C2-C603-4FC4-8D89-A1518D1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50778-B3E4-4438-B880-ADB12FF9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66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A1EF8-9C47-4DA0-A465-B667A8C8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86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FEB7D-B940-45FA-925B-30984D9E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41B39-B8A0-4338-AB8F-011B69B3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F69ED-0910-4400-8FAB-3A76B48D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66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71732-0C56-4B6C-8096-C552B244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86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0DB29-62C1-4C55-AE7F-8AD61E6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B39FA-810B-4207-A130-0BA5B26B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4E778-586F-4ECC-B998-9CAB1C56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66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13E86-7218-4302-BB47-F2DD9C90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86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6EE0D-C782-4D90-887E-8B925F59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114D3-5663-4404-9143-1140580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809C4-BF46-4BCB-BDA5-B6928F22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66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6D4A0-373C-4348-8F38-6869A289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286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E5BBD9-7C1A-4FC5-97FE-2CE375DC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015D5-FE60-42ED-818A-F9414195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841252-2A2F-4435-BD6C-331FF292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66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E51BE-850D-4D96-B137-097E6FFA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86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DA377-81C5-4478-894B-52879222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CAA684-B24E-4027-BA84-9519D900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5D4EEC-4617-4BF8-9149-1BEB325F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1866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BAD6B4-D45B-4240-A6C1-9C8B0C70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286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429381-497F-42B6-9861-3B4AC6C9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F38031-5CEC-486B-8BCD-7DFF76D1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7d577e9984634"/>
          <a:stretch xmlns:a="http://schemas.openxmlformats.org/drawingml/2006/main"/>
        </p:blipFill>
        <p:spPr>
          <a:xfrm xmlns:a="http://schemas.openxmlformats.org/drawingml/2006/main">
            <a:off x="8239125" y="2381250"/>
            <a:ext cx="1476375" cy="1476375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95cb863f84eaf"/>
          <a:stretch xmlns:a="http://schemas.openxmlformats.org/drawingml/2006/main"/>
        </p:blipFill>
        <p:spPr>
          <a:xfrm xmlns:a="http://schemas.openxmlformats.org/drawingml/2006/main">
            <a:off x="9858375" y="2238375"/>
            <a:ext cx="1476375" cy="14763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6838650b743f4"/>
          <a:stretch xmlns:a="http://schemas.openxmlformats.org/drawingml/2006/main"/>
        </p:blipFill>
        <p:spPr>
          <a:xfrm xmlns:a="http://schemas.openxmlformats.org/drawingml/2006/main">
            <a:off x="9096375" y="4038600"/>
            <a:ext cx="904875" cy="9048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11FE65-B863-4555-8AA6-2FC2585A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DungeonPuzzle</a:t>
            </a:r>
          </a:p>
        </p:txBody>
      </p:sp>
    </p:spTree>
    <p:extLst>
      <p:ext uri="{BB962C8B-B14F-4D97-AF65-F5344CB8AC3E}">
        <p14:creationId xmlns:p14="http://schemas.microsoft.com/office/powerpoint/2010/main" val="239727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8E2E3-9EC5-4133-B91F-F32B8A54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PANORAMA DEL AVANCE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79F2C-B10A-47FE-9BFF-C390791A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Lo que cubre este avance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5CCBE-4123-4E81-A9AD-5F997C9A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08FFE-13D8-419B-9C07-CC44A554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C9AF5-2A17-4D86-A0A5-F2FF6ABF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B83E0-5C6D-4377-97F9-D562FBC5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673F8-DBEF-4D0C-A924-8C7A5AAB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524000" y="1752600"/>
          <a:ext xmlns:a="http://schemas.openxmlformats.org/drawingml/2006/main" cx="9144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771525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E7B56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352A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Organización de escenas, objetos, componentes y scripts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E7B56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352A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Detección y respuesta de colisiones entre objetos 2D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E7B56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352A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Comportamientos de objetos interactivos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E7B56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352A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Obstáculo con animación y comportamiento propio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E7B56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05</a:t>
                      </a:r>
                    </a:p>
                  </a:txBody>
                  <a:tcPr marL="91440" marR="91440" marT="45720" marB="45720">
                    <a:solidFill>
                      <a:srgbClr val="352A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Decisiones de arquitectura para crecer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ADA7B-AB5B-4B38-A382-F189A3D1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Cinco puntos de la consigna, con al menos una lámina propia.</a:t>
            </a:r>
          </a:p>
        </p:txBody>
      </p:sp>
    </p:spTree>
    <p:extLst>
      <p:ext uri="{BB962C8B-B14F-4D97-AF65-F5344CB8AC3E}">
        <p14:creationId xmlns:p14="http://schemas.microsoft.com/office/powerpoint/2010/main" val="341772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19F39-49E4-4D98-9006-EF02C928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ORGANIZACIÓN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2B53-3884-4D07-B7D9-ADD57A5C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carpeta por responsabilidad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1B604-8FC4-42E2-B7CF-EC113942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D580A-7628-4EA0-8D1A-F1FF77D7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902C8-A24D-4E78-A6A7-52DBFA6B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D6AF3-D269-4B44-859F-EFC82BC7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0B294-3812-41BD-B0B4-C838047C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B710D-7ED4-45F8-922C-2E95D1C0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000875" cy="4143375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291A7-E6D0-40CD-96E4-0BA52C8D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657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Assets/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├── Scenes/      MainMenu · Room_01..05 · Room_Demo · GameOver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├── Prefabs/     Player, Guard_*, Door, Lever, Key, Stone,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             PressurePlate*, SpikeTrap*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├── Scripts/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├── Core/    GameManager, GameProgress, AudioMaster,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│            SfxLibrary, CollisionLayers*, DemoOverlay*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├── Player/  PlayerMovement, PlayerInteraction,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│            PlayerInventory, InteractionSensor*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├── Guard/   GuardBase, GuardStatic, GuardPatrol, VisionCone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├── World/   Door, Lever, Key, Stone, ThrownStone,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│            NoiseSource, PressurePlate*, SpikeTrap*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├── UI/ FX/  HUD y pausa · VFX, YSort, sacudidas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│   └── Tests/   EditMode — lógica pura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├── Editor/      RoomBuilder, Semana04Builder*</a:t>
            </a:r>
          </a:p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└── Sprites/ Audio/ Animations/ Resources/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71337-FEE1-4D56-A366-AEF20EA3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00D93-9975-443A-B1F4-BEB5F6D4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SEPARACIÓN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51190-63D9-47CF-9A66-DCF87EBB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809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Core, Player, Guard y World separan responsabilidades. Tests vive dentro de Scripts porque prueba lógica pura.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BE3C7-71ED-4B43-8354-EB7D46C7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81425"/>
            <a:ext cx="3333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352A1A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BAAD1-1445-41DA-8A8C-4EA94138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rPr>
              <a:t>* añadido en la Semana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C32C7-8BB4-4E09-B447-AD86F1FB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La estructura separa contenido del juego, herramientas y pruebas.</a:t>
            </a:r>
          </a:p>
        </p:txBody>
      </p:sp>
    </p:spTree>
    <p:extLst>
      <p:ext uri="{BB962C8B-B14F-4D97-AF65-F5344CB8AC3E}">
        <p14:creationId xmlns:p14="http://schemas.microsoft.com/office/powerpoint/2010/main" val="370969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7AE6C-B5F7-4C8F-9EEF-498DAA5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ORGANIZACIÓN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D9FE3-ACB1-4D6B-8992-C8F910E2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Tres assemblies, una regla de dependencia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4FF27-181B-428D-B1F5-D237CD94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760F5-0DB5-4B06-8C76-1DFBA62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FD301-D8C8-4EFA-A1A0-0DA472D1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24B1-2B37-4DD1-8995-E88C89E8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B94C8-75F9-496A-A4AF-10964E08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723900" y="1600200"/>
          <a:ext xmlns:a="http://schemas.openxmlformats.org/drawingml/2006/main" cx="67627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476500"/>
                <a:gridCol w="161925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Assembly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Contenido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¿Entra al build?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DungeonPuzzle.Runtime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Assets/Scripts/**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DungeonPuzzle.Editor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Assets/Editor/**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DungeonPuzzle.Tests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Scripts/Tests/**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F7F2E-F3C8-486E-9103-DFD166F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00200"/>
            <a:ext cx="3524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3A26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E2083-EBC2-4BEB-89E3-EC520E89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REGLA DE DEPENDENCIA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F954C-6DCA-4E86-84EA-2CE3E1F4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725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El Editor puede usar el Runtime, nunca al revés.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BB813-80C3-4E55-AA54-AAF71E74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Las herramientas de salas no entran en la versión jugable.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76C6A-82B0-4482-9310-55BDDE94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762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88AC1-2B07-463D-85DE-C4426A74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38625"/>
            <a:ext cx="604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Cualquier sala se puede ejecutar sola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39ACF-A0B3-4B5D-ADBF-200B1DE7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605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GameManager se autocrea con [RuntimeInitializeOnLoadMethod] y sobrevive a los cambios de escena. Cada integrante prueba la suya sin arrancar por el menú.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9B26C-1B6A-4AB4-82B0-FDFDEDC2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524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F540F-2B56-44D1-9F23-9BD401C3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624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1]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73738-516C-4FB0-94EE-94B45F37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48175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panel Project con Scripts/ desplegado y los tres .asmdef</a:t>
            </a:r>
          </a:p>
        </p:txBody>
      </p:sp>
    </p:spTree>
    <p:extLst>
      <p:ext uri="{BB962C8B-B14F-4D97-AF65-F5344CB8AC3E}">
        <p14:creationId xmlns:p14="http://schemas.microsoft.com/office/powerpoint/2010/main" val="247748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1E15FB-DCA2-490D-9C64-AC098735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ORGANIZACIÓN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7C561-9D7E-4569-A78A-E5A092D4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Flujo de escenas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987D3-FD29-4302-9DEC-AD7B742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5580C-F4B0-4309-9844-A92F9A9F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7B7D3-8A99-415E-BA57-29B26303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1DE99-08F0-4FC0-9787-3A976777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B47A1-B56F-4E25-8DAE-8FDEB53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22B27-D027-46D7-81F6-8CDE871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571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52A1A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393EA-47E8-44CB-80B4-EA93D54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343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MainMenu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94638-85EC-4F7D-A07A-2A398B6C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StartGame() / ContinueGame()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8A388-79DE-4AFB-BE4C-79125283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1571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D63E5-79CD-4F38-B34B-FB9F48FC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76450"/>
            <a:ext cx="1343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685E5-F6F5-4D6D-9AE4-79B432DF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431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ExitTrigger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7544C-F7FC-459E-8ABD-D303AE9B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81200"/>
            <a:ext cx="1571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BD955-B0CA-43E4-8F92-D7F6C83F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76450"/>
            <a:ext cx="1343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29C0E-AD7D-438F-9DF8-CD439236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431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ExitTrigger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C5AF3-8CB6-4496-A11B-28F6710E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81200"/>
            <a:ext cx="1571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27C54-5D81-4A7F-8C08-AC99C9F4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76450"/>
            <a:ext cx="1343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3E5AF-03E3-47D4-858B-EB703746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431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ExitTrigger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BAEC9-E2E6-4C8F-B71B-03B57F05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38575"/>
            <a:ext cx="1571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C32D9-A629-40F5-BFA9-4543601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33825"/>
            <a:ext cx="1343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741F1-5297-4760-944C-A84887FE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200525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ExitTrigger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67F03-AABB-460E-A05D-CA8AB630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38575"/>
            <a:ext cx="1571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AF199-B8D2-40FE-9FD5-6F7BF543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33825"/>
            <a:ext cx="1343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F8D32-2F8A-4F4E-8E1E-1DAB4BA0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00525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WinGame()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2EE45-8E30-4C0B-9593-F60F3EC2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38575"/>
            <a:ext cx="1571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1B23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2B9AB-CF63-4483-8007-4F23BFE3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33825"/>
            <a:ext cx="1343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GameOver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C91DA-10E7-441C-92F2-7E3B56CC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200525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vuelta a MainMenu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45C25-47A0-4299-A6BC-9C482122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0275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B614B1-BCF5-44B2-BF6A-4553F5B5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0275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0708E-0F03-4575-8DAB-6BEAD6A7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0275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21643-CD58-46C6-A0EF-22BA8053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86075"/>
            <a:ext cx="190500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A8BCD-7DFD-467F-822A-BF0F2445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5765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8D324-EDBE-4258-8D43-8B159033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65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001878-1386-4C24-BED3-97BD5C95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86025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ExitTrigger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956CFB-A3D1-4747-A017-3902BB3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86025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ExitTrigger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F43A15-1D91-48BF-B1F7-9862A791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86025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ExitTrigger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BB57FF-B261-4C76-86E7-AC18A84C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10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7B5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E7B562"/>
                </a:solidFill>
                <a:latin typeface="JetBrains Mono"/>
                <a:ea typeface="JetBrains Mono"/>
                <a:cs typeface="JetBrains Mono"/>
              </a:rPr>
              <a:t>PlayerDetected() y quedan vidas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402FF9-9B86-4DA3-869B-4F1E3E6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24450"/>
            <a:ext cx="3867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446971-63AF-4A1D-81A7-22B82273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482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2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Room_0N se repite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F8972B-D5AB-4D92-975C-4B2CFE3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2482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Lives == 0  →  GameOver</a:t>
            </a:r>
          </a:p>
        </p:txBody>
      </p:sp>
    </p:spTree>
    <p:extLst>
      <p:ext uri="{BB962C8B-B14F-4D97-AF65-F5344CB8AC3E}">
        <p14:creationId xmlns:p14="http://schemas.microsoft.com/office/powerpoint/2010/main" val="1364742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60CA0-DD55-4AFC-9F1D-05F876B0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ORGANIZACIÓN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19274-A0DB-40E6-9365-5B6F487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Composición sobre herencia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7D65F-7083-443B-9931-DDCCF2EC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44DB9-1E3D-4520-8F32-130FFE1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609A2-D91B-4D6A-B1CA-D38B6728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8563A-BF42-499A-91D1-9ADA39ED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4143E-9B94-481C-BF87-56FC7B63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273CF-9F22-49FD-8376-5630FE54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EE0E1-5A67-4D25-8B8B-B5171425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954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PLAYER · CAPA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DC764-8FA3-4662-B6E7-71427BE1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4191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Rigidbody2D dinámico, rotación congelada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CircleCollider2D sólido r = 0.4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CircleCollider2D trigger r = 1.0: sensor de interacción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PlayerMovement · PlayerInteraction · PlayerInventory · InteractionSensor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Hijo Visual: SpriteRenderer + Animator de 4 direcciones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2A25F-512A-450B-A23E-0A497C38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53721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1B016-D248-404D-A06E-A6204297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GUARD_* · CAPA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CBE86-F1A8-4E94-BD7D-BB0685A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3952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Rigidbody2D cinemático con contactos completos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GuardBase → GuardStatic o GuardPatrol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Hijo VisionCone: malla generada por raycasts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Hijo Visual: contra-rota para verse de pie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3856ba7cb4a33"/>
          <a:stretch xmlns:a="http://schemas.openxmlformats.org/drawingml/2006/main"/>
        </p:blipFill>
        <p:spPr>
          <a:xfrm xmlns:a="http://schemas.openxmlformats.org/drawingml/2006/main">
            <a:off x="10477500" y="24574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7e6e2f8c24793"/>
          <a:stretch xmlns:a="http://schemas.openxmlformats.org/drawingml/2006/main"/>
        </p:blipFill>
        <p:spPr>
          <a:xfrm xmlns:a="http://schemas.openxmlformats.org/drawingml/2006/main">
            <a:off x="10477500" y="34671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B8568-CF38-4C9F-B0DE-FEF493DC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6477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8BE16-CBFA-4EAE-AC80-EB6C00F6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794C8-9DFD-47C2-A992-C31B00D1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Inspector del Player con sus dos Circle Collider 2D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28301-8034-4FBF-B078-C5A2860B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530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7B562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E7B562"/>
                </a:solidFill>
                <a:latin typeface="Public Sans"/>
                <a:ea typeface="Public Sans"/>
                <a:cs typeface="Public Sans"/>
              </a:rPr>
              <a:t>Cambiar la política de movimiento no toca la detección ni la animación.</a:t>
            </a:r>
          </a:p>
        </p:txBody>
      </p:sp>
    </p:spTree>
    <p:extLst>
      <p:ext uri="{BB962C8B-B14F-4D97-AF65-F5344CB8AC3E}">
        <p14:creationId xmlns:p14="http://schemas.microsoft.com/office/powerpoint/2010/main" val="1654243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97BEDB-6968-4739-A6AC-BE5FD07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FDA15-3B21-41F6-8678-16FB9495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Punto de partida: todo chocaba contra todo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59CA7-FD23-48C4-9D96-0610E0B8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58E5A-15F6-4F0E-81F6-2CC47622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F3C06-0815-4EB9-AFC8-EB2AB7BC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950A0-4C89-41E1-B1D1-0180CF3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3C726-25A5-46A5-80E0-4BEC2A37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B7229-B363-4751-9C7E-8AE599DA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6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La matriz de colisiones 2D estaba entera en ffff…ff.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4E8C1-689C-4B52-9498-1A625F7B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A43D0-C30B-4E8C-8817-86C335E4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875" b="1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20CA9-E67D-4F87-978B-2E67FED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002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La piedra empujaba al héroe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8E49E-EB31-4E9F-A38E-2CA3CC8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050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Nacía en su posición exacta y en capa 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79723-0733-4DC4-8369-D0C65E47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608E6-BBDB-45F6-9645-734466E5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193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875" b="1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669BD-2A10-488F-A265-870380B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002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Atravesaba muros finos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05AEA-CA5D-44A1-9CC2-FEA7B139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5050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r = 0.1 a 8 u/s con detección discreta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FA656-50FD-42F8-B731-D40ABAE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97DAA-0A74-4D64-8C1A-B44F8C7A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875" b="1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FCEDD-85B0-41E1-A890-24BA0AEB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81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héroe se enganchaba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C5BA8-B447-4067-AB0A-00A9E17D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861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MovePosition teletransporta: el solver corrige después del solape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B5C2F-E5A2-4E47-B2AB-3966F5DE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0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2E3FD-56F8-4005-BA50-2AFC2ACA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04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875" b="1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9154C-BF03-4190-B54D-EE4D8738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81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Punto ciego a la espalda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655CE-91A0-4D78-AFA6-FDFF33C9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861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El cono no llega detrás y el contacto no se comprobaba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38ABF-38F5-481C-BB3D-FCE639A8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1DFCD-521D-4FFC-9814-14396A0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B562"/>
                </a:solidFill>
                <a:latin typeface="Public Sans"/>
                <a:ea typeface="Public Sans"/>
                <a:cs typeface="Public Sans"/>
              </a:defRPr>
            </a:pPr>
            <a:r>
              <a:rPr sz="1875" b="1">
                <a:solidFill>
                  <a:srgbClr val="E7B562"/>
                </a:solidFill>
                <a:latin typeface="Public Sans"/>
                <a:ea typeface="Public Sans"/>
                <a:cs typeface="Public Sans"/>
              </a:rPr>
              <a:t>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65551-7360-437F-98DF-DE95B40B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62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Gravedad −9.81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774CB-D211-42F1-B796-8D3DB5B4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8672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Juego cenital confiando en gravityScale = 0 por prefab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E3DDEE-6731-4401-82F1-7CD55BE0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815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61A416-8725-4337-B9B4-4B85CFEE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815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B562"/>
                </a:solidFill>
                <a:latin typeface="Public Sans"/>
                <a:ea typeface="Public Sans"/>
                <a:cs typeface="Public Sans"/>
              </a:defRPr>
            </a:pPr>
            <a:r>
              <a:rPr sz="1875" b="1">
                <a:solidFill>
                  <a:srgbClr val="E7B562"/>
                </a:solidFill>
                <a:latin typeface="Public Sans"/>
                <a:ea typeface="Public Sans"/>
                <a:cs typeface="Public Sans"/>
              </a:rPr>
              <a:t>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CF7B9-EC64-4066-A2A3-DE00B32B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62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Máscaras vacías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C971B2-C03B-4614-B723-4C73807A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672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1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Un LayerMask sin marcar rompía la detección en silencio</a:t>
            </a:r>
          </a:p>
        </p:txBody>
      </p:sp>
    </p:spTree>
    <p:extLst>
      <p:ext uri="{BB962C8B-B14F-4D97-AF65-F5344CB8AC3E}">
        <p14:creationId xmlns:p14="http://schemas.microsoft.com/office/powerpoint/2010/main" val="1811022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27A3C-758B-4AA4-8D1A-9C388AE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79E5F-2FCA-4F71-B178-172E6FD0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La matriz, recortada a lo que el juego necesita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E714C-4D86-4FBD-88C0-ED6F8048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0621B-1A4A-46B7-AED9-81C4D1AE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D4E8C-B828-4A40-A3F9-4BD690A7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38309-4568-405E-92F8-970A654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39E68-FCAD-4789-9294-BA16536E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304925"/>
                <a:gridCol w="1304925"/>
                <a:gridCol w="1304925"/>
                <a:gridCol w="1304925"/>
                <a:gridCol w="1304925"/>
                <a:gridCol w="1304925"/>
                <a:gridCol w="131445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Guard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Walls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Interact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Projectile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Hazard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7B56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52A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Guard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7B56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52A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Walls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Interactable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7B56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352A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Projectile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Hazard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AAA6B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576AB-D0EE-4B8E-A2C3-4D54DF88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50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Capas nuevas: Projectile (11) y Hazard (12). Gravedad global a (0, 0).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B468E-02E9-4833-9410-3E4F6850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590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F4423-0E07-49B6-A572-2D548F10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3]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2CFED-7B08-4BA3-AF18-5BF44404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0725"/>
            <a:ext cx="552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Project Settings ▸ Physics 2D ▸ Layer Collision Matrix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F87D4-E410-46FA-A7F3-F57E60B2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149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B562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E7B562"/>
                </a:solidFill>
                <a:latin typeface="Public Sans"/>
                <a:ea typeface="Public Sans"/>
                <a:cs typeface="Public Sans"/>
              </a:rPr>
              <a:t>Tres casillas críticas: Player ✘ Projectile, Guard ✘ Guard y Projectile ✔ Interactable.</a:t>
            </a:r>
          </a:p>
        </p:txBody>
      </p:sp>
    </p:spTree>
    <p:extLst>
      <p:ext uri="{BB962C8B-B14F-4D97-AF65-F5344CB8AC3E}">
        <p14:creationId xmlns:p14="http://schemas.microsoft.com/office/powerpoint/2010/main" val="1797168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0F4B4-D189-4C71-AFDF-B13A681F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FC5C0-5321-4152-933C-2A9A362B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Detección continua: dejar de atravesar el muro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BA780-0E34-4E56-88C4-575570D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6A388-2E1C-4F56-A8DA-FB2B177C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45178-F760-4190-AA4C-E96E14D0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6633F-B70A-4077-9B27-61856EF9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BDB16-F546-4408-90C2-C45B759D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F80F3-6B25-48B0-928B-23353803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8577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6AB56-12B9-421B-AC45-61069F50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383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DISCRETA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DC517-41D5-4A28-9575-9E5A3D0E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rPr>
              <a:t>○ · · · · · · · · · ▓ · · · · · 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72E72-2C88-4709-91AF-FFB9FC4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paso n                 muro                 paso n+1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608A7-4A06-49CF-AB64-1CFF1440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194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Ninguna posición toca el muro: aparece al otro lado.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8410A-0D64-44F9-AC80-FEDBAA17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00200"/>
            <a:ext cx="54864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4D53D-CC9D-4121-BA9D-838D5CB7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383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CONTINUA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856F0-45D9-4099-BCBC-0CFA4A20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rPr>
              <a:t>○━━━━━━━━━━━━━━━━●▓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1DF71-B787-4144-B54C-492FCA12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28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paso n       impacto detectado en el barrido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84CE2-A2EB-40B6-AD72-8B82FEDD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19425"/>
            <a:ext cx="423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El motor barre el trayecto antes del siguiente paso.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4F18A-EBC3-4CB5-9B79-F3D2974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066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52A1A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A5B1D-133B-4FF7-8EA0-67AFD7F3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rPr>
              <a:t>r = 0.1 · v = 8 u/s · paso de física 0.02 s  →  0.16 u por paso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5AD76-BAB4-4643-9836-75A6D4AB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Antes: el modo dependía del prefab y una piedra sin superficie válida rebotaba para siempre.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Ahora: Awake() fuerza Continuous + interpolación; el rebote refleja la velocidad sobre la normal con pérdida de energía; maxLifetime evita supervivencia indefinida.</a:t>
            </a:r>
          </a:p>
        </p:txBody>
      </p:sp>
    </p:spTree>
    <p:extLst>
      <p:ext uri="{BB962C8B-B14F-4D97-AF65-F5344CB8AC3E}">
        <p14:creationId xmlns:p14="http://schemas.microsoft.com/office/powerpoint/2010/main" val="1347085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8E1D1-D6FF-4B44-B3FB-282A96C2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7C840-DADD-43F2-9CFA-88F44643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Respuesta al muro: de empujón correctivo a deslizamiento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7C3A0-4474-4B6B-9206-C298AF15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A6EF7-9CAA-4878-B232-20275E72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963F9-52AB-42E3-A5CE-A20A54FA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7ADAF-C76D-4EA8-BD5E-E803741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8605A-2BA4-4B22-8BDC-A68D832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BC32E-F702-4C99-83BE-C4941C1F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FDF54-B595-4EB8-AD18-E6654324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764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MOVEPOSITION · 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1323E-413D-4036-B055-ADBA6942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1. El cuerpo se teletransporta y se solapa con el muro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D1A7E-687F-4E6C-9F93-A5094D76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2. El solver lo corrige a empujones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7E2DD-EB27-4615-8576-CA9DEA3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3. Tirón visible y esquinas donde el héroe se queda pegado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DAD94-EA65-4101-AFE0-51353F19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53721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721A6-C943-47A1-8EE7-8A8C465E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64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LINEARVELOCITY · AHORA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62FED-3A8F-4975-B408-0A96117F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El solver resuelve el contacto y el héroe desliza a lo largo de la pared.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Interpolación, rotación congelada y material sin fricción refuerzan el movimiento.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A7FB0-17A5-4958-B4B2-54368CC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El Animator recibe la velocidad real del cuerpo, no la deseada.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D85B9-E657-4B98-B274-2F551DDE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6429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C67D7-AAB4-4F48-9E18-D3CB4B9A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604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4]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71241-EE1D-4B48-B910-F590EAD0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604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Scene view con Always Show Colliders y el héroe pegado a un muro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7AD34-04E1-413A-9E3A-36A5EC9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342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Al empujar contra un muro, el héroe deja de caminar en pantalla aunque se siga pulsando la tecla.</a:t>
            </a:r>
          </a:p>
        </p:txBody>
      </p:sp>
    </p:spTree>
    <p:extLst>
      <p:ext uri="{BB962C8B-B14F-4D97-AF65-F5344CB8AC3E}">
        <p14:creationId xmlns:p14="http://schemas.microsoft.com/office/powerpoint/2010/main" val="16143605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FB548-B9CF-49AF-80F8-691B570C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6B3BF-0D77-4205-AF70-D91FF12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 sondear el espacio a escuchar al motor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6F186-5E56-4B88-847D-E32B8AB8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B8FE1-A5B0-4424-88F4-C50408C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953F1-0DA4-4385-8966-8185330C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2553E-30AC-44FA-B5FF-E664FF81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144C6-FF40-48AE-8A2A-283801F2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9C8FD-0D8D-4C93-BEB2-950D1C6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E418E-E1B6-4756-92EA-676562C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76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ANTES · CONSULTA AL PULSAR 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965FB-DE35-45C2-BC66-481A9A73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423862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Physics2D.OverlapCircle en el instante de la pulsación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Consulta ciega, fuera del ciclo de física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Devolvía un collider arbitrario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Nada avisaba al jugador antes de pulsar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8ACF9-ABB1-4684-BBA7-0A76FC3B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53721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8CDA8-57C7-4948-B343-968AA540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64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AHORA · EVENTOS DEL MOTOR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043E-FB5A-48F4-AEF0-FF88206D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InteractionSensor mantiene candidatos con OnTriggerEnter2D / OnTriggerExit2D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La simulación ya hace ese cálculo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Coste amortizado y se elige el más cercano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7F5EC-7F2B-4DD7-9036-5A43F407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648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B37D7-C4A7-43E1-9C51-4BFD1F8F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0574B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E0574B"/>
                </a:solidFill>
                <a:latin typeface="Bricolage Grotesque"/>
                <a:ea typeface="Bricolage Grotesque"/>
                <a:cs typeface="Bricolage Grotesque"/>
              </a:rPr>
              <a:t>Efecto secundario que hubo que blindar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D4C45-FEF5-4EFA-87B6-1CABBD94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963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El jugador pasó a llevar dos colliders. Cada trigger recibía dos eventos: ExitTrigger podía cargar dos salas y la trampa restar dos vidas. Ambos llevan ahora un pestillo de un solo uso.</a:t>
            </a:r>
          </a:p>
        </p:txBody>
      </p:sp>
    </p:spTree>
    <p:extLst>
      <p:ext uri="{BB962C8B-B14F-4D97-AF65-F5344CB8AC3E}">
        <p14:creationId xmlns:p14="http://schemas.microsoft.com/office/powerpoint/2010/main" val="1947871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07B87-05D3-4E55-9558-DB6B6304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6D628-F1E3-4F2A-8770-9232C515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punto ciego del guardia, cerrado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386E1-A9A6-4156-BB5F-1B10B59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B4FCE-2C8A-4311-8B7B-199655FA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07D8A-FD5D-4595-A2F5-9B7DF364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4D6DB-5A0F-47B3-9DCB-44E36752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083CD-78A6-4842-AB98-5745C3AA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6B137-A93D-40BF-9B6C-A9FB3F9C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90700"/>
            <a:ext cx="1000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8DC2B-71E9-45E6-8127-67CC3F4B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838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6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Un Rigidbody2D cinemático no reporta contactos salvo que se le pida.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9A7F0-1304-4F55-A7E2-D9831300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552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0A0D"/>
          </a:solidFill>
          <a:ln xmlns:a="http://schemas.openxmlformats.org/drawingml/2006/main" w="9525">
            <a:solidFill>
              <a:srgbClr val="605E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458D2-718D-4C4B-A664-F2BD4AF0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81400"/>
            <a:ext cx="485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Rb.useFullKinematicContacts = true;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B21A6-C2E5-4622-BA2E-562E3B03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720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725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GuardBase añade OnCollisionEnter2D: chocar de frente con un guardia te descubre al instante, aunque su cono de visión mire al otro lado.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E6F6E-9C82-48E3-A2BE-AA49106A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500" b="0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Antes, pegarse a su espalda era impunidad total.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e5e44fb4d4714"/>
          <a:stretch xmlns:a="http://schemas.openxmlformats.org/drawingml/2006/main"/>
        </p:blipFill>
        <p:spPr>
          <a:xfrm xmlns:a="http://schemas.openxmlformats.org/drawingml/2006/main">
            <a:off x="9658350" y="388620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712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68664-5B34-4F8C-B715-A4DEB23F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21725-2FD7-47C5-9240-E9AD7391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Seis objetos, tres formas de activarse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C03E6-C090-4835-A604-815C2BCB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263DA-DF10-41C8-94EE-A9E20BB3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74952-0E9B-46CD-BC2B-CAE5C8D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5CBC8-54D8-4C37-98E7-89AE6094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FD702-A0E7-4905-9B7C-F1993813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905250"/>
                <a:gridCol w="4381500"/>
              </a:tblGrid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Objeto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Se activa por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Respuesta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Key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trigger + E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Abre su puerta; se consume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Lever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trigger + E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Conmuta su puerta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Stone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 recoger · F lanzar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Genera un proyectil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Door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mensaje de otro objeto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Anima escala y apaga su collider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ExitTrigger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solo colisión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Siguiente sala o victoria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PressurePlate ★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solo colisión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Mantiene la puerta abierta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CAB01-ACF9-4F48-B5A2-930F2F7A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668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52A1A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8B738-3F05-4811-9C39-91404516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7B562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E7B562"/>
                </a:solidFill>
                <a:latin typeface="Public Sans"/>
                <a:ea typeface="Public Sans"/>
                <a:cs typeface="Public Sans"/>
              </a:rPr>
              <a:t>Tres vías: tecla sobre candidato detectado por trigger · mensaje entre objetos · colisión pura sin intervención del jugador</a:t>
            </a:r>
          </a:p>
        </p:txBody>
      </p:sp>
    </p:spTree>
    <p:extLst>
      <p:ext uri="{BB962C8B-B14F-4D97-AF65-F5344CB8AC3E}">
        <p14:creationId xmlns:p14="http://schemas.microsoft.com/office/powerpoint/2010/main" val="1270690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540AA-D854-4690-A262-C79DF556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593C7-C4DE-4062-8BFE-5C7C201D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Por qué la placa no puede usar un bool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48765-A6AC-473C-AECF-5BA12EED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F7F3B-6F8D-4F04-9FD5-3575227D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015BD-E55F-4F6D-861E-20D03FC0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0AF2F-8000-4494-94C0-6060145E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89522-19F5-41F0-ABB0-0B3B644B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B8AB6-184D-42BD-AFE2-5D420367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90700"/>
            <a:ext cx="2762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6B3B1-4555-4B65-8EC1-2F8FFB6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81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638AE-4342-43A1-8D54-3A369C1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62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héroe entra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F362E-47ED-4734-AA32-694E1A56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765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E53D3-D768-413E-8EF9-006CAF2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2762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20001-F6A9-458E-A7DD-0C5D5820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33D2C-00A4-46F4-85AC-699F79F0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Otro cuerpo entra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A9DD9-2BCD-4F1F-A3C8-B97F9327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765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40683-F363-48C8-8EED-2067EE5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90700"/>
            <a:ext cx="2762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E0CF6-6D14-4C24-B3F0-4E4DB25C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BCAF4-328D-48AB-BF10-92B4415D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62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otro cuerpo sale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08B8B-D2ED-4B2B-88C6-BB9C70D4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765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19F31-5135-48A3-824F-39888778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528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EF6FE-E06C-4EF4-8145-C2387028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0574B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725" b="1">
                <a:solidFill>
                  <a:srgbClr val="E0574B"/>
                </a:solidFill>
                <a:latin typeface="Bricolage Grotesque"/>
                <a:ea typeface="Bricolage Grotesque"/>
                <a:cs typeface="Bricolage Grotesque"/>
              </a:rPr>
              <a:t>La puerta se cierra con el héroe todavía sobre la placa.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E006D-C2E9-496B-8B73-8EE571A2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933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El héroe aporta dos colliders: sólido y trigger del sensor.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Un guardia puede pisarla al mismo tiempo.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La placa usa un conjunto de ocupantes y solo se suelta cuando queda vacío.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Un barrido descarta ocupantes destruidos: un objeto que desaparece no siempre emite Exit.</a:t>
            </a:r>
          </a:p>
        </p:txBody>
      </p:sp>
    </p:spTree>
    <p:extLst>
      <p:ext uri="{BB962C8B-B14F-4D97-AF65-F5344CB8AC3E}">
        <p14:creationId xmlns:p14="http://schemas.microsoft.com/office/powerpoint/2010/main" val="670133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55D28-166F-4A29-9A49-453CF651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35343-7D25-4AE6-904F-5A598A93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Dos cosas que aprendimos peleando con esto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FF351-716B-4B67-B839-561C4FB8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50303-00A5-4E9A-B86E-CD8D3C0A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C3F50-4E5D-43E2-A9A7-F35BC11C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C82CB-BE0B-4169-BA58-915C844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379B9-B284-4C94-A2A8-8FF2EEEE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14C9C-FA64-4370-9432-6C1AA4F0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5048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0548-6E51-4BC5-A1E3-282ACD86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piedra no puede pesar sobre la placa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8D537-392F-465F-B3A1-7E1BD701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43200"/>
            <a:ext cx="4171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Un trigger no frena a un cuerpo dinámico: la piedra lanzada la sobrevuela y produce Enter y Exit en el mismo instante. Aceptarla como ocupante solo haría parpadear la puerta.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79E61-CDBD-4995-B198-8F0C816C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B562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E7B562"/>
                </a:solidFill>
                <a:latin typeface="Public Sans"/>
                <a:ea typeface="Public Sans"/>
                <a:cs typeface="Public Sans"/>
              </a:rPr>
              <a:t>La placa cuenta solo cuerpos que puedan reposar: héroe y guardias.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97E45-D703-4B8B-928F-8682E0BC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51816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01C1D-5CB8-480D-8E02-760DF3F0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526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problema de los dos dueños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83202-F442-4AFB-8F11-AEFBE146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43200"/>
            <a:ext cx="4238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Si una puerta ya la controla una palanca o una llave, bajarse de la placa cerraría lo que el otro mecanismo abrió.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0CF84-8398-460C-A011-F381E093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52875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Modo latching: en esas salas la placa solo puede abrir.</a:t>
            </a:r>
          </a:p>
        </p:txBody>
      </p:sp>
    </p:spTree>
    <p:extLst>
      <p:ext uri="{BB962C8B-B14F-4D97-AF65-F5344CB8AC3E}">
        <p14:creationId xmlns:p14="http://schemas.microsoft.com/office/powerpoint/2010/main" val="5992114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0654D9-73D6-45DB-AB62-9F6E35B1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04 · OBSTÁCULO CON ANIMACIÓN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E5683-5247-44F3-BD44-79E5C7D9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SpikeTrap: cuatro fases, tres trampas desfasadas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24438-08B2-417C-927E-7FAC6126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727F5-D365-4617-957B-42871007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D666F-E585-49FA-8CC6-168FB638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1C0BC-4CE0-4D6B-9936-05D927D1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6842F-14B8-4698-A687-982DBFE3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F0D4A-9452-44C9-9832-50C21132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1762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125A6-0B07-40A4-85DB-19706C25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Oculta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DB1C4-83E3-4313-8A80-45003F1B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533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0.25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E277B-4210-4DD0-9977-1CECB185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52600"/>
            <a:ext cx="4381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E817A-7DB3-40E4-A4EC-9CF72467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04950"/>
            <a:ext cx="1762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E38EA-1E45-48C0-97BB-30C4E9CC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0020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Subiendo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4F26E-713A-4F86-956D-D68AEA88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66900"/>
            <a:ext cx="1533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1.6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8E4BB-DB6C-43D8-BFDD-D3C7F549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752600"/>
            <a:ext cx="4381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F32AB-2990-4347-AB52-A1496B9D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04950"/>
            <a:ext cx="2143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74E4C-97A9-453C-B5E2-047B6AD0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00200"/>
            <a:ext cx="1914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Clavada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87D9A-6C2D-4F04-BA77-92508D3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6690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0.25 s · collider activo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5E82C-D94B-4A09-BF4C-56EFB304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4381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D52A3-F4AF-4968-A471-FC7DC0A4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04950"/>
            <a:ext cx="1762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54016-C277-49D4-9749-EC47E22A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60020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Bajando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CF070-2F19-45A4-AFA1-E95E8EA6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66900"/>
            <a:ext cx="1533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0.9 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E4ED1-A911-4E57-BB92-2ADF7E0F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Ciclo de 3 s. Solo la fase Clavada mata: el collider se enciende y apaga con la fase.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7DE25-ABD5-4549-931B-ED67B328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8610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31B40-0BC3-46BC-8BA6-DC72D63B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434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0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2E232-360D-4A55-B1AB-69E6FBF4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0" y="308610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CE372-A190-4048-8A9C-E6B868AA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950" y="47434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 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7A0C6-B406-4C2E-8F70-D0538035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50" y="308610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7E020-9B53-473B-BA09-F2D41046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450" y="47434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2 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599EB5-ECCA-48A1-AA66-6B15D5B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8610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1F1E66-DFF2-4F3C-B9AD-3DD2E9D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3 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A25BC5-91CF-47BE-94AD-843CDD7C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Trampa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D6F5CF-EAB4-4473-ACE3-49881119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14700"/>
            <a:ext cx="7810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BC713-2472-432D-8B6A-AAF830BE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Trampa 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4308FB-7130-4301-9869-288C796F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7810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C3646-279F-4FD0-97A1-A3073EA0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Trampa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372EFD-107A-43E6-87F7-855103CD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57700"/>
            <a:ext cx="7810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3F515C-5201-46C3-8AEB-7F26B085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225" y="331470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23B01E-E68C-460B-913D-2086EC0C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25" y="388620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0062C6-A5E6-432C-A2C9-06280159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577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27A610-7703-417D-8759-981D852F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57700"/>
            <a:ext cx="390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488FEF-19E3-4852-82D8-41DB6086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Ventanas rojas: letales. Nunca se solapan: hay huecos de 0.10 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D8818B-FF85-44D6-BDE5-590DE406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05375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840677-001F-4B88-B911-D92E6C8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67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5]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C390B2-E353-4EC1-9AC4-A8C39BDC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353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las tres trampas en Game view, una clavada y dos ocultas</a:t>
            </a:r>
          </a:p>
        </p:txBody>
      </p:sp>
    </p:spTree>
    <p:extLst>
      <p:ext uri="{BB962C8B-B14F-4D97-AF65-F5344CB8AC3E}">
        <p14:creationId xmlns:p14="http://schemas.microsoft.com/office/powerpoint/2010/main" val="442618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97FB9-2A4C-463F-9268-BBC6DD9B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04 · OBSTÁCULO CON ANIMACIÓN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BA8D3-F277-4640-B3B1-FC333D68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Tres decisiones dentro de la trampa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6183B-207C-415F-B27D-B3F52E48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A76F5-DCBB-472C-8D32-9A990FFC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EC73E-3B19-447A-A865-F64817BB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0D383-802E-4E0E-BD77-46A926CF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2C64E-D5C1-41AA-B06B-76712D08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85166-931C-4B51-8C00-C989FF0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D8474-17A8-4458-B652-3D90A5B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Animación por código, no por Animator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98819-E0CF-4AA6-8123-4531B579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800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Tres sprites conmutados según la fase. Para cuatro estados deterministas un Animator es peso muerto: la fase visible y lógica no se desincronizan.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5EAC6-4D2D-47D1-812B-8E0EDED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24C58-7AC5-4495-B44A-028FFF2E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7642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collider se apaga, no se consulta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52B9A-D2F1-42EC-835B-245E8A8D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05100"/>
            <a:ext cx="2800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Durante la fase inofensiva el motor deja de reportar el contacto por completo, en vez de reportarlo y descartarlo con un if.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ABC67-3F1E-48BA-B08F-C6F8704C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9A078-087E-49EB-BD43-BFB0B8BA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7642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5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Quien ya estaba encima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5624D-868C-4AB6-8580-438579D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2800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Al reactivarse, un cuerpo quieto no emite OnTriggerEnter2D. Al armarse, Collider2D.Overlap comprueba quién está dentro: quedarse parado también mata.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DC683-9434-4678-B587-F9731ABC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90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52A1A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A1768-2C33-4C78-BBD2-615FA58E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00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rPr>
              <a:t>El obstáculo complementa al enemigo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9BEB5-D0C7-4BAC-8ACA-C169B3B0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876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GuardStatic y GuardPatrol castigan que te vean. La trampa castiga dónde pisas. Juntos obligan a leer la sala en dos ejes.</a:t>
            </a:r>
          </a:p>
        </p:txBody>
      </p:sp>
    </p:spTree>
    <p:extLst>
      <p:ext uri="{BB962C8B-B14F-4D97-AF65-F5344CB8AC3E}">
        <p14:creationId xmlns:p14="http://schemas.microsoft.com/office/powerpoint/2010/main" val="19230550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F4CEB-D384-4EE4-9C6F-1916821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05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283C3-845A-4C96-A06C-B06208DD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Decisiones de 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BF2AA-E7C5-4985-ABDB-4F03DF8B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C1F83-FF29-4EA5-B3C5-ADEAEE61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22333-B34D-4DEE-82E7-33AF57DD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468A2-2B23-4D51-9358-5CBB106F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7FDD2-06ED-45F1-B579-3B61EFB8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23900" y="1571625"/>
          <a:ext xmlns:a="http://schemas.openxmlformats.org/drawingml/2006/main" cx="106680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048500"/>
              </a:tblGrid>
              <a:tr h="5072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Qué evita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</a:tr>
              <a:tr h="5072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CollisionLayers, fuente única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Máscaras nombradas por intención; ningún prefab rompe la detección dejando un campo vacío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5072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Herencia solo donde hay jerarquía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GuardBase define el ciclo; las subclases solo aportan cómo se mueven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5072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Interfaz IInteractable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jugador pide un contrato, no conoce Lever ni Door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5072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Lógica pura fuera del MonoBehaviour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PhaseAt, ShouldBePressed, Bounce y SnapFacing se prueban sin abrir una escena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5072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Servicios estáticos por nombre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SfxLibrary y Vfx cargan de Resources/: añadir un efecto no toca ningún prefab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5072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Contenido generado por código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avance es reproducible y el diff de git, legible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5072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Validador en el menú del editor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Comprueba capas, matriz y gravedad e imprime OK/FALLA por línea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331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FB890-0FDB-42BF-A331-22B57831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05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8ABE4-C222-4BE3-94AC-BE39F8B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 fallo que encontramos preparando la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DDEE7-2519-4EAB-BF14-7D89470B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1FC51-D35F-456E-9741-F6CF7A7A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D84C7-2942-4EEB-887C-38C150C0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D8125-8B59-4D34-963E-8800CB2B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D6C9E-AB11-4362-B2CA-8B5C611C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7C519-D416-4411-B3B6-9C88644C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66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32C3E-61FF-422A-85C0-DA6E8B3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621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Key.OnPickedUp() abría su puerta, pero la llave seguía ocupando la única ranura del inventario.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57C97-F0BD-4B82-82F9-21A94F61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095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7DBBE-6535-4FE1-9538-1ABB9806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51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CONSECUENCIA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447DF-C7BD-4B0D-9C80-8180C72E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42100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TakeItem() solo se llama al lanzar una piedra, y lanzar exige HasItem&lt;Stone&gt;(). Quien recogía la llave no podía volver a recoger ni lanzar nada en toda la sala.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9AFF2-149D-4DA1-B47F-E74552E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5105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E3A26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85539-252E-4F88-8759-E826D38B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05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SOLUCIÓN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4A967-F13E-47CE-B9E1-FDA2B6EC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705225"/>
            <a:ext cx="4210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PickupItem distingue los objetos consumidos al recogerse de los guardados. La llave surte efecto y desaparece sin tocar la ranura.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B61FD-B36F-46A5-80B9-1430BF60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007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7B562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E7B562"/>
                </a:solidFill>
                <a:latin typeface="Public Sans"/>
                <a:ea typeface="Public Sans"/>
                <a:cs typeface="Public Sans"/>
              </a:rPr>
              <a:t>Room_05 tiene llave y dos piedras: antes era imposible completarla como se diseñó.</a:t>
            </a:r>
          </a:p>
        </p:txBody>
      </p:sp>
    </p:spTree>
    <p:extLst>
      <p:ext uri="{BB962C8B-B14F-4D97-AF65-F5344CB8AC3E}">
        <p14:creationId xmlns:p14="http://schemas.microsoft.com/office/powerpoint/2010/main" val="739726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B7904-7FA2-4C54-B6F3-F9B5D72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05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930A2-7ED7-4ABF-9DE7-F11AD8F9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Verificación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A318-7366-457B-BB20-26797418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E89FE-25F6-4F6A-BF08-C6ADF4E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8E854-88CF-4F51-ACE2-44A5DC8C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7E923-099A-45C0-AA8C-9211839D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13E5B-59DB-4033-BFD0-8D77BBEE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F33F5-B5A7-400E-A917-6202043B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5BAC3-0291-4E9E-8CBB-4A43303F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04975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9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rPr>
              <a:t>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DC7D4-9840-4C88-9156-FA37D0B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8764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casos EditMode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830E9-003F-48A8-B0A4-1253D80C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5BD99-7A58-42F2-A539-DED49F1C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04975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9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7568A-B9D9-4D6B-8759-8ED21BF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nuevos esta semana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8C5D6-6485-4909-87D7-17BE61D8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716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797A9-7F5B-46FF-8E87-90889435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04975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9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ADE05-B5D9-4A53-AF02-F5A4F08C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764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capas de física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8A501-8619-442D-96C6-CD02491F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BEBFA-2E31-46F2-9CA3-B1F6884E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925" b="1">
                <a:solidFill>
                  <a:srgbClr val="E7B562"/>
                </a:solidFill>
                <a:latin typeface="Bricolage Grotesque"/>
                <a:ea typeface="Bricolage Grotesque"/>
                <a:cs typeface="Bricolage Grotesque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AE309-4CE6-413F-8078-13BEDF6E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8764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salas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A40FD-4444-4E7F-A77D-D38309DE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64389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AC4A3-4105-4882-8E67-D9726710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Cómo reproducir el avance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34436-A88B-4DAB-94EF-6E24E24B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1. Abrir con Unity 6000.5.0b10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BA90A-A8EE-4328-9835-623EF5FE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9572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2. DungeonPuzzle ▸ Semana 04 ▸ Construir todo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E7B58F-A309-4601-81A5-946F2953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3. Window ▸ General ▸ Test Runner ▸ EditMode ▸ Run 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FBDFA-7730-4540-A728-6F1181EE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4. Play desde Room_Demo y F1 para el panel de estado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ECA07-20F0-44EA-BD74-52359051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38862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A54026-40A9-4EAB-944F-19DD66A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62275"/>
            <a:ext cx="350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6]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708026-E858-45E1-9CAC-C6107407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48025"/>
            <a:ext cx="35052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Test Runner en EditMode, todo en verde</a:t>
            </a:r>
          </a:p>
        </p:txBody>
      </p:sp>
    </p:spTree>
    <p:extLst>
      <p:ext uri="{BB962C8B-B14F-4D97-AF65-F5344CB8AC3E}">
        <p14:creationId xmlns:p14="http://schemas.microsoft.com/office/powerpoint/2010/main" val="15096892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86D87-82E3-4B21-AA98-E2C1DDA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DEMOSTRACIÓN EN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F7961-7108-42B2-9D1B-D41140AE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Room_Demo: banco de pruebas en una pantalla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9975D-63AD-46B8-BE09-BE1FCE51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9663D-5454-4CAB-A872-F4C82F38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9E9FD-C055-4613-AABB-58AA78F2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15B07-AA0C-42A4-8FA5-A8FABEA3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396E3-D295-4501-AD9E-3E63B058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86949-8CD7-4389-88D6-467624C8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52A1A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DC757-BE8C-4203-ABA3-BDDE5271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E7B562"/>
                </a:solidFill>
                <a:latin typeface="JetBrains Mono"/>
                <a:ea typeface="JetBrains Mono"/>
                <a:cs typeface="JetBrains Mono"/>
              </a:rPr>
              <a:t>spawn  →  bloque para deslizar  →  dos piedras  →  3 trampas desfasadas  →  placa + palanca  →  espalda del guardia  →  puerta  →  salida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723900" y="2628900"/>
          <a:ext xmlns:a="http://schemas.openxmlformats.org/drawingml/2006/main" cx="72390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6572250"/>
              </a:tblGrid>
              <a:tr h="4163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Qué se demuestra</a:t>
                      </a:r>
                    </a:p>
                  </a:txBody>
                  <a:tcPr marL="91440" marR="91440" marT="45720" marB="45720">
                    <a:solidFill>
                      <a:srgbClr val="3A3842"/>
                    </a:solidFill>
                  </a:tcPr>
                </a:tc>
              </a:tr>
              <a:tr h="4163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héroe desliza al rozar el bloque y la animación se detiene contra él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4163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Piedra al muro: ruido → el guardia gira. Otra a puerta cerrada: no la atraviesa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4163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Tres trampas desfasadas; con F1 se lee la fase de cada una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4163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Pisar la placa abre, salirse cierra; la palanca abre a mano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  <a:tr h="4163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Acercarse por la espalda del guardia: el contacto te descubre</a:t>
                      </a:r>
                    </a:p>
                  </a:txBody>
                  <a:tcPr marL="91440" marR="91440" marT="45720" marB="45720">
                    <a:solidFill>
                      <a:srgbClr val="1C1B23"/>
                    </a:solidFill>
                  </a:tcPr>
                </a:tc>
              </a:tr>
              <a:tr h="4163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C9C6D2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Cruzar la puerta termina en victoria</a:t>
                      </a:r>
                    </a:p>
                  </a:txBody>
                  <a:tcPr marL="91440" marR="91440" marT="45720" marB="45720">
                    <a:solidFill>
                      <a:srgbClr val="26242E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094FD-8225-46B8-85D2-A1CA3EC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28900"/>
            <a:ext cx="3076575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6578A-1E28-4606-A338-D3E0D7CF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F1 · PANEL DE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6FB3E-640B-4BBA-A0A0-002E31F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velocidad real del héroe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estado de cada guardia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fase de cada trampa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colliders sobre la placa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0C94E-FCB6-4EE5-AD49-A20A5EA3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~90 segundos. La palanca junto a la placa es el rescate si algo se tuerce en vivo.</a:t>
            </a:r>
          </a:p>
        </p:txBody>
      </p:sp>
    </p:spTree>
    <p:extLst>
      <p:ext uri="{BB962C8B-B14F-4D97-AF65-F5344CB8AC3E}">
        <p14:creationId xmlns:p14="http://schemas.microsoft.com/office/powerpoint/2010/main" val="7820620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3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F5AF5-15D7-44C9-907D-B9BA04E7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9BB03-CF22-4788-8007-081FEE2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Lo que sigue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B3029-EB0B-4DE6-A31A-4EEF9EBF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AA6B5"/>
                </a:solidFill>
                <a:latin typeface="JetBrains Mono"/>
                <a:ea typeface="JetBrains Mono"/>
                <a:cs typeface="JetBrains Mono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C752C-0EA4-43BD-80EA-4B205E5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1B000-F86C-4D21-9A13-9A81C2C1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00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EA689-C57C-4D55-B84C-45998C11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5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DEEE2-F352-490F-9E99-6C926163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600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E5E01-2771-4A7F-9C50-84E223FF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9C6D2"/>
                </a:solidFill>
                <a:latin typeface="Public Sans"/>
                <a:ea typeface="Public Sans"/>
                <a:cs typeface="Public Sans"/>
              </a:defRPr>
            </a:pPr>
            <a:r>
              <a:rPr sz="1725" b="0">
                <a:solidFill>
                  <a:srgbClr val="C9C6D2"/>
                </a:solidFill>
                <a:latin typeface="Public Sans"/>
                <a:ea typeface="Public Sans"/>
                <a:cs typeface="Public Sans"/>
              </a:rPr>
              <a:t>Con GuardBase y IInteractable en su sitio, lo siguiente es barato: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FACE2-3332-452A-9FBD-D36DBDF6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2C782-0768-4031-AF47-A2724978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 guardia que persigue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2405D-C67A-413A-B28B-E90160F8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19450"/>
            <a:ext cx="2600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subclase de GuardBase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13712-B6BB-443E-AD0D-6ABF330F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3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4B48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0F413-AA46-4F55-A029-9E00F453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puerta que exige dos placas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319B6-6206-4366-A874-09CFA3C0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00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C9C6D2"/>
                </a:solidFill>
                <a:latin typeface="JetBrains Mono"/>
                <a:ea typeface="JetBrains Mono"/>
                <a:cs typeface="JetBrains Mono"/>
              </a:rPr>
              <a:t>composición de PressurePlate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E18BA-CA1D-4781-8CBB-DB790C92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6242E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1B374-4C8D-428B-B1F5-96B69B8E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09850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trampa cuyo ritmo depende del ruido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01B2C-4B1A-4899-970B-8FC6B606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19450"/>
            <a:ext cx="2600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7B5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E7B562"/>
                </a:solidFill>
                <a:latin typeface="JetBrains Mono"/>
                <a:ea typeface="JetBrains Mono"/>
                <a:cs typeface="JetBrains Mono"/>
              </a:rPr>
              <a:t>sin tocar jugador ni física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BC663-0944-458B-BE24-523DAC9F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352A1A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315B8-DDFE-47F2-B7FB-3AC1E13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91075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B562"/>
                </a:solidFill>
                <a:latin typeface="Public Sans"/>
                <a:ea typeface="Public Sans"/>
                <a:cs typeface="Public Sans"/>
              </a:defRPr>
            </a:pPr>
            <a:r>
              <a:rPr sz="1650" b="1">
                <a:solidFill>
                  <a:srgbClr val="E7B562"/>
                </a:solidFill>
                <a:latin typeface="Public Sans"/>
                <a:ea typeface="Public Sans"/>
                <a:cs typeface="Public Sans"/>
              </a:rPr>
              <a:t>Ninguno obliga a tocar el jugador ni la configuración de física.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52E18-7275-4745-80AA-7F59C31B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6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¿Preguntas?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72b5342e0427d"/>
          <a:stretch xmlns:a="http://schemas.openxmlformats.org/drawingml/2006/main"/>
        </p:blipFill>
        <p:spPr>
          <a:xfrm xmlns:a="http://schemas.openxmlformats.org/drawingml/2006/main">
            <a:off x="9959975" y="5362575"/>
            <a:ext cx="292100" cy="87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61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2026-09-07T00:23:35.8290000Z</dcterms:created>
  <dcterms:modified xsi:type="dcterms:W3CDTF">2026-09-07T00:23:35.8290000Z</dcterms:modified>
</coreProperties>
</file>